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625738006c455c" /><Relationship Type="http://schemas.openxmlformats.org/officeDocument/2006/relationships/extended-properties" Target="/docProps/app.xml" Id="R9404a3700173464f" /><Relationship Type="http://schemas.openxmlformats.org/officeDocument/2006/relationships/officeDocument" Target="/ppt/presentation.xml" Id="R3d9b73264f9d4acf" /></Relationships>
</file>

<file path=ppt/presentation.xml><?xml version="1.0" encoding="utf-8"?>
<p:presentation xmlns:p="http://schemas.openxmlformats.org/presentationml/2006/main">
  <p:sldMasterIdLst>
    <p:sldMasterId xmlns:r="http://schemas.openxmlformats.org/officeDocument/2006/relationships" id="2147483648" r:id="Rf38ca153fab44050"/>
  </p:sldMasterIdLst>
  <p:notesMasterIdLst>
    <p:notesMasterId xmlns:r="http://schemas.openxmlformats.org/officeDocument/2006/relationships" r:id="Ra3712c0fb10c44f7"/>
  </p:notesMasterIdLst>
  <p:sldIdLst>
    <p:sldId xmlns:r="http://schemas.openxmlformats.org/officeDocument/2006/relationships" id="256" r:id="R65931214859d4271"/>
    <p:sldId xmlns:r="http://schemas.openxmlformats.org/officeDocument/2006/relationships" id="257" r:id="Re4b3bc51abf1444e"/>
    <p:sldId xmlns:r="http://schemas.openxmlformats.org/officeDocument/2006/relationships" id="258" r:id="R3552b5799a1b4708"/>
    <p:sldId xmlns:r="http://schemas.openxmlformats.org/officeDocument/2006/relationships" id="259" r:id="R5afb1a9c40ce40e0"/>
    <p:sldId xmlns:r="http://schemas.openxmlformats.org/officeDocument/2006/relationships" id="260" r:id="R10519aa1397141a7"/>
    <p:sldId xmlns:r="http://schemas.openxmlformats.org/officeDocument/2006/relationships" id="261" r:id="R79ade3183cb0426c"/>
    <p:sldId xmlns:r="http://schemas.openxmlformats.org/officeDocument/2006/relationships" id="262" r:id="R1034cd0cadc4415c"/>
    <p:sldId xmlns:r="http://schemas.openxmlformats.org/officeDocument/2006/relationships" id="263" r:id="R9d6a5f0bd03f4a9a"/>
    <p:sldId xmlns:r="http://schemas.openxmlformats.org/officeDocument/2006/relationships" id="264" r:id="Rbe116b6680674448"/>
    <p:sldId xmlns:r="http://schemas.openxmlformats.org/officeDocument/2006/relationships" id="265" r:id="R84d6e891d2554abb"/>
    <p:sldId xmlns:r="http://schemas.openxmlformats.org/officeDocument/2006/relationships" id="266" r:id="Re5ba7771ad194737"/>
    <p:sldId xmlns:r="http://schemas.openxmlformats.org/officeDocument/2006/relationships" id="267" r:id="R6f6c95c277ec4c45"/>
    <p:sldId xmlns:r="http://schemas.openxmlformats.org/officeDocument/2006/relationships" id="268" r:id="R139bc2694ed2480a"/>
    <p:sldId xmlns:r="http://schemas.openxmlformats.org/officeDocument/2006/relationships" id="269" r:id="Ra4758e5a28f640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b924b45f8c45c8" /><Relationship Type="http://schemas.openxmlformats.org/officeDocument/2006/relationships/slideMaster" Target="/ppt/slideMasters/slideMaster1.xml" Id="Rf38ca153fab44050" /><Relationship Type="http://schemas.openxmlformats.org/officeDocument/2006/relationships/notesMaster" Target="/ppt/notesMasters/notesMaster1.xml" Id="Ra3712c0fb10c44f7" /><Relationship Type="http://schemas.openxmlformats.org/officeDocument/2006/relationships/presProps" Target="/ppt/presProps.xml" Id="R1bda598c317e487c" /><Relationship Type="http://schemas.openxmlformats.org/officeDocument/2006/relationships/tableStyles" Target="/ppt/tableStyles.xml" Id="Rbaaf147c73bf42f4" /><Relationship Type="http://schemas.openxmlformats.org/officeDocument/2006/relationships/slide" Target="/ppt/slides/slide1.xml" Id="R65931214859d4271" /><Relationship Type="http://schemas.openxmlformats.org/officeDocument/2006/relationships/slide" Target="/ppt/slides/slide2.xml" Id="Re4b3bc51abf1444e" /><Relationship Type="http://schemas.openxmlformats.org/officeDocument/2006/relationships/slide" Target="/ppt/slides/slide3.xml" Id="R3552b5799a1b4708" /><Relationship Type="http://schemas.openxmlformats.org/officeDocument/2006/relationships/slide" Target="/ppt/slides/slide4.xml" Id="R5afb1a9c40ce40e0" /><Relationship Type="http://schemas.openxmlformats.org/officeDocument/2006/relationships/slide" Target="/ppt/slides/slide5.xml" Id="R10519aa1397141a7" /><Relationship Type="http://schemas.openxmlformats.org/officeDocument/2006/relationships/slide" Target="/ppt/slides/slide6.xml" Id="R79ade3183cb0426c" /><Relationship Type="http://schemas.openxmlformats.org/officeDocument/2006/relationships/slide" Target="/ppt/slides/slide7.xml" Id="R1034cd0cadc4415c" /><Relationship Type="http://schemas.openxmlformats.org/officeDocument/2006/relationships/slide" Target="/ppt/slides/slide8.xml" Id="R9d6a5f0bd03f4a9a" /><Relationship Type="http://schemas.openxmlformats.org/officeDocument/2006/relationships/slide" Target="/ppt/slides/slide9.xml" Id="Rbe116b6680674448" /><Relationship Type="http://schemas.openxmlformats.org/officeDocument/2006/relationships/slide" Target="/ppt/slides/slide10.xml" Id="R84d6e891d2554abb" /><Relationship Type="http://schemas.openxmlformats.org/officeDocument/2006/relationships/slide" Target="/ppt/slides/slide11.xml" Id="Re5ba7771ad194737" /><Relationship Type="http://schemas.openxmlformats.org/officeDocument/2006/relationships/slide" Target="/ppt/slides/slide12.xml" Id="R6f6c95c277ec4c45" /><Relationship Type="http://schemas.openxmlformats.org/officeDocument/2006/relationships/slide" Target="/ppt/slides/slide13.xml" Id="R139bc2694ed2480a" /><Relationship Type="http://schemas.openxmlformats.org/officeDocument/2006/relationships/slide" Target="/ppt/slides/slide14.xml" Id="Ra4758e5a28f640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036347e2c143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7fb1e40ee04274" /><Relationship Type="http://schemas.openxmlformats.org/officeDocument/2006/relationships/notesMaster" Target="/ppt/notesMasters/notesMaster1.xml" Id="Raed76568d6954a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b0937ff24d4213" /><Relationship Type="http://schemas.openxmlformats.org/officeDocument/2006/relationships/notesMaster" Target="/ppt/notesMasters/notesMaster1.xml" Id="R3e84f1ba3bec45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0c6dc4fc234cf9" /><Relationship Type="http://schemas.openxmlformats.org/officeDocument/2006/relationships/notesMaster" Target="/ppt/notesMasters/notesMaster1.xml" Id="Ree275ef35d2749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7fad8fcad04a5c" /><Relationship Type="http://schemas.openxmlformats.org/officeDocument/2006/relationships/notesMaster" Target="/ppt/notesMasters/notesMaster1.xml" Id="Rd9098be9bb1644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e21f7c0eba47ed" /><Relationship Type="http://schemas.openxmlformats.org/officeDocument/2006/relationships/notesMaster" Target="/ppt/notesMasters/notesMaster1.xml" Id="Rb4faa3c0e6ac46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59d6b98102492f" /><Relationship Type="http://schemas.openxmlformats.org/officeDocument/2006/relationships/notesMaster" Target="/ppt/notesMasters/notesMaster1.xml" Id="R6206194bf5bc40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cc0ba63f724a65" /><Relationship Type="http://schemas.openxmlformats.org/officeDocument/2006/relationships/notesMaster" Target="/ppt/notesMasters/notesMaster1.xml" Id="R92ae43b170c34a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f7fd2657fd4980" /><Relationship Type="http://schemas.openxmlformats.org/officeDocument/2006/relationships/notesMaster" Target="/ppt/notesMasters/notesMaster1.xml" Id="R1222c63d789a4c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67934d87cc49f4" /><Relationship Type="http://schemas.openxmlformats.org/officeDocument/2006/relationships/notesMaster" Target="/ppt/notesMasters/notesMaster1.xml" Id="R72ce6d3262d949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b9a66deefb46b4" /><Relationship Type="http://schemas.openxmlformats.org/officeDocument/2006/relationships/notesMaster" Target="/ppt/notesMasters/notesMaster1.xml" Id="R730f18f723a047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37caa097f0461b" /><Relationship Type="http://schemas.openxmlformats.org/officeDocument/2006/relationships/notesMaster" Target="/ppt/notesMasters/notesMaster1.xml" Id="R3f8c177b072a4b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14c7a4ef9b4345" /><Relationship Type="http://schemas.openxmlformats.org/officeDocument/2006/relationships/notesMaster" Target="/ppt/notesMasters/notesMaster1.xml" Id="R1e2b1aa145f349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a18c9c20034958" /><Relationship Type="http://schemas.openxmlformats.org/officeDocument/2006/relationships/notesMaster" Target="/ppt/notesMasters/notesMaster1.xml" Id="Rbdf22c4f224c43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9cf2c600bf49c5" /><Relationship Type="http://schemas.openxmlformats.org/officeDocument/2006/relationships/notesMaster" Target="/ppt/notesMasters/notesMaster1.xml" Id="R9919a542101143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CostFloor is not a forecast of market price. It is a deterministic boundary-scenario model: start from a reconciled current-cost tree, substitute automatable work, and report the resource floor that remains under explicit assumptions.</a:t>
            </a:r>
          </a:p>
          <a:p xmlns:a="http://schemas.openxmlformats.org/drawingml/2006/main">
            <a:r>
              <a:t/>
            </a:r>
          </a:p>
          <a:p xmlns:a="http://schemas.openxmlformats.org/drawingml/2006/main">
            <a:r>
              <a:t>[Sources]</a:t>
            </a:r>
          </a:p>
          <a:p xmlns:a="http://schemas.openxmlformats.org/drawingml/2006/main">
            <a:r>
              <a:t>- CostFloor model implementation: app/model/engine.ts and app/model/fixtures.ts</a:t>
            </a:r>
          </a:p>
          <a:p xmlns:a="http://schemas.openxmlformats.org/drawingml/2006/main">
            <a:r>
              <a:t>- UN SEEA Central Framework (resource rent and environmental-economic accounting): https://seea.un.org/sites/seea.un.org/files/seea_cf_final_en.pdf</a:t>
            </a:r>
          </a:p>
          <a:p xmlns:a="http://schemas.openxmlformats.org/drawingml/2006/main">
            <a:r>
              <a:t>- https://costfloor-agi-house.alezarzu.chatgpt.site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price is treated as a cost identity, not a homogeneous object. Labor can map to replacement capital and operating energy; capital can expand into fabrication inputs; direct energy is priced from physical quantity; scarcity, margin, and tax remain distinct policy or boundary choices.</a:t>
            </a:r>
          </a:p>
          <a:p xmlns:a="http://schemas.openxmlformats.org/drawingml/2006/main">
            <a:r>
              <a:t/>
            </a:r>
          </a:p>
          <a:p xmlns:a="http://schemas.openxmlformats.org/drawingml/2006/main">
            <a:r>
              <a:t>[Sources]</a:t>
            </a:r>
          </a:p>
          <a:p xmlns:a="http://schemas.openxmlformats.org/drawingml/2006/main">
            <a:r>
              <a:t>- USDA ERS Food Dollar Series: https://www.ers.usda.gov/data-products/food-dollar-series</a:t>
            </a:r>
          </a:p>
          <a:p xmlns:a="http://schemas.openxmlformats.org/drawingml/2006/main">
            <a:r>
              <a:t>- US EPA USEEIO technical content: https://www.epa.gov/land-research/us-environmentally-extended-input-output-useeio-technical-content</a:t>
            </a:r>
          </a:p>
          <a:p xmlns:a="http://schemas.openxmlformats.org/drawingml/2006/main">
            <a:r>
              <a:t>- CostFloor fixture definitions: app/model/fixtures.ts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invariant is reconciliation: the root's current input equals the sum of its direct children. The evaluator then traverses that same tree under one scenario object and returns the floor interval plus an explanation ledger. A result without a defined unit or a reconciled tree is rejected as an unsupported comparison.</a:t>
            </a:r>
          </a:p>
          <a:p xmlns:a="http://schemas.openxmlformats.org/drawingml/2006/main">
            <a:r>
              <a:t/>
            </a:r>
          </a:p>
          <a:p xmlns:a="http://schemas.openxmlformats.org/drawingml/2006/main">
            <a:r>
              <a:t>[Sources]</a:t>
            </a:r>
          </a:p>
          <a:p xmlns:a="http://schemas.openxmlformats.org/drawingml/2006/main">
            <a:r>
              <a:t>- CostFloor types and evaluator: app/model/types.ts and app/model/engine.ts</a:t>
            </a:r>
          </a:p>
          <a:p xmlns:a="http://schemas.openxmlformats.org/drawingml/2006/main">
            <a:r>
              <a:t>- US EPA USEEIO technical content: https://www.epa.gov/land-research/us-environmentally-extended-input-output-useeio-technical-content</a:t>
            </a:r>
          </a:p>
          <a:p xmlns:a="http://schemas.openxmlformats.org/drawingml/2006/main">
            <a:r>
              <a:t>- European Commission JRC Life Cycle Data Network: https://eplca.jrc.ec.europa.eu/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rules are mutually legible in the ledger. A recurse node sums children. A replacement node evaluates the substitute rather than the original. Energy and resource nodes use physical quantities. Retain and exclude nodes make residuals and boundary decisions explicit. An unmodeled node retains a bounded fraction of current input. Maximum-depth cutoff is an evaluator condition covered on the next slide.</a:t>
            </a:r>
          </a:p>
          <a:p xmlns:a="http://schemas.openxmlformats.org/drawingml/2006/main">
            <a:r>
              <a:t/>
            </a:r>
          </a:p>
          <a:p xmlns:a="http://schemas.openxmlformats.org/drawingml/2006/main">
            <a:r>
              <a:t>[Sources]</a:t>
            </a:r>
          </a:p>
          <a:p xmlns:a="http://schemas.openxmlformats.org/drawingml/2006/main">
            <a:r>
              <a:t>- CostFloor evaluator and ledger rules: app/model/engine.ts</a:t>
            </a:r>
          </a:p>
          <a:p xmlns:a="http://schemas.openxmlformats.org/drawingml/2006/main">
            <a:r>
              <a:t>- CostFloor node schema: app/model/types.ts</a:t>
            </a:r>
          </a:p>
          <a:p xmlns:a="http://schemas.openxmlformats.org/drawingml/2006/main">
            <a:r>
              <a:t>- UN SEEA Central Framework: https://seea.un.org/sites/seea.un.org/files/seea_cf_final_en.pdf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Recursion does not mean repeatedly discounting the same dollars. It means replacing an aggregate branch with a more resolved production tree. Labor can become a machine task plus allocated equipment; that equipment can expand into materials, fabrication energy, and maintenance. Terminal nodes are physical quantities or bounded residuals.</a:t>
            </a:r>
          </a:p>
          <a:p xmlns:a="http://schemas.openxmlformats.org/drawingml/2006/main">
            <a:r>
              <a:t/>
            </a:r>
          </a:p>
          <a:p xmlns:a="http://schemas.openxmlformats.org/drawingml/2006/main">
            <a:r>
              <a:t>[Sources]</a:t>
            </a:r>
          </a:p>
          <a:p xmlns:a="http://schemas.openxmlformats.org/drawingml/2006/main">
            <a:r>
              <a:t>- CostFloor evaluator: app/model/engine.ts</a:t>
            </a:r>
          </a:p>
          <a:p xmlns:a="http://schemas.openxmlformats.org/drawingml/2006/main">
            <a:r>
              <a:t>- Universal Robots UR5e technical specifications: https://www.universal-robots.com/manuals/EN/HTML/SW10_9/Content/prod-usr-man/complianceUR5e/H_g5_sections/appendix_g5/tech_spec_sheet.htm</a:t>
            </a:r>
          </a:p>
          <a:p xmlns:a="http://schemas.openxmlformats.org/drawingml/2006/main">
            <a:r>
              <a:t>- European Commission JRC Life Cycle Data Network: https://eplca.jrc.ec.europa.eu/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depth slider changes resolution. At the boundary, the engine evaluates a declared physical fallback—energy, scarcity, and fixed residual—not a generic percentage—and increments cutoffCount. At depth five, tea, shirt, and flour expose twenty-nine cutoffs in total; the three new shallow fixtures expose zero. By depth seven, all current fixtures have converged and match depth twenty.</a:t>
            </a:r>
          </a:p>
          <a:p xmlns:a="http://schemas.openxmlformats.org/drawingml/2006/main">
            <a:r>
              <a:t/>
            </a:r>
          </a:p>
          <a:p xmlns:a="http://schemas.openxmlformats.org/drawingml/2006/main">
            <a:r>
              <a:t>[Sources]</a:t>
            </a:r>
          </a:p>
          <a:p xmlns:a="http://schemas.openxmlformats.org/drawingml/2006/main">
            <a:r>
              <a:t>- CostFloor recursion boundary: app/model/engine.ts</a:t>
            </a:r>
          </a:p>
          <a:p xmlns:a="http://schemas.openxmlformats.org/drawingml/2006/main">
            <a:r>
              <a:t>- CostFloor scenario limits: app/model/scenario.ts</a:t>
            </a:r>
          </a:p>
          <a:p xmlns:a="http://schemas.openxmlformats.org/drawingml/2006/main">
            <a:r>
              <a:t>- Engine regression outputs: app/model/engine.test.ts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scenario is explicit: California, two hundred dollars per megawatt-hour, robot factor one, depth five, scarcity on, margin and tax off. For the laptop and car, the functional unit is the purchased good; lifetime charging and fuel are excluded. Those exclusions are scope decisions, not claims that use energy disappears.</a:t>
            </a:r>
          </a:p>
          <a:p xmlns:a="http://schemas.openxmlformats.org/drawingml/2006/main">
            <a:r>
              <a:t/>
            </a:r>
          </a:p>
          <a:p xmlns:a="http://schemas.openxmlformats.org/drawingml/2006/main">
            <a:r>
              <a:t>[Sources]</a:t>
            </a:r>
          </a:p>
          <a:p xmlns:a="http://schemas.openxmlformats.org/drawingml/2006/main">
            <a:r>
              <a:t>- CostFloor scenario schema: app/model/scenario.ts</a:t>
            </a:r>
          </a:p>
          <a:p xmlns:a="http://schemas.openxmlformats.org/drawingml/2006/main">
            <a:r>
              <a:t>- Argonne GREET vehicle-cycle boundary: https://publications.anl.gov/anlpubs/2022/07/176270.pdf</a:t>
            </a:r>
          </a:p>
          <a:p xmlns:a="http://schemas.openxmlformats.org/drawingml/2006/main">
            <a:r>
              <a:t>- UN SEEA Central Framework: https://seea.un.org/sites/seea.un.org/files/seea_cf_final_en.pdf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double-counting rule. If a node is expanded, its current aggregate dollars are replaced by the evaluated children. If it is not expanded, only its declared residual is kept. Whole-product LCA energy may constrain or allocate energy among components, fabrication, and logistics; it is never added again on top of those branches. Carbon dioxide equivalents and retail material prices are not converted directly into kilowatt-hours.</a:t>
            </a:r>
          </a:p>
          <a:p xmlns:a="http://schemas.openxmlformats.org/drawingml/2006/main">
            <a:r>
              <a:t/>
            </a:r>
          </a:p>
          <a:p xmlns:a="http://schemas.openxmlformats.org/drawingml/2006/main">
            <a:r>
              <a:t>[Sources]</a:t>
            </a:r>
          </a:p>
          <a:p xmlns:a="http://schemas.openxmlformats.org/drawingml/2006/main">
            <a:r>
              <a:t>- CostFloor evaluator: app/model/engine.ts</a:t>
            </a:r>
          </a:p>
          <a:p xmlns:a="http://schemas.openxmlformats.org/drawingml/2006/main">
            <a:r>
              <a:t>- European Commission JRC Life Cycle Data Network: https://eplca.jrc.ec.europa.eu/</a:t>
            </a:r>
          </a:p>
          <a:p xmlns:a="http://schemas.openxmlformats.org/drawingml/2006/main">
            <a:r>
              <a:t>- Argonne GREET vehicle-cycle boundary: https://publications.anl.gov/anlpubs/2022/07/176270.pdf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linear slider would spend most of its travel on the large end of each range. We map both controls in base-ten log space. One step is five-hundredths of a decade, so moving right multiplies the value by about one point one two two. Electricity ranges from one to one thousand dollars per megawatt-hour; the robot energy multiplier ranges from one hundredth to ten.</a:t>
            </a:r>
          </a:p>
          <a:p xmlns:a="http://schemas.openxmlformats.org/drawingml/2006/main">
            <a:r>
              <a:t/>
            </a:r>
          </a:p>
          <a:p xmlns:a="http://schemas.openxmlformats.org/drawingml/2006/main">
            <a:r>
              <a:t>[Sources]</a:t>
            </a:r>
          </a:p>
          <a:p xmlns:a="http://schemas.openxmlformats.org/drawingml/2006/main">
            <a:r>
              <a:t>- CostFloor scenario mapping: app/model/scenario.ts</a:t>
            </a:r>
          </a:p>
          <a:p xmlns:a="http://schemas.openxmlformats.org/drawingml/2006/main">
            <a:r>
              <a:t>- US EIA industrial electricity prices: https://www.eia.gov/electricity/monthly/epm_table_grapher.php?t=epmt_5_6_a</a:t>
            </a:r>
          </a:p>
          <a:p xmlns:a="http://schemas.openxmlformats.org/drawingml/2006/main">
            <a:r>
              <a:t>- Universal Robots UR5e technical specifications: https://www.universal-robots.com/manuals/EN/HTML/SW10_9/Content/prod-usr-man/complianceUR5e/H_g5_sections/appendix_g5/tech_spec_sheet.htm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low and high outputs are deterministic bounds propagated through the same tree. They are not probabilities and should not be described as a confidence interval. Sensitivity is a different operation: perturb one scenario input at a time, re-evaluate the base case, and compare both the dollar change and the explanation ledger.</a:t>
            </a:r>
          </a:p>
          <a:p xmlns:a="http://schemas.openxmlformats.org/drawingml/2006/main">
            <a:r>
              <a:t/>
            </a:r>
          </a:p>
          <a:p xmlns:a="http://schemas.openxmlformats.org/drawingml/2006/main">
            <a:r>
              <a:t>[Sources]</a:t>
            </a:r>
          </a:p>
          <a:p xmlns:a="http://schemas.openxmlformats.org/drawingml/2006/main">
            <a:r>
              <a:t>- CostFloor range evaluator and factor ledger: app/model/engine.ts</a:t>
            </a:r>
          </a:p>
          <a:p xmlns:a="http://schemas.openxmlformats.org/drawingml/2006/main">
            <a:r>
              <a:t>- CostFloor scenario controls: app/model/scenario.ts</a:t>
            </a:r>
          </a:p>
          <a:p xmlns:a="http://schemas.openxmlformats.org/drawingml/2006/main">
            <a:r>
              <a:t>- US EPA USEEIO technical content: https://www.epa.gov/land-research/us-environmentally-extended-input-output-useeio-technical-content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fixture is a unit test that judges can reproduce. Heating one kilogram of water by seventy-nine kelvin requires about zero point zero nine two kilowatt-hours before kettle losses. The model's base envelope is zero point one one three kilowatt-hours including water supply and allocated kettle energy. At the default power price, the base floor is two point four eight two cents versus a current out-of-pocket input of two point six six cents.</a:t>
            </a:r>
          </a:p>
          <a:p xmlns:a="http://schemas.openxmlformats.org/drawingml/2006/main">
            <a:r>
              <a:t/>
            </a:r>
          </a:p>
          <a:p xmlns:a="http://schemas.openxmlformats.org/drawingml/2006/main">
            <a:r>
              <a:t>[Sources]</a:t>
            </a:r>
          </a:p>
          <a:p xmlns:a="http://schemas.openxmlformats.org/drawingml/2006/main">
            <a:r>
              <a:t>- NIST specific heat of water: https://nvlpubs.nist.gov/nistpubs/Legacy/IR/nistir6191.pdf</a:t>
            </a:r>
          </a:p>
          <a:p xmlns:a="http://schemas.openxmlformats.org/drawingml/2006/main">
            <a:r>
              <a:t>- NISTIR 5078 Thermodynamic Properties of Water: https://www.nist.gov/srd/nistir-5078</a:t>
            </a:r>
          </a:p>
          <a:p xmlns:a="http://schemas.openxmlformats.org/drawingml/2006/main">
            <a:r>
              <a:t>- US EPA water-system energy: https://www.epa.gov/sites/default/files/2015-04/documents/epa816f13004.pdf</a:t>
            </a:r>
          </a:p>
          <a:p xmlns:a="http://schemas.openxmlformats.org/drawingml/2006/main">
            <a:r>
              <a:t>- CEC/CPUC embedded water energy: https://efiling.energy.ca.gov/GetDocument.aspx?DocumentContentId=27774&amp;tn=222230</a:t>
            </a:r>
          </a:p>
          <a:p xmlns:a="http://schemas.openxmlformats.org/drawingml/2006/main">
            <a:r>
              <a:t>- CostFloor water fixture: app/model/fixtures.ts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default scenario, the eighteen-dollar premium-tea fixture evaluates to a base floor of two dollars and sixty-two cents, or fourteen point six percent of the current input. The low-to-high interval is one dollar ten to five dollars eighty-nine. At depth five the ledger reports ten cutoffs, each evaluated through its declared physical fallback; by depth seven the fixture has converged.</a:t>
            </a:r>
          </a:p>
          <a:p xmlns:a="http://schemas.openxmlformats.org/drawingml/2006/main">
            <a:r>
              <a:t/>
            </a:r>
          </a:p>
          <a:p xmlns:a="http://schemas.openxmlformats.org/drawingml/2006/main">
            <a:r>
              <a:t>[Sources]</a:t>
            </a:r>
          </a:p>
          <a:p xmlns:a="http://schemas.openxmlformats.org/drawingml/2006/main">
            <a:r>
              <a:t>- CostFloor tea fixture and engine outputs: app/model/fixtures.ts and app/model/engine.ts</a:t>
            </a:r>
          </a:p>
          <a:p xmlns:a="http://schemas.openxmlformats.org/drawingml/2006/main">
            <a:r>
              <a:t>- FAO tea market context: https://www.fao.org/markets-and-trade/commodities/tea/en</a:t>
            </a:r>
          </a:p>
          <a:p xmlns:a="http://schemas.openxmlformats.org/drawingml/2006/main">
            <a:r>
              <a:t>- USDA ERS Food Dollar Series: https://www.ers.usda.gov/data-products/food-dollar-series</a:t>
            </a:r>
          </a:p>
          <a:p xmlns:a="http://schemas.openxmlformats.org/drawingml/2006/main">
            <a:r>
              <a:t>- US EIA industrial electricity prices: https://www.eia.gov/electricity/monthly/epm_table_grapher.php?t=epmt_5_6_a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Normalization makes unlike goods comparable. The base floor is only eight point six percent of current input for the laptop, fourteen point six for tea, twenty-one point six for the shirt, twenty-eight point eight for the car, forty-seven point two for flour, and ninety-three point three for boiled water. Water's high bound exceeds its current out-of-pocket input, which is visible because the axis extends to one hundred forty percent.</a:t>
            </a:r>
          </a:p>
          <a:p xmlns:a="http://schemas.openxmlformats.org/drawingml/2006/main">
            <a:r>
              <a:t/>
            </a:r>
          </a:p>
          <a:p xmlns:a="http://schemas.openxmlformats.org/drawingml/2006/main">
            <a:r>
              <a:t>[Sources]</a:t>
            </a:r>
          </a:p>
          <a:p xmlns:a="http://schemas.openxmlformats.org/drawingml/2006/main">
            <a:r>
              <a:t>- CostFloor verified outputs: app/model/fixtures.ts, app/model/engine.ts, and app/model/engine.test.ts</a:t>
            </a:r>
          </a:p>
          <a:p xmlns:a="http://schemas.openxmlformats.org/drawingml/2006/main">
            <a:r>
              <a:t>- Apple MacBook Air M5 launch price: https://www.apple.com/newsroom/2026/03/apple-introduces-the-new-macbook-air-with-m5/</a:t>
            </a:r>
          </a:p>
          <a:p xmlns:a="http://schemas.openxmlformats.org/drawingml/2006/main">
            <a:r>
              <a:t>- Toyota 2026 Corolla MSRP: https://www.toyota.com/corolla/2026/</a:t>
            </a:r>
          </a:p>
          <a:p xmlns:a="http://schemas.openxmlformats.org/drawingml/2006/main">
            <a:r>
              <a:t>- NIST specific heat of water: https://nvlpubs.nist.gov/nistpubs/Legacy/IR/nistir6191.pdf</a:t>
            </a:r>
          </a:p>
          <a:p xmlns:a="http://schemas.openxmlformats.org/drawingml/2006/main">
            <a:r>
              <a:t>- FAO tea: https://www.fao.org/markets-and-trade/commodities/tea/en</a:t>
            </a:r>
          </a:p>
          <a:p xmlns:a="http://schemas.openxmlformats.org/drawingml/2006/main">
            <a:r>
              <a:t>- USDA wheat: https://www.ers.usda.gov/topics/crops/wheat/wheat-sector-at-a-glance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limitation is deliberate: six curated fixtures, a deterministic evaluator, and explicit evidence links. The product does not yet infer a reliable cost tree from an arbitrary SKU, forecast demand, or estimate equilibrium prices. The next technical step is schema-validated fixture ingestion with provenance and automated reconciliation checks.</a:t>
            </a:r>
          </a:p>
          <a:p xmlns:a="http://schemas.openxmlformats.org/drawingml/2006/main">
            <a:r>
              <a:t/>
            </a:r>
          </a:p>
          <a:p xmlns:a="http://schemas.openxmlformats.org/drawingml/2006/main">
            <a:r>
              <a:t>[Sources]</a:t>
            </a:r>
          </a:p>
          <a:p xmlns:a="http://schemas.openxmlformats.org/drawingml/2006/main">
            <a:r>
              <a:t>- CostFloor live prototype: https://costfloor-agi-house.alezarzu.chatgpt.site</a:t>
            </a:r>
          </a:p>
          <a:p xmlns:a="http://schemas.openxmlformats.org/drawingml/2006/main">
            <a:r>
              <a:t>- CostFloor implementation: app/model/engine.ts, app/model/fixtures.ts, and app/model/types.ts</a:t>
            </a:r>
          </a:p>
          <a:p xmlns:a="http://schemas.openxmlformats.org/drawingml/2006/main">
            <a:r>
              <a:t>- US EPA USEEIO technical content: https://www.epa.gov/land-research/us-environmentally-extended-input-output-useeio-technical-content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a4c8e259d941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d584e278744e7a" /><Relationship Type="http://schemas.openxmlformats.org/officeDocument/2006/relationships/slideLayout" Target="/ppt/slideLayouts/slideLayout1.xml" Id="Rce8f8c75231140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8f8c75231140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ee11459e854f05" /><Relationship Type="http://schemas.openxmlformats.org/officeDocument/2006/relationships/image" Target="/ppt/media/image.png" Id="R49209d1a00ae4e5f" /><Relationship Type="http://schemas.openxmlformats.org/officeDocument/2006/relationships/notesSlide" Target="/ppt/notesSlides/notesSlide1.xml" Id="Rc6685216a49d4b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6f3c5090d341ca" /><Relationship Type="http://schemas.openxmlformats.org/officeDocument/2006/relationships/notesSlide" Target="/ppt/notesSlides/notesSlide2.xml" Id="Re8359d336f2349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263343347c4d06" /><Relationship Type="http://schemas.openxmlformats.org/officeDocument/2006/relationships/notesSlide" Target="/ppt/notesSlides/notesSlide3.xml" Id="R8478c7cffbce4d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b58d562b364e1c" /><Relationship Type="http://schemas.openxmlformats.org/officeDocument/2006/relationships/notesSlide" Target="/ppt/notesSlides/notesSlide4.xml" Id="R5019839ce11a47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a845351f6a4897" /><Relationship Type="http://schemas.openxmlformats.org/officeDocument/2006/relationships/notesSlide" Target="/ppt/notesSlides/notesSlide5.xml" Id="R67a1364fd0f640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c2a6ea8b014381" /><Relationship Type="http://schemas.openxmlformats.org/officeDocument/2006/relationships/notesSlide" Target="/ppt/notesSlides/notesSlide6.xml" Id="R9baf010ee2d641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df11ee683c4c38" /><Relationship Type="http://schemas.openxmlformats.org/officeDocument/2006/relationships/notesSlide" Target="/ppt/notesSlides/notesSlide7.xml" Id="R0577deb8701840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3a241dd16c48ac" /><Relationship Type="http://schemas.openxmlformats.org/officeDocument/2006/relationships/notesSlide" Target="/ppt/notesSlides/notesSlide8.xml" Id="Rf0a8c2e3581e45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9ceb33ca864db1" /><Relationship Type="http://schemas.openxmlformats.org/officeDocument/2006/relationships/notesSlide" Target="/ppt/notesSlides/notesSlide9.xml" Id="Rceb40e9967954d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274b7f400f4bbc" /><Relationship Type="http://schemas.openxmlformats.org/officeDocument/2006/relationships/notesSlide" Target="/ppt/notesSlides/notesSlide10.xml" Id="R50225db1944748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a5bb6109c14b29" /><Relationship Type="http://schemas.openxmlformats.org/officeDocument/2006/relationships/notesSlide" Target="/ppt/notesSlides/notesSlide11.xml" Id="Rb92e1817e98642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174600f3b24dbf" /><Relationship Type="http://schemas.openxmlformats.org/officeDocument/2006/relationships/notesSlide" Target="/ppt/notesSlides/notesSlide12.xml" Id="Rbd47e58e913f4b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cfa23c04b24e34" /><Relationship Type="http://schemas.openxmlformats.org/officeDocument/2006/relationships/notesSlide" Target="/ppt/notesSlides/notesSlide13.xml" Id="R1790cc0e2ab447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bf38f08dcf458a" /><Relationship Type="http://schemas.openxmlformats.org/officeDocument/2006/relationships/notesSlide" Target="/ppt/notesSlides/notesSlide14.xml" Id="Ra1c77d9670eb4291" /></Relationships>
</file>

<file path=ppt/slides/slide1.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9" name="cover-brand">
            <a:extLst xmlns:a="http://schemas.openxmlformats.org/drawingml/2006/main">
              <a:ext uri="{FF2B5EF4-FFF2-40B4-BE49-F238E27FC236}">
                <a16:creationId xmlns:a16="http://schemas.microsoft.com/office/drawing/2014/main" id="{133580E1-E563-46F6-ADCF-F7A4EAF4213B}"/>
              </a:ext>
            </a:extLst>
          </p:cNvPr>
          <p:cNvSpPr>
            <a:spLocks xmlns:a="http://schemas.openxmlformats.org/drawingml/2006/main" noGrp="1"/>
          </p:cNvSpPr>
          <p:nvPr/>
        </p:nvSpPr>
        <p:spPr>
          <a:xfrm xmlns:a="http://schemas.openxmlformats.org/drawingml/2006/main">
            <a:off x="552450" y="457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7241D"/>
                </a:solidFill>
                <a:latin typeface="Arial"/>
                <a:ea typeface="Arial"/>
                <a:cs typeface="Arial"/>
              </a:defRPr>
            </a:pPr>
            <a:r>
              <a:rPr sz="1275" b="1">
                <a:solidFill>
                  <a:srgbClr val="17241D"/>
                </a:solidFill>
                <a:latin typeface="Arial"/>
                <a:ea typeface="Arial"/>
                <a:cs typeface="Arial"/>
              </a:rPr>
              <a:t>COSTFLOOR  /  TECHNICAL MODEL</a:t>
            </a:r>
          </a:p>
        </p:txBody>
      </p:sp>
      <p:sp>
        <p:nvSpPr>
          <p:cNvPr id="2" name="cover-title">
            <a:extLst xmlns:a="http://schemas.openxmlformats.org/drawingml/2006/main">
              <a:ext uri="{FF2B5EF4-FFF2-40B4-BE49-F238E27FC236}">
                <a16:creationId xmlns:a16="http://schemas.microsoft.com/office/drawing/2014/main" id="{F1DE4A0B-07DC-4673-B3B4-5A484AA4D3AE}"/>
              </a:ext>
            </a:extLst>
          </p:cNvPr>
          <p:cNvSpPr>
            <a:spLocks xmlns:a="http://schemas.openxmlformats.org/drawingml/2006/main" noGrp="1"/>
          </p:cNvSpPr>
          <p:nvPr/>
        </p:nvSpPr>
        <p:spPr>
          <a:xfrm xmlns:a="http://schemas.openxmlformats.org/drawingml/2006/main">
            <a:off x="552450" y="1409700"/>
            <a:ext cx="51911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800" b="1">
                <a:solidFill>
                  <a:srgbClr val="17241D"/>
                </a:solidFill>
                <a:latin typeface="Arial"/>
                <a:ea typeface="Arial"/>
                <a:cs typeface="Arial"/>
              </a:defRPr>
            </a:pPr>
            <a:r>
              <a:rPr sz="4800" b="1">
                <a:solidFill>
                  <a:srgbClr val="17241D"/>
                </a:solidFill>
                <a:latin typeface="Arial"/>
                <a:ea typeface="Arial"/>
                <a:cs typeface="Arial"/>
              </a:rPr>
              <a:t>Recursive cost</a:t>
            </a:r>
          </a:p>
          <a:p xmlns:a="http://schemas.openxmlformats.org/drawingml/2006/main">
            <a:pPr algn="l">
              <a:lnSpc>
                <a:spcPct val="90000"/>
              </a:lnSpc>
              <a:buNone/>
              <a:defRPr sz="4800" b="1">
                <a:solidFill>
                  <a:srgbClr val="17241D"/>
                </a:solidFill>
                <a:latin typeface="Arial"/>
                <a:ea typeface="Arial"/>
                <a:cs typeface="Arial"/>
              </a:defRPr>
            </a:pPr>
            <a:r>
              <a:rPr sz="4800" b="1">
                <a:solidFill>
                  <a:srgbClr val="17241D"/>
                </a:solidFill>
                <a:latin typeface="Arial"/>
                <a:ea typeface="Arial"/>
                <a:cs typeface="Arial"/>
              </a:rPr>
              <a:t>decomposition</a:t>
            </a:r>
          </a:p>
        </p:txBody>
      </p:sp>
      <p:sp>
        <p:nvSpPr>
          <p:cNvPr id="3" name="cover-subtitle">
            <a:extLst xmlns:a="http://schemas.openxmlformats.org/drawingml/2006/main">
              <a:ext uri="{FF2B5EF4-FFF2-40B4-BE49-F238E27FC236}">
                <a16:creationId xmlns:a16="http://schemas.microsoft.com/office/drawing/2014/main" id="{C2993D39-B50B-4663-AA8C-A09C60DE5FDA}"/>
              </a:ext>
            </a:extLst>
          </p:cNvPr>
          <p:cNvSpPr>
            <a:spLocks xmlns:a="http://schemas.openxmlformats.org/drawingml/2006/main" noGrp="1"/>
          </p:cNvSpPr>
          <p:nvPr/>
        </p:nvSpPr>
        <p:spPr>
          <a:xfrm xmlns:a="http://schemas.openxmlformats.org/drawingml/2006/main">
            <a:off x="581025" y="4210050"/>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0">
                <a:solidFill>
                  <a:srgbClr val="69736C"/>
                </a:solidFill>
                <a:latin typeface="Arial"/>
                <a:ea typeface="Arial"/>
                <a:cs typeface="Arial"/>
              </a:defRPr>
            </a:pPr>
            <a:r>
              <a:rPr sz="1800" b="0">
                <a:solidFill>
                  <a:srgbClr val="69736C"/>
                </a:solidFill>
                <a:latin typeface="Arial"/>
                <a:ea typeface="Arial"/>
                <a:cs typeface="Arial"/>
              </a:rPr>
              <a:t>A deterministic model of the automation-adjusted resource floor beneath a current price.</a:t>
            </a:r>
          </a:p>
        </p:txBody>
      </p:sp>
      <p:sp>
        <p:nvSpPr>
          <p:cNvPr id="4" name="cover-image-field">
            <a:extLst xmlns:a="http://schemas.openxmlformats.org/drawingml/2006/main">
              <a:ext uri="{FF2B5EF4-FFF2-40B4-BE49-F238E27FC236}">
                <a16:creationId xmlns:a16="http://schemas.microsoft.com/office/drawing/2014/main" id="{66A1B9C9-0C47-451E-AFD7-2A7CA20C3DC2}"/>
              </a:ext>
            </a:extLst>
          </p:cNvPr>
          <p:cNvSpPr>
            <a:spLocks xmlns:a="http://schemas.openxmlformats.org/drawingml/2006/main" noGrp="1"/>
          </p:cNvSpPr>
          <p:nvPr/>
        </p:nvSpPr>
        <p:spPr>
          <a:xfrm xmlns:a="http://schemas.openxmlformats.org/drawingml/2006/main">
            <a:off x="6229350" y="400050"/>
            <a:ext cx="5505450" cy="561975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9209d1a00ae4e5f"/>
          <a:stretch xmlns:a="http://schemas.openxmlformats.org/drawingml/2006/main"/>
        </p:blipFill>
        <p:spPr>
          <a:xfrm xmlns:a="http://schemas.openxmlformats.org/drawingml/2006/main">
            <a:off x="6400800" y="1421368"/>
            <a:ext cx="5162550" cy="2710339"/>
          </a:xfrm>
          <a:prstGeom xmlns:a="http://schemas.openxmlformats.org/drawingml/2006/main" prst="rect">
            <a:avLst/>
          </a:prstGeom>
        </p:spPr>
      </p:pic>
      <p:sp>
        <p:nvSpPr>
          <p:cNvPr id="6" name="cover-field-label">
            <a:extLst xmlns:a="http://schemas.openxmlformats.org/drawingml/2006/main">
              <a:ext uri="{FF2B5EF4-FFF2-40B4-BE49-F238E27FC236}">
                <a16:creationId xmlns:a16="http://schemas.microsoft.com/office/drawing/2014/main" id="{63494949-006B-46A6-ACCA-CA717B81BD6B}"/>
              </a:ext>
            </a:extLst>
          </p:cNvPr>
          <p:cNvSpPr>
            <a:spLocks xmlns:a="http://schemas.openxmlformats.org/drawingml/2006/main" noGrp="1"/>
          </p:cNvSpPr>
          <p:nvPr/>
        </p:nvSpPr>
        <p:spPr>
          <a:xfrm xmlns:a="http://schemas.openxmlformats.org/drawingml/2006/main">
            <a:off x="6572250" y="695325"/>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D8FF57"/>
                </a:solidFill>
                <a:latin typeface="Arial"/>
                <a:ea typeface="Arial"/>
                <a:cs typeface="Arial"/>
              </a:defRPr>
            </a:pPr>
            <a:r>
              <a:rPr sz="1200" b="1">
                <a:solidFill>
                  <a:srgbClr val="D8FF57"/>
                </a:solidFill>
                <a:latin typeface="Arial"/>
                <a:ea typeface="Arial"/>
                <a:cs typeface="Arial"/>
              </a:rPr>
              <a:t>AUDITABLE PRODUCT-LEVEL SCENARIOS</a:t>
            </a:r>
          </a:p>
        </p:txBody>
      </p:sp>
      <p:sp>
        <p:nvSpPr>
          <p:cNvPr id="7" name="cover-field-note">
            <a:extLst xmlns:a="http://schemas.openxmlformats.org/drawingml/2006/main">
              <a:ext uri="{FF2B5EF4-FFF2-40B4-BE49-F238E27FC236}">
                <a16:creationId xmlns:a16="http://schemas.microsoft.com/office/drawing/2014/main" id="{ADE65A7E-D721-4216-8350-1555ED07B3FC}"/>
              </a:ext>
            </a:extLst>
          </p:cNvPr>
          <p:cNvSpPr>
            <a:spLocks xmlns:a="http://schemas.openxmlformats.org/drawingml/2006/main" noGrp="1"/>
          </p:cNvSpPr>
          <p:nvPr/>
        </p:nvSpPr>
        <p:spPr>
          <a:xfrm xmlns:a="http://schemas.openxmlformats.org/drawingml/2006/main">
            <a:off x="6572250" y="4953000"/>
            <a:ext cx="4619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F7F5ED"/>
                </a:solidFill>
                <a:latin typeface="Arial"/>
                <a:ea typeface="Arial"/>
                <a:cs typeface="Arial"/>
              </a:defRPr>
            </a:pPr>
            <a:r>
              <a:rPr sz="1425" b="1">
                <a:solidFill>
                  <a:srgbClr val="F7F5ED"/>
                </a:solidFill>
                <a:latin typeface="Arial"/>
                <a:ea typeface="Arial"/>
                <a:cs typeface="Arial"/>
              </a:rPr>
              <a:t>California · $200/MWh · robot 1× · depth 5</a:t>
            </a:r>
          </a:p>
        </p:txBody>
      </p:sp>
      <p:sp>
        <p:nvSpPr>
          <p:cNvPr id="8" name="cover-date">
            <a:extLst xmlns:a="http://schemas.openxmlformats.org/drawingml/2006/main">
              <a:ext uri="{FF2B5EF4-FFF2-40B4-BE49-F238E27FC236}">
                <a16:creationId xmlns:a16="http://schemas.microsoft.com/office/drawing/2014/main" id="{0EF9743E-EAB2-419F-8FB2-114A834474D5}"/>
              </a:ext>
            </a:extLst>
          </p:cNvPr>
          <p:cNvSpPr>
            <a:spLocks xmlns:a="http://schemas.openxmlformats.org/drawingml/2006/main" noGrp="1"/>
          </p:cNvSpPr>
          <p:nvPr/>
        </p:nvSpPr>
        <p:spPr>
          <a:xfrm xmlns:a="http://schemas.openxmlformats.org/drawingml/2006/main">
            <a:off x="571500" y="62960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69736C"/>
                </a:solidFill>
                <a:latin typeface="Arial"/>
                <a:ea typeface="Arial"/>
                <a:cs typeface="Arial"/>
              </a:defRPr>
            </a:pPr>
            <a:r>
              <a:rPr sz="975" b="1">
                <a:solidFill>
                  <a:srgbClr val="69736C"/>
                </a:solidFill>
                <a:latin typeface="Arial"/>
                <a:ea typeface="Arial"/>
                <a:cs typeface="Arial"/>
              </a:rPr>
              <a:t>AGI HOUSE HACKATHON  /  AUGUST 2026</a:t>
            </a:r>
          </a:p>
        </p:txBody>
      </p:sp>
    </p:spTree>
    <p:extLst>
      <p:ext uri="{BB962C8B-B14F-4D97-AF65-F5344CB8AC3E}">
        <p14:creationId xmlns:p14="http://schemas.microsoft.com/office/powerpoint/2010/main" val="1423463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2-kicker">
            <a:extLst xmlns:a="http://schemas.openxmlformats.org/drawingml/2006/main">
              <a:ext uri="{FF2B5EF4-FFF2-40B4-BE49-F238E27FC236}">
                <a16:creationId xmlns:a16="http://schemas.microsoft.com/office/drawing/2014/main" id="{8A31AF0E-6182-48F2-AC8A-5FAAA1DDF40B}"/>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02</a:t>
            </a:r>
          </a:p>
        </p:txBody>
      </p:sp>
      <p:sp>
        <p:nvSpPr>
          <p:cNvPr id="2" name="slide-2-title">
            <a:extLst xmlns:a="http://schemas.openxmlformats.org/drawingml/2006/main">
              <a:ext uri="{FF2B5EF4-FFF2-40B4-BE49-F238E27FC236}">
                <a16:creationId xmlns:a16="http://schemas.microsoft.com/office/drawing/2014/main" id="{BFDED1FA-9454-4126-BE89-B9E0D1CF0DC4}"/>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00" b="1">
                <a:solidFill>
                  <a:srgbClr val="17241D"/>
                </a:solidFill>
                <a:latin typeface="Arial"/>
                <a:ea typeface="Arial"/>
                <a:cs typeface="Arial"/>
              </a:defRPr>
            </a:pPr>
            <a:r>
              <a:rPr sz="3300" b="1">
                <a:solidFill>
                  <a:srgbClr val="17241D"/>
                </a:solidFill>
                <a:latin typeface="Arial"/>
                <a:ea typeface="Arial"/>
                <a:cs typeface="Arial"/>
              </a:rPr>
              <a:t>Retail prices combine inputs with different automation responses.</a:t>
            </a:r>
          </a:p>
        </p:txBody>
      </p:sp>
      <p:sp>
        <p:nvSpPr>
          <p:cNvPr id="3" name="slide-2-subtitle">
            <a:extLst xmlns:a="http://schemas.openxmlformats.org/drawingml/2006/main">
              <a:ext uri="{FF2B5EF4-FFF2-40B4-BE49-F238E27FC236}">
                <a16:creationId xmlns:a16="http://schemas.microsoft.com/office/drawing/2014/main" id="{C4F281A8-4425-4888-9278-F87F29113463}"/>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The model keeps transformation rules separate instead of applying one blanket discount.</a:t>
            </a:r>
          </a:p>
        </p:txBody>
      </p:sp>
      <p:sp>
        <p:nvSpPr>
          <p:cNvPr id="4" name="price-stack-0">
            <a:extLst xmlns:a="http://schemas.openxmlformats.org/drawingml/2006/main">
              <a:ext uri="{FF2B5EF4-FFF2-40B4-BE49-F238E27FC236}">
                <a16:creationId xmlns:a16="http://schemas.microsoft.com/office/drawing/2014/main" id="{3AF5FEB1-8832-4E47-A44C-DDA2DF50C1F5}"/>
              </a:ext>
            </a:extLst>
          </p:cNvPr>
          <p:cNvSpPr>
            <a:spLocks xmlns:a="http://schemas.openxmlformats.org/drawingml/2006/main" noGrp="1"/>
          </p:cNvSpPr>
          <p:nvPr/>
        </p:nvSpPr>
        <p:spPr>
          <a:xfrm xmlns:a="http://schemas.openxmlformats.org/drawingml/2006/main">
            <a:off x="514350" y="2590800"/>
            <a:ext cx="3845137" cy="552450"/>
          </a:xfrm>
          <a:prstGeom xmlns:a="http://schemas.openxmlformats.org/drawingml/2006/main" prst="rect">
            <a:avLst/>
          </a:prstGeom>
          <a:solidFill xmlns:a="http://schemas.openxmlformats.org/drawingml/2006/main">
            <a:srgbClr val="8E7895"/>
          </a:solidFill>
          <a:ln xmlns:a="http://schemas.openxmlformats.org/drawingml/2006/main" w="0">
            <a:solidFill>
              <a:srgbClr val="8E7895"/>
            </a:solidFill>
            <a:prstDash val="solid"/>
          </a:ln>
        </p:spPr>
      </p:sp>
      <p:sp>
        <p:nvSpPr>
          <p:cNvPr id="5" name="price-stack-label-0">
            <a:extLst xmlns:a="http://schemas.openxmlformats.org/drawingml/2006/main">
              <a:ext uri="{FF2B5EF4-FFF2-40B4-BE49-F238E27FC236}">
                <a16:creationId xmlns:a16="http://schemas.microsoft.com/office/drawing/2014/main" id="{5883F9A8-1B73-4DE6-B92D-B1CD4C99717B}"/>
              </a:ext>
            </a:extLst>
          </p:cNvPr>
          <p:cNvSpPr>
            <a:spLocks xmlns:a="http://schemas.openxmlformats.org/drawingml/2006/main" noGrp="1"/>
          </p:cNvSpPr>
          <p:nvPr/>
        </p:nvSpPr>
        <p:spPr>
          <a:xfrm xmlns:a="http://schemas.openxmlformats.org/drawingml/2006/main">
            <a:off x="600075" y="2771775"/>
            <a:ext cx="367368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Margin</a:t>
            </a:r>
          </a:p>
        </p:txBody>
      </p:sp>
      <p:sp>
        <p:nvSpPr>
          <p:cNvPr id="6" name="price-stack-1">
            <a:extLst xmlns:a="http://schemas.openxmlformats.org/drawingml/2006/main">
              <a:ext uri="{FF2B5EF4-FFF2-40B4-BE49-F238E27FC236}">
                <a16:creationId xmlns:a16="http://schemas.microsoft.com/office/drawing/2014/main" id="{844CD950-A59E-47C8-883B-A43AD1B68759}"/>
              </a:ext>
            </a:extLst>
          </p:cNvPr>
          <p:cNvSpPr>
            <a:spLocks xmlns:a="http://schemas.openxmlformats.org/drawingml/2006/main" noGrp="1"/>
          </p:cNvSpPr>
          <p:nvPr/>
        </p:nvSpPr>
        <p:spPr>
          <a:xfrm xmlns:a="http://schemas.openxmlformats.org/drawingml/2006/main">
            <a:off x="4359487" y="2590800"/>
            <a:ext cx="3597063" cy="552450"/>
          </a:xfrm>
          <a:prstGeom xmlns:a="http://schemas.openxmlformats.org/drawingml/2006/main" prst="rect">
            <a:avLst/>
          </a:prstGeom>
          <a:solidFill xmlns:a="http://schemas.openxmlformats.org/drawingml/2006/main">
            <a:srgbClr val="FF5B35"/>
          </a:solidFill>
          <a:ln xmlns:a="http://schemas.openxmlformats.org/drawingml/2006/main" w="0">
            <a:solidFill>
              <a:srgbClr val="FF5B35"/>
            </a:solidFill>
            <a:prstDash val="solid"/>
          </a:ln>
        </p:spPr>
      </p:sp>
      <p:sp>
        <p:nvSpPr>
          <p:cNvPr id="7" name="price-stack-label-1">
            <a:extLst xmlns:a="http://schemas.openxmlformats.org/drawingml/2006/main">
              <a:ext uri="{FF2B5EF4-FFF2-40B4-BE49-F238E27FC236}">
                <a16:creationId xmlns:a16="http://schemas.microsoft.com/office/drawing/2014/main" id="{28A8EA9A-A536-4422-9116-75493835A60F}"/>
              </a:ext>
            </a:extLst>
          </p:cNvPr>
          <p:cNvSpPr>
            <a:spLocks xmlns:a="http://schemas.openxmlformats.org/drawingml/2006/main" noGrp="1"/>
          </p:cNvSpPr>
          <p:nvPr/>
        </p:nvSpPr>
        <p:spPr>
          <a:xfrm xmlns:a="http://schemas.openxmlformats.org/drawingml/2006/main">
            <a:off x="4445212" y="2771775"/>
            <a:ext cx="342561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Labor</a:t>
            </a:r>
          </a:p>
        </p:txBody>
      </p:sp>
      <p:sp>
        <p:nvSpPr>
          <p:cNvPr id="8" name="price-stack-2">
            <a:extLst xmlns:a="http://schemas.openxmlformats.org/drawingml/2006/main">
              <a:ext uri="{FF2B5EF4-FFF2-40B4-BE49-F238E27FC236}">
                <a16:creationId xmlns:a16="http://schemas.microsoft.com/office/drawing/2014/main" id="{A029A00D-0772-4745-8417-3613E3860988}"/>
              </a:ext>
            </a:extLst>
          </p:cNvPr>
          <p:cNvSpPr>
            <a:spLocks xmlns:a="http://schemas.openxmlformats.org/drawingml/2006/main" noGrp="1"/>
          </p:cNvSpPr>
          <p:nvPr/>
        </p:nvSpPr>
        <p:spPr>
          <a:xfrm xmlns:a="http://schemas.openxmlformats.org/drawingml/2006/main">
            <a:off x="7956550" y="2590800"/>
            <a:ext cx="1922568" cy="552450"/>
          </a:xfrm>
          <a:prstGeom xmlns:a="http://schemas.openxmlformats.org/drawingml/2006/main" prst="rect">
            <a:avLst/>
          </a:prstGeom>
          <a:solidFill xmlns:a="http://schemas.openxmlformats.org/drawingml/2006/main">
            <a:srgbClr val="3856D9"/>
          </a:solidFill>
          <a:ln xmlns:a="http://schemas.openxmlformats.org/drawingml/2006/main" w="0">
            <a:solidFill>
              <a:srgbClr val="3856D9"/>
            </a:solidFill>
            <a:prstDash val="solid"/>
          </a:ln>
        </p:spPr>
      </p:sp>
      <p:sp>
        <p:nvSpPr>
          <p:cNvPr id="9" name="price-stack-label-2">
            <a:extLst xmlns:a="http://schemas.openxmlformats.org/drawingml/2006/main">
              <a:ext uri="{FF2B5EF4-FFF2-40B4-BE49-F238E27FC236}">
                <a16:creationId xmlns:a16="http://schemas.microsoft.com/office/drawing/2014/main" id="{E0B0A066-1853-4DE3-A368-BCFF407F5C96}"/>
              </a:ext>
            </a:extLst>
          </p:cNvPr>
          <p:cNvSpPr>
            <a:spLocks xmlns:a="http://schemas.openxmlformats.org/drawingml/2006/main" noGrp="1"/>
          </p:cNvSpPr>
          <p:nvPr/>
        </p:nvSpPr>
        <p:spPr>
          <a:xfrm xmlns:a="http://schemas.openxmlformats.org/drawingml/2006/main">
            <a:off x="8042275" y="2771775"/>
            <a:ext cx="175111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Capital</a:t>
            </a:r>
          </a:p>
        </p:txBody>
      </p:sp>
      <p:sp>
        <p:nvSpPr>
          <p:cNvPr id="10" name="price-stack-3">
            <a:extLst xmlns:a="http://schemas.openxmlformats.org/drawingml/2006/main">
              <a:ext uri="{FF2B5EF4-FFF2-40B4-BE49-F238E27FC236}">
                <a16:creationId xmlns:a16="http://schemas.microsoft.com/office/drawing/2014/main" id="{A18A1156-FCB4-4C69-8051-1DDC6826C65A}"/>
              </a:ext>
            </a:extLst>
          </p:cNvPr>
          <p:cNvSpPr>
            <a:spLocks xmlns:a="http://schemas.openxmlformats.org/drawingml/2006/main" noGrp="1"/>
          </p:cNvSpPr>
          <p:nvPr/>
        </p:nvSpPr>
        <p:spPr>
          <a:xfrm xmlns:a="http://schemas.openxmlformats.org/drawingml/2006/main">
            <a:off x="9879118" y="2590800"/>
            <a:ext cx="682202" cy="552450"/>
          </a:xfrm>
          <a:prstGeom xmlns:a="http://schemas.openxmlformats.org/drawingml/2006/main" prst="rect">
            <a:avLst/>
          </a:prstGeom>
          <a:solidFill xmlns:a="http://schemas.openxmlformats.org/drawingml/2006/main">
            <a:srgbClr val="E3B200"/>
          </a:solidFill>
          <a:ln xmlns:a="http://schemas.openxmlformats.org/drawingml/2006/main" w="0">
            <a:solidFill>
              <a:srgbClr val="E3B200"/>
            </a:solidFill>
            <a:prstDash val="solid"/>
          </a:ln>
        </p:spPr>
      </p:sp>
      <p:sp>
        <p:nvSpPr>
          <p:cNvPr id="11" name="price-stack-4">
            <a:extLst xmlns:a="http://schemas.openxmlformats.org/drawingml/2006/main">
              <a:ext uri="{FF2B5EF4-FFF2-40B4-BE49-F238E27FC236}">
                <a16:creationId xmlns:a16="http://schemas.microsoft.com/office/drawing/2014/main" id="{059F725E-B488-46E1-BC3B-DD0A4772E61F}"/>
              </a:ext>
            </a:extLst>
          </p:cNvPr>
          <p:cNvSpPr>
            <a:spLocks xmlns:a="http://schemas.openxmlformats.org/drawingml/2006/main" noGrp="1"/>
          </p:cNvSpPr>
          <p:nvPr/>
        </p:nvSpPr>
        <p:spPr>
          <a:xfrm xmlns:a="http://schemas.openxmlformats.org/drawingml/2006/main">
            <a:off x="10561320" y="2590800"/>
            <a:ext cx="930275" cy="552450"/>
          </a:xfrm>
          <a:prstGeom xmlns:a="http://schemas.openxmlformats.org/drawingml/2006/main" prst="rect">
            <a:avLst/>
          </a:prstGeom>
          <a:solidFill xmlns:a="http://schemas.openxmlformats.org/drawingml/2006/main">
            <a:srgbClr val="8A5A34"/>
          </a:solidFill>
          <a:ln xmlns:a="http://schemas.openxmlformats.org/drawingml/2006/main" w="0">
            <a:solidFill>
              <a:srgbClr val="8A5A34"/>
            </a:solidFill>
            <a:prstDash val="solid"/>
          </a:ln>
        </p:spPr>
      </p:sp>
      <p:sp>
        <p:nvSpPr>
          <p:cNvPr id="12" name="price-stack-label-4">
            <a:extLst xmlns:a="http://schemas.openxmlformats.org/drawingml/2006/main">
              <a:ext uri="{FF2B5EF4-FFF2-40B4-BE49-F238E27FC236}">
                <a16:creationId xmlns:a16="http://schemas.microsoft.com/office/drawing/2014/main" id="{B0C5DBB0-2F36-4A85-8C7F-1D1AAB5E099F}"/>
              </a:ext>
            </a:extLst>
          </p:cNvPr>
          <p:cNvSpPr>
            <a:spLocks xmlns:a="http://schemas.openxmlformats.org/drawingml/2006/main" noGrp="1"/>
          </p:cNvSpPr>
          <p:nvPr/>
        </p:nvSpPr>
        <p:spPr>
          <a:xfrm xmlns:a="http://schemas.openxmlformats.org/drawingml/2006/main">
            <a:off x="10647045" y="2771775"/>
            <a:ext cx="758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863"/>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Land + matter</a:t>
            </a:r>
          </a:p>
        </p:txBody>
      </p:sp>
      <p:sp>
        <p:nvSpPr>
          <p:cNvPr id="13" name="price-stack-5">
            <a:extLst xmlns:a="http://schemas.openxmlformats.org/drawingml/2006/main">
              <a:ext uri="{FF2B5EF4-FFF2-40B4-BE49-F238E27FC236}">
                <a16:creationId xmlns:a16="http://schemas.microsoft.com/office/drawing/2014/main" id="{5F4DBD1C-25AE-4817-9DBC-BEF1E0A5EE44}"/>
              </a:ext>
            </a:extLst>
          </p:cNvPr>
          <p:cNvSpPr>
            <a:spLocks xmlns:a="http://schemas.openxmlformats.org/drawingml/2006/main" noGrp="1"/>
          </p:cNvSpPr>
          <p:nvPr/>
        </p:nvSpPr>
        <p:spPr>
          <a:xfrm xmlns:a="http://schemas.openxmlformats.org/drawingml/2006/main">
            <a:off x="11491595" y="2590800"/>
            <a:ext cx="186055" cy="552450"/>
          </a:xfrm>
          <a:prstGeom xmlns:a="http://schemas.openxmlformats.org/drawingml/2006/main" prst="rect">
            <a:avLst/>
          </a:prstGeom>
          <a:solidFill xmlns:a="http://schemas.openxmlformats.org/drawingml/2006/main">
            <a:srgbClr val="B45468"/>
          </a:solidFill>
          <a:ln xmlns:a="http://schemas.openxmlformats.org/drawingml/2006/main" w="0">
            <a:solidFill>
              <a:srgbClr val="B45468"/>
            </a:solidFill>
            <a:prstDash val="solid"/>
          </a:ln>
        </p:spPr>
      </p:sp>
      <p:sp>
        <p:nvSpPr>
          <p:cNvPr id="14" name="today-price-label">
            <a:extLst xmlns:a="http://schemas.openxmlformats.org/drawingml/2006/main">
              <a:ext uri="{FF2B5EF4-FFF2-40B4-BE49-F238E27FC236}">
                <a16:creationId xmlns:a16="http://schemas.microsoft.com/office/drawing/2014/main" id="{89BABFDB-7337-4F0F-8318-EFCA5655225D}"/>
              </a:ext>
            </a:extLst>
          </p:cNvPr>
          <p:cNvSpPr>
            <a:spLocks xmlns:a="http://schemas.openxmlformats.org/drawingml/2006/main" noGrp="1"/>
          </p:cNvSpPr>
          <p:nvPr/>
        </p:nvSpPr>
        <p:spPr>
          <a:xfrm xmlns:a="http://schemas.openxmlformats.org/drawingml/2006/main">
            <a:off x="514350" y="3238500"/>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7241D"/>
                </a:solidFill>
                <a:latin typeface="Arial"/>
                <a:ea typeface="Arial"/>
                <a:cs typeface="Arial"/>
              </a:defRPr>
            </a:pPr>
            <a:r>
              <a:rPr sz="1275" b="1">
                <a:solidFill>
                  <a:srgbClr val="17241D"/>
                </a:solidFill>
                <a:latin typeface="Arial"/>
                <a:ea typeface="Arial"/>
                <a:cs typeface="Arial"/>
              </a:rPr>
              <a:t>$18.00 premium-tea fixture · illustrative current-cost identity</a:t>
            </a:r>
          </a:p>
        </p:txBody>
      </p:sp>
      <p:sp>
        <p:nvSpPr>
          <p:cNvPr id="15" name="collapse-panel">
            <a:extLst xmlns:a="http://schemas.openxmlformats.org/drawingml/2006/main">
              <a:ext uri="{FF2B5EF4-FFF2-40B4-BE49-F238E27FC236}">
                <a16:creationId xmlns:a16="http://schemas.microsoft.com/office/drawing/2014/main" id="{9832E239-112E-4797-8CEB-02F6160B0B8E}"/>
              </a:ext>
            </a:extLst>
          </p:cNvPr>
          <p:cNvSpPr>
            <a:spLocks xmlns:a="http://schemas.openxmlformats.org/drawingml/2006/main" noGrp="1"/>
          </p:cNvSpPr>
          <p:nvPr/>
        </p:nvSpPr>
        <p:spPr>
          <a:xfrm xmlns:a="http://schemas.openxmlformats.org/drawingml/2006/main">
            <a:off x="514350" y="3876675"/>
            <a:ext cx="5295900" cy="20002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6" name="collapse-kicker">
            <a:extLst xmlns:a="http://schemas.openxmlformats.org/drawingml/2006/main">
              <a:ext uri="{FF2B5EF4-FFF2-40B4-BE49-F238E27FC236}">
                <a16:creationId xmlns:a16="http://schemas.microsoft.com/office/drawing/2014/main" id="{90AF0956-0B8A-4F83-B186-541B75B2B6CD}"/>
              </a:ext>
            </a:extLst>
          </p:cNvPr>
          <p:cNvSpPr>
            <a:spLocks xmlns:a="http://schemas.openxmlformats.org/drawingml/2006/main" noGrp="1"/>
          </p:cNvSpPr>
          <p:nvPr/>
        </p:nvSpPr>
        <p:spPr>
          <a:xfrm xmlns:a="http://schemas.openxmlformats.org/drawingml/2006/main">
            <a:off x="742950" y="41052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FF5B35"/>
                </a:solidFill>
                <a:latin typeface="Arial"/>
                <a:ea typeface="Arial"/>
                <a:cs typeface="Arial"/>
              </a:defRPr>
            </a:pPr>
            <a:r>
              <a:rPr sz="1125" b="1">
                <a:solidFill>
                  <a:srgbClr val="FF5B35"/>
                </a:solidFill>
                <a:latin typeface="Arial"/>
                <a:ea typeface="Arial"/>
                <a:cs typeface="Arial"/>
              </a:rPr>
              <a:t>SUBSTITUTE OR EXPAND</a:t>
            </a:r>
          </a:p>
        </p:txBody>
      </p:sp>
      <p:sp>
        <p:nvSpPr>
          <p:cNvPr id="17" name="collapse-body">
            <a:extLst xmlns:a="http://schemas.openxmlformats.org/drawingml/2006/main">
              <a:ext uri="{FF2B5EF4-FFF2-40B4-BE49-F238E27FC236}">
                <a16:creationId xmlns:a16="http://schemas.microsoft.com/office/drawing/2014/main" id="{E300F182-3B5A-4959-94CE-FAEEC7C63E1F}"/>
              </a:ext>
            </a:extLst>
          </p:cNvPr>
          <p:cNvSpPr>
            <a:spLocks xmlns:a="http://schemas.openxmlformats.org/drawingml/2006/main" noGrp="1"/>
          </p:cNvSpPr>
          <p:nvPr/>
        </p:nvSpPr>
        <p:spPr>
          <a:xfrm xmlns:a="http://schemas.openxmlformats.org/drawingml/2006/main">
            <a:off x="742950" y="4486275"/>
            <a:ext cx="45243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17241D"/>
                </a:solidFill>
                <a:latin typeface="Arial"/>
                <a:ea typeface="Arial"/>
                <a:cs typeface="Arial"/>
              </a:defRPr>
            </a:pPr>
            <a:r>
              <a:rPr sz="1575" b="1">
                <a:solidFill>
                  <a:srgbClr val="17241D"/>
                </a:solidFill>
                <a:latin typeface="Arial"/>
                <a:ea typeface="Arial"/>
                <a:cs typeface="Arial"/>
              </a:rPr>
              <a:t>Labor → machine task</a:t>
            </a:r>
          </a:p>
          <a:p xmlns:a="http://schemas.openxmlformats.org/drawingml/2006/main">
            <a:pPr algn="l">
              <a:lnSpc>
                <a:spcPct val="106000"/>
              </a:lnSpc>
              <a:buNone/>
              <a:defRPr sz="1575" b="1">
                <a:solidFill>
                  <a:srgbClr val="17241D"/>
                </a:solidFill>
                <a:latin typeface="Arial"/>
                <a:ea typeface="Arial"/>
                <a:cs typeface="Arial"/>
              </a:defRPr>
            </a:pPr>
            <a:r>
              <a:rPr sz="1575" b="1">
                <a:solidFill>
                  <a:srgbClr val="17241D"/>
                </a:solidFill>
                <a:latin typeface="Arial"/>
                <a:ea typeface="Arial"/>
                <a:cs typeface="Arial"/>
              </a:rPr>
              <a:t>Capital → embodied inputs</a:t>
            </a:r>
          </a:p>
          <a:p xmlns:a="http://schemas.openxmlformats.org/drawingml/2006/main">
            <a:pPr algn="l">
              <a:lnSpc>
                <a:spcPct val="106000"/>
              </a:lnSpc>
              <a:buNone/>
              <a:defRPr sz="1575" b="1">
                <a:solidFill>
                  <a:srgbClr val="17241D"/>
                </a:solidFill>
                <a:latin typeface="Arial"/>
                <a:ea typeface="Arial"/>
                <a:cs typeface="Arial"/>
              </a:defRPr>
            </a:pPr>
            <a:r>
              <a:rPr sz="1575" b="1">
                <a:solidFill>
                  <a:srgbClr val="17241D"/>
                </a:solidFill>
                <a:latin typeface="Arial"/>
                <a:ea typeface="Arial"/>
                <a:cs typeface="Arial"/>
              </a:rPr>
              <a:t>Energy → explicit quantity</a:t>
            </a:r>
          </a:p>
        </p:txBody>
      </p:sp>
      <p:sp>
        <p:nvSpPr>
          <p:cNvPr id="18" name="remain-panel">
            <a:extLst xmlns:a="http://schemas.openxmlformats.org/drawingml/2006/main">
              <a:ext uri="{FF2B5EF4-FFF2-40B4-BE49-F238E27FC236}">
                <a16:creationId xmlns:a16="http://schemas.microsoft.com/office/drawing/2014/main" id="{DD28F069-A2CA-4EFB-90D1-A84EE9BF7E92}"/>
              </a:ext>
            </a:extLst>
          </p:cNvPr>
          <p:cNvSpPr>
            <a:spLocks xmlns:a="http://schemas.openxmlformats.org/drawingml/2006/main" noGrp="1"/>
          </p:cNvSpPr>
          <p:nvPr/>
        </p:nvSpPr>
        <p:spPr>
          <a:xfrm xmlns:a="http://schemas.openxmlformats.org/drawingml/2006/main">
            <a:off x="6381750" y="3876675"/>
            <a:ext cx="5295900" cy="200025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19" name="remain-kicker">
            <a:extLst xmlns:a="http://schemas.openxmlformats.org/drawingml/2006/main">
              <a:ext uri="{FF2B5EF4-FFF2-40B4-BE49-F238E27FC236}">
                <a16:creationId xmlns:a16="http://schemas.microsoft.com/office/drawing/2014/main" id="{279066AF-E222-4A5E-BCE5-C4533458B771}"/>
              </a:ext>
            </a:extLst>
          </p:cNvPr>
          <p:cNvSpPr>
            <a:spLocks xmlns:a="http://schemas.openxmlformats.org/drawingml/2006/main" noGrp="1"/>
          </p:cNvSpPr>
          <p:nvPr/>
        </p:nvSpPr>
        <p:spPr>
          <a:xfrm xmlns:a="http://schemas.openxmlformats.org/drawingml/2006/main">
            <a:off x="6610350" y="410527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267B62"/>
                </a:solidFill>
                <a:latin typeface="Arial"/>
                <a:ea typeface="Arial"/>
                <a:cs typeface="Arial"/>
              </a:defRPr>
            </a:pPr>
            <a:r>
              <a:rPr sz="1125" b="1">
                <a:solidFill>
                  <a:srgbClr val="267B62"/>
                </a:solidFill>
                <a:latin typeface="Arial"/>
                <a:ea typeface="Arial"/>
                <a:cs typeface="Arial"/>
              </a:rPr>
              <a:t>RETAIN OR TOGGLE</a:t>
            </a:r>
          </a:p>
        </p:txBody>
      </p:sp>
      <p:sp>
        <p:nvSpPr>
          <p:cNvPr id="20" name="remain-body">
            <a:extLst xmlns:a="http://schemas.openxmlformats.org/drawingml/2006/main">
              <a:ext uri="{FF2B5EF4-FFF2-40B4-BE49-F238E27FC236}">
                <a16:creationId xmlns:a16="http://schemas.microsoft.com/office/drawing/2014/main" id="{1ACE17E4-C001-4DA8-B6DF-A0340DB489E8}"/>
              </a:ext>
            </a:extLst>
          </p:cNvPr>
          <p:cNvSpPr>
            <a:spLocks xmlns:a="http://schemas.openxmlformats.org/drawingml/2006/main" noGrp="1"/>
          </p:cNvSpPr>
          <p:nvPr/>
        </p:nvSpPr>
        <p:spPr>
          <a:xfrm xmlns:a="http://schemas.openxmlformats.org/drawingml/2006/main">
            <a:off x="6610350" y="4486275"/>
            <a:ext cx="4572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F7F5ED"/>
                </a:solidFill>
                <a:latin typeface="Arial"/>
                <a:ea typeface="Arial"/>
                <a:cs typeface="Arial"/>
              </a:defRPr>
            </a:pPr>
            <a:r>
              <a:rPr sz="1575" b="1">
                <a:solidFill>
                  <a:srgbClr val="F7F5ED"/>
                </a:solidFill>
                <a:latin typeface="Arial"/>
                <a:ea typeface="Arial"/>
                <a:cs typeface="Arial"/>
              </a:rPr>
              <a:t>Matter and scarcity</a:t>
            </a:r>
          </a:p>
          <a:p xmlns:a="http://schemas.openxmlformats.org/drawingml/2006/main">
            <a:pPr algn="l">
              <a:lnSpc>
                <a:spcPct val="106000"/>
              </a:lnSpc>
              <a:buNone/>
              <a:defRPr sz="1575" b="1">
                <a:solidFill>
                  <a:srgbClr val="F7F5ED"/>
                </a:solidFill>
                <a:latin typeface="Arial"/>
                <a:ea typeface="Arial"/>
                <a:cs typeface="Arial"/>
              </a:defRPr>
            </a:pPr>
            <a:r>
              <a:rPr sz="1575" b="1">
                <a:solidFill>
                  <a:srgbClr val="F7F5ED"/>
                </a:solidFill>
                <a:latin typeface="Arial"/>
                <a:ea typeface="Arial"/>
                <a:cs typeface="Arial"/>
              </a:rPr>
              <a:t>Margin and tax</a:t>
            </a:r>
          </a:p>
          <a:p xmlns:a="http://schemas.openxmlformats.org/drawingml/2006/main">
            <a:pPr algn="l">
              <a:lnSpc>
                <a:spcPct val="106000"/>
              </a:lnSpc>
              <a:buNone/>
              <a:defRPr sz="1575" b="1">
                <a:solidFill>
                  <a:srgbClr val="F7F5ED"/>
                </a:solidFill>
                <a:latin typeface="Arial"/>
                <a:ea typeface="Arial"/>
                <a:cs typeface="Arial"/>
              </a:defRPr>
            </a:pPr>
            <a:r>
              <a:rPr sz="1575" b="1">
                <a:solidFill>
                  <a:srgbClr val="F7F5ED"/>
                </a:solidFill>
                <a:latin typeface="Arial"/>
                <a:ea typeface="Arial"/>
                <a:cs typeface="Arial"/>
              </a:rPr>
              <a:t>Bounded residuals</a:t>
            </a:r>
          </a:p>
        </p:txBody>
      </p:sp>
      <p:sp>
        <p:nvSpPr>
          <p:cNvPr id="21" name="footer-2-left">
            <a:extLst xmlns:a="http://schemas.openxmlformats.org/drawingml/2006/main">
              <a:ext uri="{FF2B5EF4-FFF2-40B4-BE49-F238E27FC236}">
                <a16:creationId xmlns:a16="http://schemas.microsoft.com/office/drawing/2014/main" id="{814E4A4B-D2A5-431D-9ABC-AC407EC8B771}"/>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22" name="footer-2-number">
            <a:extLst xmlns:a="http://schemas.openxmlformats.org/drawingml/2006/main">
              <a:ext uri="{FF2B5EF4-FFF2-40B4-BE49-F238E27FC236}">
                <a16:creationId xmlns:a16="http://schemas.microsoft.com/office/drawing/2014/main" id="{02AB6D64-921D-4AF8-80DF-4C2A75541D67}"/>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02</a:t>
            </a:r>
          </a:p>
        </p:txBody>
      </p:sp>
    </p:spTree>
    <p:extLst>
      <p:ext uri="{BB962C8B-B14F-4D97-AF65-F5344CB8AC3E}">
        <p14:creationId xmlns:p14="http://schemas.microsoft.com/office/powerpoint/2010/main" val="559420869"/>
      </p:ext>
    </p:extLst>
  </p:cSld>
</p:sld>
</file>

<file path=ppt/slides/slide3.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19" name="slide-3-kicker">
            <a:extLst xmlns:a="http://schemas.openxmlformats.org/drawingml/2006/main">
              <a:ext uri="{FF2B5EF4-FFF2-40B4-BE49-F238E27FC236}">
                <a16:creationId xmlns:a16="http://schemas.microsoft.com/office/drawing/2014/main" id="{0BF399CD-8B7E-4C8F-9458-3522F1014909}"/>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03</a:t>
            </a:r>
          </a:p>
        </p:txBody>
      </p:sp>
      <p:sp>
        <p:nvSpPr>
          <p:cNvPr id="2" name="slide-3-title">
            <a:extLst xmlns:a="http://schemas.openxmlformats.org/drawingml/2006/main">
              <a:ext uri="{FF2B5EF4-FFF2-40B4-BE49-F238E27FC236}">
                <a16:creationId xmlns:a16="http://schemas.microsoft.com/office/drawing/2014/main" id="{C99BA526-ECCF-4DC7-9F60-2377AB152FC9}"/>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75" b="1">
                <a:solidFill>
                  <a:srgbClr val="17241D"/>
                </a:solidFill>
                <a:latin typeface="Arial"/>
                <a:ea typeface="Arial"/>
                <a:cs typeface="Arial"/>
              </a:defRPr>
            </a:pPr>
            <a:r>
              <a:rPr sz="3375" b="1">
                <a:solidFill>
                  <a:srgbClr val="17241D"/>
                </a:solidFill>
                <a:latin typeface="Arial"/>
                <a:ea typeface="Arial"/>
                <a:cs typeface="Arial"/>
              </a:rPr>
              <a:t>The model begins with a reconciled cost identity.</a:t>
            </a:r>
          </a:p>
        </p:txBody>
      </p:sp>
      <p:sp>
        <p:nvSpPr>
          <p:cNvPr id="3" name="slide-3-subtitle">
            <a:extLst xmlns:a="http://schemas.openxmlformats.org/drawingml/2006/main">
              <a:ext uri="{FF2B5EF4-FFF2-40B4-BE49-F238E27FC236}">
                <a16:creationId xmlns:a16="http://schemas.microsoft.com/office/drawing/2014/main" id="{70A46881-DB97-4921-881C-042D6D4E1DE3}"/>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Every result is tied to a functional unit, scenario boundary, and auditable node tree.</a:t>
            </a:r>
          </a:p>
        </p:txBody>
      </p:sp>
      <p:cxnSp>
        <p:nvCxnSpPr>
          <p:cNvPr id="30" name="workflow-line"/>
          <p:cNvCxnSpPr/>
          <p:nvPr/>
        </p:nvCxnSpPr>
        <p:spPr>
          <a:xfrm xmlns:a="http://schemas.openxmlformats.org/drawingml/2006/main" flipH="0" flipV="0">
            <a:off x="990600" y="3400425"/>
            <a:ext cx="9620250" cy="0"/>
          </a:xfrm>
          <a:prstGeom xmlns:a="http://schemas.openxmlformats.org/drawingml/2006/main" prst="straightConnector1">
            <a:avLst/>
          </a:prstGeom>
          <a:ln xmlns:a="http://schemas.openxmlformats.org/drawingml/2006/main" w="19050">
            <a:solidFill>
              <a:srgbClr val="17241D"/>
            </a:solidFill>
            <a:prstDash val="solid"/>
          </a:ln>
        </p:spPr>
      </p:cxnSp>
      <p:sp>
        <p:nvSpPr>
          <p:cNvPr id="5" name="workflow-dot-0">
            <a:extLst xmlns:a="http://schemas.openxmlformats.org/drawingml/2006/main">
              <a:ext uri="{FF2B5EF4-FFF2-40B4-BE49-F238E27FC236}">
                <a16:creationId xmlns:a16="http://schemas.microsoft.com/office/drawing/2014/main" id="{B4902AD2-2461-4063-A9FF-F43BE20903A8}"/>
              </a:ext>
            </a:extLst>
          </p:cNvPr>
          <p:cNvSpPr>
            <a:spLocks xmlns:a="http://schemas.openxmlformats.org/drawingml/2006/main" noGrp="1"/>
          </p:cNvSpPr>
          <p:nvPr/>
        </p:nvSpPr>
        <p:spPr>
          <a:xfrm xmlns:a="http://schemas.openxmlformats.org/drawingml/2006/main">
            <a:off x="1619250" y="3314700"/>
            <a:ext cx="171450" cy="171450"/>
          </a:xfrm>
          <a:prstGeom xmlns:a="http://schemas.openxmlformats.org/drawingml/2006/main" prst="ellipse">
            <a:avLst/>
          </a:prstGeom>
          <a:solidFill xmlns:a="http://schemas.openxmlformats.org/drawingml/2006/main">
            <a:srgbClr val="17241D"/>
          </a:solidFill>
          <a:ln xmlns:a="http://schemas.openxmlformats.org/drawingml/2006/main" w="0">
            <a:solidFill>
              <a:srgbClr val="17241D"/>
            </a:solidFill>
            <a:prstDash val="solid"/>
          </a:ln>
        </p:spPr>
      </p:sp>
      <p:sp>
        <p:nvSpPr>
          <p:cNvPr id="6" name="workflow-dot-1">
            <a:extLst xmlns:a="http://schemas.openxmlformats.org/drawingml/2006/main">
              <a:ext uri="{FF2B5EF4-FFF2-40B4-BE49-F238E27FC236}">
                <a16:creationId xmlns:a16="http://schemas.microsoft.com/office/drawing/2014/main" id="{1EF86DD1-4446-4BDF-AB8A-68C58C17A67E}"/>
              </a:ext>
            </a:extLst>
          </p:cNvPr>
          <p:cNvSpPr>
            <a:spLocks xmlns:a="http://schemas.openxmlformats.org/drawingml/2006/main" noGrp="1"/>
          </p:cNvSpPr>
          <p:nvPr/>
        </p:nvSpPr>
        <p:spPr>
          <a:xfrm xmlns:a="http://schemas.openxmlformats.org/drawingml/2006/main">
            <a:off x="5095875" y="3314700"/>
            <a:ext cx="171450" cy="171450"/>
          </a:xfrm>
          <a:prstGeom xmlns:a="http://schemas.openxmlformats.org/drawingml/2006/main" prst="ellipse">
            <a:avLst/>
          </a:prstGeom>
          <a:solidFill xmlns:a="http://schemas.openxmlformats.org/drawingml/2006/main">
            <a:srgbClr val="FF5B35"/>
          </a:solidFill>
          <a:ln xmlns:a="http://schemas.openxmlformats.org/drawingml/2006/main" w="0">
            <a:solidFill>
              <a:srgbClr val="FF5B35"/>
            </a:solidFill>
            <a:prstDash val="solid"/>
          </a:ln>
        </p:spPr>
      </p:sp>
      <p:sp>
        <p:nvSpPr>
          <p:cNvPr id="7" name="workflow-dot-2">
            <a:extLst xmlns:a="http://schemas.openxmlformats.org/drawingml/2006/main">
              <a:ext uri="{FF2B5EF4-FFF2-40B4-BE49-F238E27FC236}">
                <a16:creationId xmlns:a16="http://schemas.microsoft.com/office/drawing/2014/main" id="{62AC23C4-EC43-47D8-A3A2-7F3825A9D0E8}"/>
              </a:ext>
            </a:extLst>
          </p:cNvPr>
          <p:cNvSpPr>
            <a:spLocks xmlns:a="http://schemas.openxmlformats.org/drawingml/2006/main" noGrp="1"/>
          </p:cNvSpPr>
          <p:nvPr/>
        </p:nvSpPr>
        <p:spPr>
          <a:xfrm xmlns:a="http://schemas.openxmlformats.org/drawingml/2006/main">
            <a:off x="8572500" y="3314700"/>
            <a:ext cx="171450" cy="171450"/>
          </a:xfrm>
          <a:prstGeom xmlns:a="http://schemas.openxmlformats.org/drawingml/2006/main" prst="ellipse">
            <a:avLst/>
          </a:prstGeom>
          <a:solidFill xmlns:a="http://schemas.openxmlformats.org/drawingml/2006/main">
            <a:srgbClr val="17241D"/>
          </a:solidFill>
          <a:ln xmlns:a="http://schemas.openxmlformats.org/drawingml/2006/main" w="0">
            <a:solidFill>
              <a:srgbClr val="17241D"/>
            </a:solidFill>
            <a:prstDash val="solid"/>
          </a:ln>
        </p:spPr>
      </p:sp>
      <p:sp>
        <p:nvSpPr>
          <p:cNvPr id="8" name="step-01-number">
            <a:extLst xmlns:a="http://schemas.openxmlformats.org/drawingml/2006/main">
              <a:ext uri="{FF2B5EF4-FFF2-40B4-BE49-F238E27FC236}">
                <a16:creationId xmlns:a16="http://schemas.microsoft.com/office/drawing/2014/main" id="{D72917CB-56C6-4D6C-A9EA-6E0ED29D3F0B}"/>
              </a:ext>
            </a:extLst>
          </p:cNvPr>
          <p:cNvSpPr>
            <a:spLocks xmlns:a="http://schemas.openxmlformats.org/drawingml/2006/main" noGrp="1"/>
          </p:cNvSpPr>
          <p:nvPr/>
        </p:nvSpPr>
        <p:spPr>
          <a:xfrm xmlns:a="http://schemas.openxmlformats.org/drawingml/2006/main">
            <a:off x="685800" y="2771775"/>
            <a:ext cx="80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17241D"/>
                </a:solidFill>
                <a:latin typeface="Arial"/>
                <a:ea typeface="Arial"/>
                <a:cs typeface="Arial"/>
              </a:defRPr>
            </a:pPr>
            <a:r>
              <a:rPr sz="1875" b="1">
                <a:solidFill>
                  <a:srgbClr val="17241D"/>
                </a:solidFill>
                <a:latin typeface="Arial"/>
                <a:ea typeface="Arial"/>
                <a:cs typeface="Arial"/>
              </a:rPr>
              <a:t>01</a:t>
            </a:r>
          </a:p>
        </p:txBody>
      </p:sp>
      <p:sp>
        <p:nvSpPr>
          <p:cNvPr id="9" name="step-01-title">
            <a:extLst xmlns:a="http://schemas.openxmlformats.org/drawingml/2006/main">
              <a:ext uri="{FF2B5EF4-FFF2-40B4-BE49-F238E27FC236}">
                <a16:creationId xmlns:a16="http://schemas.microsoft.com/office/drawing/2014/main" id="{7044B32C-88CE-4014-9305-5463EEACCB7D}"/>
              </a:ext>
            </a:extLst>
          </p:cNvPr>
          <p:cNvSpPr>
            <a:spLocks xmlns:a="http://schemas.openxmlformats.org/drawingml/2006/main" noGrp="1"/>
          </p:cNvSpPr>
          <p:nvPr/>
        </p:nvSpPr>
        <p:spPr>
          <a:xfrm xmlns:a="http://schemas.openxmlformats.org/drawingml/2006/main">
            <a:off x="685800" y="384810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17241D"/>
                </a:solidFill>
                <a:latin typeface="Arial"/>
                <a:ea typeface="Arial"/>
                <a:cs typeface="Arial"/>
              </a:defRPr>
            </a:pPr>
            <a:r>
              <a:rPr sz="1875" b="1">
                <a:solidFill>
                  <a:srgbClr val="17241D"/>
                </a:solidFill>
                <a:latin typeface="Arial"/>
                <a:ea typeface="Arial"/>
                <a:cs typeface="Arial"/>
              </a:rPr>
              <a:t>Define the unit</a:t>
            </a:r>
          </a:p>
        </p:txBody>
      </p:sp>
      <p:sp>
        <p:nvSpPr>
          <p:cNvPr id="10" name="step-01-body">
            <a:extLst xmlns:a="http://schemas.openxmlformats.org/drawingml/2006/main">
              <a:ext uri="{FF2B5EF4-FFF2-40B4-BE49-F238E27FC236}">
                <a16:creationId xmlns:a16="http://schemas.microsoft.com/office/drawing/2014/main" id="{A3FC7C68-293F-42F9-B1A0-9A43DC022D81}"/>
              </a:ext>
            </a:extLst>
          </p:cNvPr>
          <p:cNvSpPr>
            <a:spLocks xmlns:a="http://schemas.openxmlformats.org/drawingml/2006/main" noGrp="1"/>
          </p:cNvSpPr>
          <p:nvPr/>
        </p:nvSpPr>
        <p:spPr>
          <a:xfrm xmlns:a="http://schemas.openxmlformats.org/drawingml/2006/main">
            <a:off x="685800" y="4438650"/>
            <a:ext cx="3000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9736C"/>
                </a:solidFill>
                <a:latin typeface="Arial"/>
                <a:ea typeface="Arial"/>
                <a:cs typeface="Arial"/>
              </a:defRPr>
            </a:pPr>
            <a:r>
              <a:rPr sz="1350" b="0">
                <a:solidFill>
                  <a:srgbClr val="69736C"/>
                </a:solidFill>
                <a:latin typeface="Arial"/>
                <a:ea typeface="Arial"/>
                <a:cs typeface="Arial"/>
              </a:rPr>
              <a:t>Product, functional unit, region, date, and current input P₀.</a:t>
            </a:r>
          </a:p>
        </p:txBody>
      </p:sp>
      <p:sp>
        <p:nvSpPr>
          <p:cNvPr id="11" name="step-02-number">
            <a:extLst xmlns:a="http://schemas.openxmlformats.org/drawingml/2006/main">
              <a:ext uri="{FF2B5EF4-FFF2-40B4-BE49-F238E27FC236}">
                <a16:creationId xmlns:a16="http://schemas.microsoft.com/office/drawing/2014/main" id="{E792BD31-7E6D-4549-BA04-4284DDFEF582}"/>
              </a:ext>
            </a:extLst>
          </p:cNvPr>
          <p:cNvSpPr>
            <a:spLocks xmlns:a="http://schemas.openxmlformats.org/drawingml/2006/main" noGrp="1"/>
          </p:cNvSpPr>
          <p:nvPr/>
        </p:nvSpPr>
        <p:spPr>
          <a:xfrm xmlns:a="http://schemas.openxmlformats.org/drawingml/2006/main">
            <a:off x="4162425" y="2771775"/>
            <a:ext cx="80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FF5B35"/>
                </a:solidFill>
                <a:latin typeface="Arial"/>
                <a:ea typeface="Arial"/>
                <a:cs typeface="Arial"/>
              </a:defRPr>
            </a:pPr>
            <a:r>
              <a:rPr sz="1875" b="1">
                <a:solidFill>
                  <a:srgbClr val="FF5B35"/>
                </a:solidFill>
                <a:latin typeface="Arial"/>
                <a:ea typeface="Arial"/>
                <a:cs typeface="Arial"/>
              </a:rPr>
              <a:t>02</a:t>
            </a:r>
          </a:p>
        </p:txBody>
      </p:sp>
      <p:sp>
        <p:nvSpPr>
          <p:cNvPr id="12" name="step-02-title">
            <a:extLst xmlns:a="http://schemas.openxmlformats.org/drawingml/2006/main">
              <a:ext uri="{FF2B5EF4-FFF2-40B4-BE49-F238E27FC236}">
                <a16:creationId xmlns:a16="http://schemas.microsoft.com/office/drawing/2014/main" id="{02F88914-AC05-4E4B-8CCD-F6800112A387}"/>
              </a:ext>
            </a:extLst>
          </p:cNvPr>
          <p:cNvSpPr>
            <a:spLocks xmlns:a="http://schemas.openxmlformats.org/drawingml/2006/main" noGrp="1"/>
          </p:cNvSpPr>
          <p:nvPr/>
        </p:nvSpPr>
        <p:spPr>
          <a:xfrm xmlns:a="http://schemas.openxmlformats.org/drawingml/2006/main">
            <a:off x="4162425" y="384810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17241D"/>
                </a:solidFill>
                <a:latin typeface="Arial"/>
                <a:ea typeface="Arial"/>
                <a:cs typeface="Arial"/>
              </a:defRPr>
            </a:pPr>
            <a:r>
              <a:rPr sz="1875" b="1">
                <a:solidFill>
                  <a:srgbClr val="17241D"/>
                </a:solidFill>
                <a:latin typeface="Arial"/>
                <a:ea typeface="Arial"/>
                <a:cs typeface="Arial"/>
              </a:rPr>
              <a:t>Reconcile the tree</a:t>
            </a:r>
          </a:p>
        </p:txBody>
      </p:sp>
      <p:sp>
        <p:nvSpPr>
          <p:cNvPr id="13" name="step-02-body">
            <a:extLst xmlns:a="http://schemas.openxmlformats.org/drawingml/2006/main">
              <a:ext uri="{FF2B5EF4-FFF2-40B4-BE49-F238E27FC236}">
                <a16:creationId xmlns:a16="http://schemas.microsoft.com/office/drawing/2014/main" id="{FB34BD8C-6B4E-4A20-9471-1A06BA6F536B}"/>
              </a:ext>
            </a:extLst>
          </p:cNvPr>
          <p:cNvSpPr>
            <a:spLocks xmlns:a="http://schemas.openxmlformats.org/drawingml/2006/main" noGrp="1"/>
          </p:cNvSpPr>
          <p:nvPr/>
        </p:nvSpPr>
        <p:spPr>
          <a:xfrm xmlns:a="http://schemas.openxmlformats.org/drawingml/2006/main">
            <a:off x="4162425" y="4438650"/>
            <a:ext cx="3000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9736C"/>
                </a:solidFill>
                <a:latin typeface="Arial"/>
                <a:ea typeface="Arial"/>
                <a:cs typeface="Arial"/>
              </a:defRPr>
            </a:pPr>
            <a:r>
              <a:rPr sz="1350" b="0">
                <a:solidFill>
                  <a:srgbClr val="69736C"/>
                </a:solidFill>
                <a:latin typeface="Arial"/>
                <a:ea typeface="Arial"/>
                <a:cs typeface="Arial"/>
              </a:rPr>
              <a:t>P₀ = Σ cᵢ. Top-level branches must close to the current input.</a:t>
            </a:r>
          </a:p>
        </p:txBody>
      </p:sp>
      <p:sp>
        <p:nvSpPr>
          <p:cNvPr id="14" name="step-03-number">
            <a:extLst xmlns:a="http://schemas.openxmlformats.org/drawingml/2006/main">
              <a:ext uri="{FF2B5EF4-FFF2-40B4-BE49-F238E27FC236}">
                <a16:creationId xmlns:a16="http://schemas.microsoft.com/office/drawing/2014/main" id="{11631675-505B-4862-A819-A2379607EAFA}"/>
              </a:ext>
            </a:extLst>
          </p:cNvPr>
          <p:cNvSpPr>
            <a:spLocks xmlns:a="http://schemas.openxmlformats.org/drawingml/2006/main" noGrp="1"/>
          </p:cNvSpPr>
          <p:nvPr/>
        </p:nvSpPr>
        <p:spPr>
          <a:xfrm xmlns:a="http://schemas.openxmlformats.org/drawingml/2006/main">
            <a:off x="7639050" y="2771775"/>
            <a:ext cx="80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17241D"/>
                </a:solidFill>
                <a:latin typeface="Arial"/>
                <a:ea typeface="Arial"/>
                <a:cs typeface="Arial"/>
              </a:defRPr>
            </a:pPr>
            <a:r>
              <a:rPr sz="1875" b="1">
                <a:solidFill>
                  <a:srgbClr val="17241D"/>
                </a:solidFill>
                <a:latin typeface="Arial"/>
                <a:ea typeface="Arial"/>
                <a:cs typeface="Arial"/>
              </a:rPr>
              <a:t>03</a:t>
            </a:r>
          </a:p>
        </p:txBody>
      </p:sp>
      <p:sp>
        <p:nvSpPr>
          <p:cNvPr id="15" name="step-03-title">
            <a:extLst xmlns:a="http://schemas.openxmlformats.org/drawingml/2006/main">
              <a:ext uri="{FF2B5EF4-FFF2-40B4-BE49-F238E27FC236}">
                <a16:creationId xmlns:a16="http://schemas.microsoft.com/office/drawing/2014/main" id="{5C11463B-3DE7-4CF2-8676-F8EFC93E0123}"/>
              </a:ext>
            </a:extLst>
          </p:cNvPr>
          <p:cNvSpPr>
            <a:spLocks xmlns:a="http://schemas.openxmlformats.org/drawingml/2006/main" noGrp="1"/>
          </p:cNvSpPr>
          <p:nvPr/>
        </p:nvSpPr>
        <p:spPr>
          <a:xfrm xmlns:a="http://schemas.openxmlformats.org/drawingml/2006/main">
            <a:off x="7639050" y="384810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17241D"/>
                </a:solidFill>
                <a:latin typeface="Arial"/>
                <a:ea typeface="Arial"/>
                <a:cs typeface="Arial"/>
              </a:defRPr>
            </a:pPr>
            <a:r>
              <a:rPr sz="1875" b="1">
                <a:solidFill>
                  <a:srgbClr val="17241D"/>
                </a:solidFill>
                <a:latin typeface="Arial"/>
                <a:ea typeface="Arial"/>
                <a:cs typeface="Arial"/>
              </a:rPr>
              <a:t>Evaluate a scenario</a:t>
            </a:r>
          </a:p>
        </p:txBody>
      </p:sp>
      <p:sp>
        <p:nvSpPr>
          <p:cNvPr id="16" name="step-03-body">
            <a:extLst xmlns:a="http://schemas.openxmlformats.org/drawingml/2006/main">
              <a:ext uri="{FF2B5EF4-FFF2-40B4-BE49-F238E27FC236}">
                <a16:creationId xmlns:a16="http://schemas.microsoft.com/office/drawing/2014/main" id="{EA4B8B20-B3E9-444B-A5BC-D326A63A0362}"/>
              </a:ext>
            </a:extLst>
          </p:cNvPr>
          <p:cNvSpPr>
            <a:spLocks xmlns:a="http://schemas.openxmlformats.org/drawingml/2006/main" noGrp="1"/>
          </p:cNvSpPr>
          <p:nvPr/>
        </p:nvSpPr>
        <p:spPr>
          <a:xfrm xmlns:a="http://schemas.openxmlformats.org/drawingml/2006/main">
            <a:off x="7639050" y="4438650"/>
            <a:ext cx="3000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69736C"/>
                </a:solidFill>
                <a:latin typeface="Arial"/>
                <a:ea typeface="Arial"/>
                <a:cs typeface="Arial"/>
              </a:defRPr>
            </a:pPr>
            <a:r>
              <a:rPr sz="1350" b="0">
                <a:solidFill>
                  <a:srgbClr val="69736C"/>
                </a:solidFill>
                <a:latin typeface="Arial"/>
                <a:ea typeface="Arial"/>
                <a:cs typeface="Arial"/>
              </a:rPr>
              <a:t>F(s)=Eval(root,s): range, factor ledger, cutoff count, and evidence.</a:t>
            </a:r>
          </a:p>
        </p:txBody>
      </p:sp>
      <p:sp>
        <p:nvSpPr>
          <p:cNvPr id="17" name="footer-3-left">
            <a:extLst xmlns:a="http://schemas.openxmlformats.org/drawingml/2006/main">
              <a:ext uri="{FF2B5EF4-FFF2-40B4-BE49-F238E27FC236}">
                <a16:creationId xmlns:a16="http://schemas.microsoft.com/office/drawing/2014/main" id="{589B62C6-0870-4570-921E-DB2AF09756FC}"/>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18" name="footer-3-number">
            <a:extLst xmlns:a="http://schemas.openxmlformats.org/drawingml/2006/main">
              <a:ext uri="{FF2B5EF4-FFF2-40B4-BE49-F238E27FC236}">
                <a16:creationId xmlns:a16="http://schemas.microsoft.com/office/drawing/2014/main" id="{4B301F1B-E06B-404F-BF4A-734A6ED18836}"/>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03</a:t>
            </a:r>
          </a:p>
        </p:txBody>
      </p:sp>
    </p:spTree>
    <p:extLst>
      <p:ext uri="{BB962C8B-B14F-4D97-AF65-F5344CB8AC3E}">
        <p14:creationId xmlns:p14="http://schemas.microsoft.com/office/powerpoint/2010/main" val="6019725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6-kicker">
            <a:extLst xmlns:a="http://schemas.openxmlformats.org/drawingml/2006/main">
              <a:ext uri="{FF2B5EF4-FFF2-40B4-BE49-F238E27FC236}">
                <a16:creationId xmlns:a16="http://schemas.microsoft.com/office/drawing/2014/main" id="{30B931A6-EBAC-4DCF-8A8E-AD56336902BA}"/>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04</a:t>
            </a:r>
          </a:p>
        </p:txBody>
      </p:sp>
      <p:sp>
        <p:nvSpPr>
          <p:cNvPr id="2" name="slide-6-title">
            <a:extLst xmlns:a="http://schemas.openxmlformats.org/drawingml/2006/main">
              <a:ext uri="{FF2B5EF4-FFF2-40B4-BE49-F238E27FC236}">
                <a16:creationId xmlns:a16="http://schemas.microsoft.com/office/drawing/2014/main" id="{B547A610-FF9B-40CE-AD7A-AEE15DF7E35F}"/>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75" b="1">
                <a:solidFill>
                  <a:srgbClr val="17241D"/>
                </a:solidFill>
                <a:latin typeface="Arial"/>
                <a:ea typeface="Arial"/>
                <a:cs typeface="Arial"/>
              </a:defRPr>
            </a:pPr>
            <a:r>
              <a:rPr sz="3375" b="1">
                <a:solidFill>
                  <a:srgbClr val="17241D"/>
                </a:solidFill>
                <a:latin typeface="Arial"/>
                <a:ea typeface="Arial"/>
                <a:cs typeface="Arial"/>
              </a:rPr>
              <a:t>Each cost node is evaluated by one explicit rule.</a:t>
            </a:r>
          </a:p>
        </p:txBody>
      </p:sp>
      <p:sp>
        <p:nvSpPr>
          <p:cNvPr id="3" name="slide-6-subtitle">
            <a:extLst xmlns:a="http://schemas.openxmlformats.org/drawingml/2006/main">
              <a:ext uri="{FF2B5EF4-FFF2-40B4-BE49-F238E27FC236}">
                <a16:creationId xmlns:a16="http://schemas.microsoft.com/office/drawing/2014/main" id="{29492974-D281-483C-BE11-A03042BD3157}"/>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Rules determine whether current dollars are expanded, substituted, retained, excluded, or bounded.</a:t>
            </a:r>
          </a:p>
        </p:txBody>
      </p:sp>
      <p:sp>
        <p:nvSpPr>
          <p:cNvPr id="14" name="footer-6-left">
            <a:extLst xmlns:a="http://schemas.openxmlformats.org/drawingml/2006/main">
              <a:ext uri="{FF2B5EF4-FFF2-40B4-BE49-F238E27FC236}">
                <a16:creationId xmlns:a16="http://schemas.microsoft.com/office/drawing/2014/main" id="{9D95D711-4C26-45D6-B908-F10BBCCAAFDA}"/>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15" name="footer-6-number">
            <a:extLst xmlns:a="http://schemas.openxmlformats.org/drawingml/2006/main">
              <a:ext uri="{FF2B5EF4-FFF2-40B4-BE49-F238E27FC236}">
                <a16:creationId xmlns:a16="http://schemas.microsoft.com/office/drawing/2014/main" id="{139E9598-BB8E-4075-AABB-9E94F106751C}"/>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04</a:t>
            </a:r>
          </a:p>
        </p:txBody>
      </p:sp>
      <p:sp>
        <p:nvSpPr>
          <p:cNvPr id="17" name="rule-head-0">
            <a:extLst xmlns:a="http://schemas.openxmlformats.org/drawingml/2006/main">
              <a:ext uri="{FF2B5EF4-FFF2-40B4-BE49-F238E27FC236}">
                <a16:creationId xmlns:a16="http://schemas.microsoft.com/office/drawing/2014/main" id="{876CF232-0ED8-484F-BFDD-09BD45AF980B}"/>
              </a:ext>
            </a:extLst>
          </p:cNvPr>
          <p:cNvSpPr>
            <a:spLocks xmlns:a="http://schemas.openxmlformats.org/drawingml/2006/main" noGrp="1"/>
          </p:cNvSpPr>
          <p:nvPr/>
        </p:nvSpPr>
        <p:spPr>
          <a:xfrm xmlns:a="http://schemas.openxmlformats.org/drawingml/2006/main">
            <a:off x="514350" y="2457450"/>
            <a:ext cx="1676400" cy="40005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18" name="rule-head-text-0">
            <a:extLst xmlns:a="http://schemas.openxmlformats.org/drawingml/2006/main">
              <a:ext uri="{FF2B5EF4-FFF2-40B4-BE49-F238E27FC236}">
                <a16:creationId xmlns:a16="http://schemas.microsoft.com/office/drawing/2014/main" id="{A4DAE1FD-9F4D-4C29-B1CD-B2102CF4DED3}"/>
              </a:ext>
            </a:extLst>
          </p:cNvPr>
          <p:cNvSpPr>
            <a:spLocks xmlns:a="http://schemas.openxmlformats.org/drawingml/2006/main" noGrp="1"/>
          </p:cNvSpPr>
          <p:nvPr/>
        </p:nvSpPr>
        <p:spPr>
          <a:xfrm xmlns:a="http://schemas.openxmlformats.org/drawingml/2006/main">
            <a:off x="628650" y="2562225"/>
            <a:ext cx="1447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D8FF57"/>
                </a:solidFill>
                <a:latin typeface="Arial"/>
                <a:ea typeface="Arial"/>
                <a:cs typeface="Arial"/>
              </a:defRPr>
            </a:pPr>
            <a:r>
              <a:rPr sz="1050" b="1">
                <a:solidFill>
                  <a:srgbClr val="D8FF57"/>
                </a:solidFill>
                <a:latin typeface="Arial"/>
                <a:ea typeface="Arial"/>
                <a:cs typeface="Arial"/>
              </a:rPr>
              <a:t>NODE RULE</a:t>
            </a:r>
          </a:p>
        </p:txBody>
      </p:sp>
      <p:sp>
        <p:nvSpPr>
          <p:cNvPr id="19" name="rule-head-1">
            <a:extLst xmlns:a="http://schemas.openxmlformats.org/drawingml/2006/main">
              <a:ext uri="{FF2B5EF4-FFF2-40B4-BE49-F238E27FC236}">
                <a16:creationId xmlns:a16="http://schemas.microsoft.com/office/drawing/2014/main" id="{AE84E8B7-E9CB-4F0E-A128-43D0058D3E97}"/>
              </a:ext>
            </a:extLst>
          </p:cNvPr>
          <p:cNvSpPr>
            <a:spLocks xmlns:a="http://schemas.openxmlformats.org/drawingml/2006/main" noGrp="1"/>
          </p:cNvSpPr>
          <p:nvPr/>
        </p:nvSpPr>
        <p:spPr>
          <a:xfrm xmlns:a="http://schemas.openxmlformats.org/drawingml/2006/main">
            <a:off x="2190750" y="2457450"/>
            <a:ext cx="3714750" cy="40005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20" name="rule-head-text-1">
            <a:extLst xmlns:a="http://schemas.openxmlformats.org/drawingml/2006/main">
              <a:ext uri="{FF2B5EF4-FFF2-40B4-BE49-F238E27FC236}">
                <a16:creationId xmlns:a16="http://schemas.microsoft.com/office/drawing/2014/main" id="{95375CF4-2DB1-4F82-B4E7-73FEC597687D}"/>
              </a:ext>
            </a:extLst>
          </p:cNvPr>
          <p:cNvSpPr>
            <a:spLocks xmlns:a="http://schemas.openxmlformats.org/drawingml/2006/main" noGrp="1"/>
          </p:cNvSpPr>
          <p:nvPr/>
        </p:nvSpPr>
        <p:spPr>
          <a:xfrm xmlns:a="http://schemas.openxmlformats.org/drawingml/2006/main">
            <a:off x="2305050" y="2562225"/>
            <a:ext cx="3486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7F5ED"/>
                </a:solidFill>
                <a:latin typeface="Arial"/>
                <a:ea typeface="Arial"/>
                <a:cs typeface="Arial"/>
              </a:defRPr>
            </a:pPr>
            <a:r>
              <a:rPr sz="1050" b="1">
                <a:solidFill>
                  <a:srgbClr val="F7F5ED"/>
                </a:solidFill>
                <a:latin typeface="Arial"/>
                <a:ea typeface="Arial"/>
                <a:cs typeface="Arial"/>
              </a:rPr>
              <a:t>OPERATION</a:t>
            </a:r>
          </a:p>
        </p:txBody>
      </p:sp>
      <p:sp>
        <p:nvSpPr>
          <p:cNvPr id="21" name="rule-head-2">
            <a:extLst xmlns:a="http://schemas.openxmlformats.org/drawingml/2006/main">
              <a:ext uri="{FF2B5EF4-FFF2-40B4-BE49-F238E27FC236}">
                <a16:creationId xmlns:a16="http://schemas.microsoft.com/office/drawing/2014/main" id="{7B49D169-9B9B-4B64-A73E-03D09CF8D113}"/>
              </a:ext>
            </a:extLst>
          </p:cNvPr>
          <p:cNvSpPr>
            <a:spLocks xmlns:a="http://schemas.openxmlformats.org/drawingml/2006/main" noGrp="1"/>
          </p:cNvSpPr>
          <p:nvPr/>
        </p:nvSpPr>
        <p:spPr>
          <a:xfrm xmlns:a="http://schemas.openxmlformats.org/drawingml/2006/main">
            <a:off x="5905500" y="2457450"/>
            <a:ext cx="5257800" cy="40005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22" name="rule-head-text-2">
            <a:extLst xmlns:a="http://schemas.openxmlformats.org/drawingml/2006/main">
              <a:ext uri="{FF2B5EF4-FFF2-40B4-BE49-F238E27FC236}">
                <a16:creationId xmlns:a16="http://schemas.microsoft.com/office/drawing/2014/main" id="{CAE4B4FF-E5A9-482C-AD91-B727F63793E0}"/>
              </a:ext>
            </a:extLst>
          </p:cNvPr>
          <p:cNvSpPr>
            <a:spLocks xmlns:a="http://schemas.openxmlformats.org/drawingml/2006/main" noGrp="1"/>
          </p:cNvSpPr>
          <p:nvPr/>
        </p:nvSpPr>
        <p:spPr>
          <a:xfrm xmlns:a="http://schemas.openxmlformats.org/drawingml/2006/main">
            <a:off x="6019800" y="2562225"/>
            <a:ext cx="5029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7F5ED"/>
                </a:solidFill>
                <a:latin typeface="Arial"/>
                <a:ea typeface="Arial"/>
                <a:cs typeface="Arial"/>
              </a:defRPr>
            </a:pPr>
            <a:r>
              <a:rPr sz="1050" b="1">
                <a:solidFill>
                  <a:srgbClr val="F7F5ED"/>
                </a:solidFill>
                <a:latin typeface="Arial"/>
                <a:ea typeface="Arial"/>
                <a:cs typeface="Arial"/>
              </a:rPr>
              <a:t>ACCOUNTING RESULT</a:t>
            </a:r>
          </a:p>
        </p:txBody>
      </p:sp>
      <p:sp>
        <p:nvSpPr>
          <p:cNvPr id="23" name="rule-0-0">
            <a:extLst xmlns:a="http://schemas.openxmlformats.org/drawingml/2006/main">
              <a:ext uri="{FF2B5EF4-FFF2-40B4-BE49-F238E27FC236}">
                <a16:creationId xmlns:a16="http://schemas.microsoft.com/office/drawing/2014/main" id="{C700F18B-DD44-4B47-81F1-8DE11196914A}"/>
              </a:ext>
            </a:extLst>
          </p:cNvPr>
          <p:cNvSpPr>
            <a:spLocks xmlns:a="http://schemas.openxmlformats.org/drawingml/2006/main" noGrp="1"/>
          </p:cNvSpPr>
          <p:nvPr/>
        </p:nvSpPr>
        <p:spPr>
          <a:xfrm xmlns:a="http://schemas.openxmlformats.org/drawingml/2006/main">
            <a:off x="514350" y="2857500"/>
            <a:ext cx="167640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4" name="rule-text-0-0">
            <a:extLst xmlns:a="http://schemas.openxmlformats.org/drawingml/2006/main">
              <a:ext uri="{FF2B5EF4-FFF2-40B4-BE49-F238E27FC236}">
                <a16:creationId xmlns:a16="http://schemas.microsoft.com/office/drawing/2014/main" id="{F63A1424-C9EC-4C1A-8899-6B2711C01D51}"/>
              </a:ext>
            </a:extLst>
          </p:cNvPr>
          <p:cNvSpPr>
            <a:spLocks xmlns:a="http://schemas.openxmlformats.org/drawingml/2006/main" noGrp="1"/>
          </p:cNvSpPr>
          <p:nvPr/>
        </p:nvSpPr>
        <p:spPr>
          <a:xfrm xmlns:a="http://schemas.openxmlformats.org/drawingml/2006/main">
            <a:off x="628650" y="29337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RECURSE</a:t>
            </a:r>
          </a:p>
        </p:txBody>
      </p:sp>
      <p:sp>
        <p:nvSpPr>
          <p:cNvPr id="25" name="rule-0-1">
            <a:extLst xmlns:a="http://schemas.openxmlformats.org/drawingml/2006/main">
              <a:ext uri="{FF2B5EF4-FFF2-40B4-BE49-F238E27FC236}">
                <a16:creationId xmlns:a16="http://schemas.microsoft.com/office/drawing/2014/main" id="{8EB104DC-CD21-40D6-8811-6E0A59E03852}"/>
              </a:ext>
            </a:extLst>
          </p:cNvPr>
          <p:cNvSpPr>
            <a:spLocks xmlns:a="http://schemas.openxmlformats.org/drawingml/2006/main" noGrp="1"/>
          </p:cNvSpPr>
          <p:nvPr/>
        </p:nvSpPr>
        <p:spPr>
          <a:xfrm xmlns:a="http://schemas.openxmlformats.org/drawingml/2006/main">
            <a:off x="2190750" y="2857500"/>
            <a:ext cx="371475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6" name="rule-text-0-1">
            <a:extLst xmlns:a="http://schemas.openxmlformats.org/drawingml/2006/main">
              <a:ext uri="{FF2B5EF4-FFF2-40B4-BE49-F238E27FC236}">
                <a16:creationId xmlns:a16="http://schemas.microsoft.com/office/drawing/2014/main" id="{BE6D93E8-8B4C-4FAD-9A13-E0B17B9B6BA7}"/>
              </a:ext>
            </a:extLst>
          </p:cNvPr>
          <p:cNvSpPr>
            <a:spLocks xmlns:a="http://schemas.openxmlformats.org/drawingml/2006/main" noGrp="1"/>
          </p:cNvSpPr>
          <p:nvPr/>
        </p:nvSpPr>
        <p:spPr>
          <a:xfrm xmlns:a="http://schemas.openxmlformats.org/drawingml/2006/main">
            <a:off x="2305050" y="293370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Σ Eval(child)</a:t>
            </a:r>
          </a:p>
        </p:txBody>
      </p:sp>
      <p:sp>
        <p:nvSpPr>
          <p:cNvPr id="27" name="rule-0-2">
            <a:extLst xmlns:a="http://schemas.openxmlformats.org/drawingml/2006/main">
              <a:ext uri="{FF2B5EF4-FFF2-40B4-BE49-F238E27FC236}">
                <a16:creationId xmlns:a16="http://schemas.microsoft.com/office/drawing/2014/main" id="{0121889F-02E4-4DAA-811E-C7CE28E6FC2C}"/>
              </a:ext>
            </a:extLst>
          </p:cNvPr>
          <p:cNvSpPr>
            <a:spLocks xmlns:a="http://schemas.openxmlformats.org/drawingml/2006/main" noGrp="1"/>
          </p:cNvSpPr>
          <p:nvPr/>
        </p:nvSpPr>
        <p:spPr>
          <a:xfrm xmlns:a="http://schemas.openxmlformats.org/drawingml/2006/main">
            <a:off x="5905500" y="2857500"/>
            <a:ext cx="525780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8" name="rule-text-0-2">
            <a:extLst xmlns:a="http://schemas.openxmlformats.org/drawingml/2006/main">
              <a:ext uri="{FF2B5EF4-FFF2-40B4-BE49-F238E27FC236}">
                <a16:creationId xmlns:a16="http://schemas.microsoft.com/office/drawing/2014/main" id="{00F43942-2998-45DE-BA83-F57EBC57EB5F}"/>
              </a:ext>
            </a:extLst>
          </p:cNvPr>
          <p:cNvSpPr>
            <a:spLocks xmlns:a="http://schemas.openxmlformats.org/drawingml/2006/main" noGrp="1"/>
          </p:cNvSpPr>
          <p:nvPr/>
        </p:nvSpPr>
        <p:spPr>
          <a:xfrm xmlns:a="http://schemas.openxmlformats.org/drawingml/2006/main">
            <a:off x="6019800" y="29337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Parent current cost is not added.</a:t>
            </a:r>
          </a:p>
        </p:txBody>
      </p:sp>
      <p:sp>
        <p:nvSpPr>
          <p:cNvPr id="29" name="rule-1-0">
            <a:extLst xmlns:a="http://schemas.openxmlformats.org/drawingml/2006/main">
              <a:ext uri="{FF2B5EF4-FFF2-40B4-BE49-F238E27FC236}">
                <a16:creationId xmlns:a16="http://schemas.microsoft.com/office/drawing/2014/main" id="{4930B92D-67A6-4C7F-BC05-DE657B21CF49}"/>
              </a:ext>
            </a:extLst>
          </p:cNvPr>
          <p:cNvSpPr>
            <a:spLocks xmlns:a="http://schemas.openxmlformats.org/drawingml/2006/main" noGrp="1"/>
          </p:cNvSpPr>
          <p:nvPr/>
        </p:nvSpPr>
        <p:spPr>
          <a:xfrm xmlns:a="http://schemas.openxmlformats.org/drawingml/2006/main">
            <a:off x="514350" y="3314700"/>
            <a:ext cx="167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0" name="rule-text-1-0">
            <a:extLst xmlns:a="http://schemas.openxmlformats.org/drawingml/2006/main">
              <a:ext uri="{FF2B5EF4-FFF2-40B4-BE49-F238E27FC236}">
                <a16:creationId xmlns:a16="http://schemas.microsoft.com/office/drawing/2014/main" id="{99E18F51-8949-4DE7-BDBE-CB826CD79605}"/>
              </a:ext>
            </a:extLst>
          </p:cNvPr>
          <p:cNvSpPr>
            <a:spLocks xmlns:a="http://schemas.openxmlformats.org/drawingml/2006/main" noGrp="1"/>
          </p:cNvSpPr>
          <p:nvPr/>
        </p:nvSpPr>
        <p:spPr>
          <a:xfrm xmlns:a="http://schemas.openxmlformats.org/drawingml/2006/main">
            <a:off x="62865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REPLACE</a:t>
            </a:r>
          </a:p>
        </p:txBody>
      </p:sp>
      <p:sp>
        <p:nvSpPr>
          <p:cNvPr id="31" name="rule-1-1">
            <a:extLst xmlns:a="http://schemas.openxmlformats.org/drawingml/2006/main">
              <a:ext uri="{FF2B5EF4-FFF2-40B4-BE49-F238E27FC236}">
                <a16:creationId xmlns:a16="http://schemas.microsoft.com/office/drawing/2014/main" id="{407DDE16-2BAC-4140-9343-08E6F09EA777}"/>
              </a:ext>
            </a:extLst>
          </p:cNvPr>
          <p:cNvSpPr>
            <a:spLocks xmlns:a="http://schemas.openxmlformats.org/drawingml/2006/main" noGrp="1"/>
          </p:cNvSpPr>
          <p:nvPr/>
        </p:nvSpPr>
        <p:spPr>
          <a:xfrm xmlns:a="http://schemas.openxmlformats.org/drawingml/2006/main">
            <a:off x="2190750" y="3314700"/>
            <a:ext cx="3714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2" name="rule-text-1-1">
            <a:extLst xmlns:a="http://schemas.openxmlformats.org/drawingml/2006/main">
              <a:ext uri="{FF2B5EF4-FFF2-40B4-BE49-F238E27FC236}">
                <a16:creationId xmlns:a16="http://schemas.microsoft.com/office/drawing/2014/main" id="{62199E76-C5D0-436B-AF87-D74DF1FEAC45}"/>
              </a:ext>
            </a:extLst>
          </p:cNvPr>
          <p:cNvSpPr>
            <a:spLocks xmlns:a="http://schemas.openxmlformats.org/drawingml/2006/main" noGrp="1"/>
          </p:cNvSpPr>
          <p:nvPr/>
        </p:nvSpPr>
        <p:spPr>
          <a:xfrm xmlns:a="http://schemas.openxmlformats.org/drawingml/2006/main">
            <a:off x="2305050" y="339090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Eval(replacement)</a:t>
            </a:r>
          </a:p>
        </p:txBody>
      </p:sp>
      <p:sp>
        <p:nvSpPr>
          <p:cNvPr id="33" name="rule-1-2">
            <a:extLst xmlns:a="http://schemas.openxmlformats.org/drawingml/2006/main">
              <a:ext uri="{FF2B5EF4-FFF2-40B4-BE49-F238E27FC236}">
                <a16:creationId xmlns:a16="http://schemas.microsoft.com/office/drawing/2014/main" id="{794DA007-2407-42AA-8256-277061237F0E}"/>
              </a:ext>
            </a:extLst>
          </p:cNvPr>
          <p:cNvSpPr>
            <a:spLocks xmlns:a="http://schemas.openxmlformats.org/drawingml/2006/main" noGrp="1"/>
          </p:cNvSpPr>
          <p:nvPr/>
        </p:nvSpPr>
        <p:spPr>
          <a:xfrm xmlns:a="http://schemas.openxmlformats.org/drawingml/2006/main">
            <a:off x="5905500" y="3314700"/>
            <a:ext cx="52578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4" name="rule-text-1-2">
            <a:extLst xmlns:a="http://schemas.openxmlformats.org/drawingml/2006/main">
              <a:ext uri="{FF2B5EF4-FFF2-40B4-BE49-F238E27FC236}">
                <a16:creationId xmlns:a16="http://schemas.microsoft.com/office/drawing/2014/main" id="{B62205ED-888D-45B3-B738-0B9AB2C0B0FE}"/>
              </a:ext>
            </a:extLst>
          </p:cNvPr>
          <p:cNvSpPr>
            <a:spLocks xmlns:a="http://schemas.openxmlformats.org/drawingml/2006/main" noGrp="1"/>
          </p:cNvSpPr>
          <p:nvPr/>
        </p:nvSpPr>
        <p:spPr>
          <a:xfrm xmlns:a="http://schemas.openxmlformats.org/drawingml/2006/main">
            <a:off x="6019800" y="33909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Labor or capital becomes a specified substitute.</a:t>
            </a:r>
          </a:p>
        </p:txBody>
      </p:sp>
      <p:sp>
        <p:nvSpPr>
          <p:cNvPr id="35" name="rule-2-0">
            <a:extLst xmlns:a="http://schemas.openxmlformats.org/drawingml/2006/main">
              <a:ext uri="{FF2B5EF4-FFF2-40B4-BE49-F238E27FC236}">
                <a16:creationId xmlns:a16="http://schemas.microsoft.com/office/drawing/2014/main" id="{627221EC-B65A-444C-A8D8-30A0F16173D9}"/>
              </a:ext>
            </a:extLst>
          </p:cNvPr>
          <p:cNvSpPr>
            <a:spLocks xmlns:a="http://schemas.openxmlformats.org/drawingml/2006/main" noGrp="1"/>
          </p:cNvSpPr>
          <p:nvPr/>
        </p:nvSpPr>
        <p:spPr>
          <a:xfrm xmlns:a="http://schemas.openxmlformats.org/drawingml/2006/main">
            <a:off x="514350" y="3771900"/>
            <a:ext cx="167640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36" name="rule-text-2-0">
            <a:extLst xmlns:a="http://schemas.openxmlformats.org/drawingml/2006/main">
              <a:ext uri="{FF2B5EF4-FFF2-40B4-BE49-F238E27FC236}">
                <a16:creationId xmlns:a16="http://schemas.microsoft.com/office/drawing/2014/main" id="{EA0DCA6A-1624-4852-9B68-30D3EBF93B5D}"/>
              </a:ext>
            </a:extLst>
          </p:cNvPr>
          <p:cNvSpPr>
            <a:spLocks xmlns:a="http://schemas.openxmlformats.org/drawingml/2006/main" noGrp="1"/>
          </p:cNvSpPr>
          <p:nvPr/>
        </p:nvSpPr>
        <p:spPr>
          <a:xfrm xmlns:a="http://schemas.openxmlformats.org/drawingml/2006/main">
            <a:off x="628650" y="38481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ENERGY</a:t>
            </a:r>
          </a:p>
        </p:txBody>
      </p:sp>
      <p:sp>
        <p:nvSpPr>
          <p:cNvPr id="37" name="rule-2-1">
            <a:extLst xmlns:a="http://schemas.openxmlformats.org/drawingml/2006/main">
              <a:ext uri="{FF2B5EF4-FFF2-40B4-BE49-F238E27FC236}">
                <a16:creationId xmlns:a16="http://schemas.microsoft.com/office/drawing/2014/main" id="{35716444-DD65-4313-8E99-DF31D696CC98}"/>
              </a:ext>
            </a:extLst>
          </p:cNvPr>
          <p:cNvSpPr>
            <a:spLocks xmlns:a="http://schemas.openxmlformats.org/drawingml/2006/main" noGrp="1"/>
          </p:cNvSpPr>
          <p:nvPr/>
        </p:nvSpPr>
        <p:spPr>
          <a:xfrm xmlns:a="http://schemas.openxmlformats.org/drawingml/2006/main">
            <a:off x="2190750" y="3771900"/>
            <a:ext cx="371475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38" name="rule-text-2-1">
            <a:extLst xmlns:a="http://schemas.openxmlformats.org/drawingml/2006/main">
              <a:ext uri="{FF2B5EF4-FFF2-40B4-BE49-F238E27FC236}">
                <a16:creationId xmlns:a16="http://schemas.microsoft.com/office/drawing/2014/main" id="{633DB2A1-1C93-48E1-9C5D-4699E7B9CFDA}"/>
              </a:ext>
            </a:extLst>
          </p:cNvPr>
          <p:cNvSpPr>
            <a:spLocks xmlns:a="http://schemas.openxmlformats.org/drawingml/2006/main" noGrp="1"/>
          </p:cNvSpPr>
          <p:nvPr/>
        </p:nvSpPr>
        <p:spPr>
          <a:xfrm xmlns:a="http://schemas.openxmlformats.org/drawingml/2006/main">
            <a:off x="2305050" y="384810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kWh × pₑ</a:t>
            </a:r>
          </a:p>
        </p:txBody>
      </p:sp>
      <p:sp>
        <p:nvSpPr>
          <p:cNvPr id="39" name="rule-2-2">
            <a:extLst xmlns:a="http://schemas.openxmlformats.org/drawingml/2006/main">
              <a:ext uri="{FF2B5EF4-FFF2-40B4-BE49-F238E27FC236}">
                <a16:creationId xmlns:a16="http://schemas.microsoft.com/office/drawing/2014/main" id="{95EEFCC5-005D-4912-84E2-364F94197B23}"/>
              </a:ext>
            </a:extLst>
          </p:cNvPr>
          <p:cNvSpPr>
            <a:spLocks xmlns:a="http://schemas.openxmlformats.org/drawingml/2006/main" noGrp="1"/>
          </p:cNvSpPr>
          <p:nvPr/>
        </p:nvSpPr>
        <p:spPr>
          <a:xfrm xmlns:a="http://schemas.openxmlformats.org/drawingml/2006/main">
            <a:off x="5905500" y="3771900"/>
            <a:ext cx="525780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40" name="rule-text-2-2">
            <a:extLst xmlns:a="http://schemas.openxmlformats.org/drawingml/2006/main">
              <a:ext uri="{FF2B5EF4-FFF2-40B4-BE49-F238E27FC236}">
                <a16:creationId xmlns:a16="http://schemas.microsoft.com/office/drawing/2014/main" id="{0C1FD78D-6594-48C0-91DE-AE36E9137BAA}"/>
              </a:ext>
            </a:extLst>
          </p:cNvPr>
          <p:cNvSpPr>
            <a:spLocks xmlns:a="http://schemas.openxmlformats.org/drawingml/2006/main" noGrp="1"/>
          </p:cNvSpPr>
          <p:nvPr/>
        </p:nvSpPr>
        <p:spPr>
          <a:xfrm xmlns:a="http://schemas.openxmlformats.org/drawingml/2006/main">
            <a:off x="6019800" y="38481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Direct physical energy is priced once.</a:t>
            </a:r>
          </a:p>
        </p:txBody>
      </p:sp>
      <p:sp>
        <p:nvSpPr>
          <p:cNvPr id="41" name="rule-3-0">
            <a:extLst xmlns:a="http://schemas.openxmlformats.org/drawingml/2006/main">
              <a:ext uri="{FF2B5EF4-FFF2-40B4-BE49-F238E27FC236}">
                <a16:creationId xmlns:a16="http://schemas.microsoft.com/office/drawing/2014/main" id="{0B3192EF-3565-46E2-AB56-ECC655A47BFE}"/>
              </a:ext>
            </a:extLst>
          </p:cNvPr>
          <p:cNvSpPr>
            <a:spLocks xmlns:a="http://schemas.openxmlformats.org/drawingml/2006/main" noGrp="1"/>
          </p:cNvSpPr>
          <p:nvPr/>
        </p:nvSpPr>
        <p:spPr>
          <a:xfrm xmlns:a="http://schemas.openxmlformats.org/drawingml/2006/main">
            <a:off x="514350" y="4229100"/>
            <a:ext cx="167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2" name="rule-text-3-0">
            <a:extLst xmlns:a="http://schemas.openxmlformats.org/drawingml/2006/main">
              <a:ext uri="{FF2B5EF4-FFF2-40B4-BE49-F238E27FC236}">
                <a16:creationId xmlns:a16="http://schemas.microsoft.com/office/drawing/2014/main" id="{9B7EA535-6CE6-4F2F-9C53-5CFF7D3F5FB2}"/>
              </a:ext>
            </a:extLst>
          </p:cNvPr>
          <p:cNvSpPr>
            <a:spLocks xmlns:a="http://schemas.openxmlformats.org/drawingml/2006/main" noGrp="1"/>
          </p:cNvSpPr>
          <p:nvPr/>
        </p:nvSpPr>
        <p:spPr>
          <a:xfrm xmlns:a="http://schemas.openxmlformats.org/drawingml/2006/main">
            <a:off x="628650" y="43053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RESOURCE</a:t>
            </a:r>
          </a:p>
        </p:txBody>
      </p:sp>
      <p:sp>
        <p:nvSpPr>
          <p:cNvPr id="43" name="rule-3-1">
            <a:extLst xmlns:a="http://schemas.openxmlformats.org/drawingml/2006/main">
              <a:ext uri="{FF2B5EF4-FFF2-40B4-BE49-F238E27FC236}">
                <a16:creationId xmlns:a16="http://schemas.microsoft.com/office/drawing/2014/main" id="{B1CE76E1-6AC2-407B-8134-4B8558D77DCF}"/>
              </a:ext>
            </a:extLst>
          </p:cNvPr>
          <p:cNvSpPr>
            <a:spLocks xmlns:a="http://schemas.openxmlformats.org/drawingml/2006/main" noGrp="1"/>
          </p:cNvSpPr>
          <p:nvPr/>
        </p:nvSpPr>
        <p:spPr>
          <a:xfrm xmlns:a="http://schemas.openxmlformats.org/drawingml/2006/main">
            <a:off x="2190750" y="4229100"/>
            <a:ext cx="3714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4" name="rule-text-3-1">
            <a:extLst xmlns:a="http://schemas.openxmlformats.org/drawingml/2006/main">
              <a:ext uri="{FF2B5EF4-FFF2-40B4-BE49-F238E27FC236}">
                <a16:creationId xmlns:a16="http://schemas.microsoft.com/office/drawing/2014/main" id="{4335A737-F89A-4272-947C-C0EFF84A4122}"/>
              </a:ext>
            </a:extLst>
          </p:cNvPr>
          <p:cNvSpPr>
            <a:spLocks xmlns:a="http://schemas.openxmlformats.org/drawingml/2006/main" noGrp="1"/>
          </p:cNvSpPr>
          <p:nvPr/>
        </p:nvSpPr>
        <p:spPr>
          <a:xfrm xmlns:a="http://schemas.openxmlformats.org/drawingml/2006/main">
            <a:off x="2305050" y="430530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process energy + scarcity</a:t>
            </a:r>
          </a:p>
        </p:txBody>
      </p:sp>
      <p:sp>
        <p:nvSpPr>
          <p:cNvPr id="45" name="rule-3-2">
            <a:extLst xmlns:a="http://schemas.openxmlformats.org/drawingml/2006/main">
              <a:ext uri="{FF2B5EF4-FFF2-40B4-BE49-F238E27FC236}">
                <a16:creationId xmlns:a16="http://schemas.microsoft.com/office/drawing/2014/main" id="{87C36460-617B-4C74-B26B-3CFC7D01FF04}"/>
              </a:ext>
            </a:extLst>
          </p:cNvPr>
          <p:cNvSpPr>
            <a:spLocks xmlns:a="http://schemas.openxmlformats.org/drawingml/2006/main" noGrp="1"/>
          </p:cNvSpPr>
          <p:nvPr/>
        </p:nvSpPr>
        <p:spPr>
          <a:xfrm xmlns:a="http://schemas.openxmlformats.org/drawingml/2006/main">
            <a:off x="5905500" y="4229100"/>
            <a:ext cx="52578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6" name="rule-text-3-2">
            <a:extLst xmlns:a="http://schemas.openxmlformats.org/drawingml/2006/main">
              <a:ext uri="{FF2B5EF4-FFF2-40B4-BE49-F238E27FC236}">
                <a16:creationId xmlns:a16="http://schemas.microsoft.com/office/drawing/2014/main" id="{1C6E0AE4-730D-4ACF-A4D7-27325434ECF2}"/>
              </a:ext>
            </a:extLst>
          </p:cNvPr>
          <p:cNvSpPr>
            <a:spLocks xmlns:a="http://schemas.openxmlformats.org/drawingml/2006/main" noGrp="1"/>
          </p:cNvSpPr>
          <p:nvPr/>
        </p:nvSpPr>
        <p:spPr>
          <a:xfrm xmlns:a="http://schemas.openxmlformats.org/drawingml/2006/main">
            <a:off x="6019800" y="43053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Physical input and scarcity rent remain separate.</a:t>
            </a:r>
          </a:p>
        </p:txBody>
      </p:sp>
      <p:sp>
        <p:nvSpPr>
          <p:cNvPr id="47" name="rule-4-0">
            <a:extLst xmlns:a="http://schemas.openxmlformats.org/drawingml/2006/main">
              <a:ext uri="{FF2B5EF4-FFF2-40B4-BE49-F238E27FC236}">
                <a16:creationId xmlns:a16="http://schemas.microsoft.com/office/drawing/2014/main" id="{DCC2737D-F891-47C8-B6BE-14828986931A}"/>
              </a:ext>
            </a:extLst>
          </p:cNvPr>
          <p:cNvSpPr>
            <a:spLocks xmlns:a="http://schemas.openxmlformats.org/drawingml/2006/main" noGrp="1"/>
          </p:cNvSpPr>
          <p:nvPr/>
        </p:nvSpPr>
        <p:spPr>
          <a:xfrm xmlns:a="http://schemas.openxmlformats.org/drawingml/2006/main">
            <a:off x="514350" y="4686300"/>
            <a:ext cx="167640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48" name="rule-text-4-0">
            <a:extLst xmlns:a="http://schemas.openxmlformats.org/drawingml/2006/main">
              <a:ext uri="{FF2B5EF4-FFF2-40B4-BE49-F238E27FC236}">
                <a16:creationId xmlns:a16="http://schemas.microsoft.com/office/drawing/2014/main" id="{66DFE37C-2ABC-4F6A-93DE-080015FBD236}"/>
              </a:ext>
            </a:extLst>
          </p:cNvPr>
          <p:cNvSpPr>
            <a:spLocks xmlns:a="http://schemas.openxmlformats.org/drawingml/2006/main" noGrp="1"/>
          </p:cNvSpPr>
          <p:nvPr/>
        </p:nvSpPr>
        <p:spPr>
          <a:xfrm xmlns:a="http://schemas.openxmlformats.org/drawingml/2006/main">
            <a:off x="628650" y="47625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RETAIN</a:t>
            </a:r>
          </a:p>
        </p:txBody>
      </p:sp>
      <p:sp>
        <p:nvSpPr>
          <p:cNvPr id="49" name="rule-4-1">
            <a:extLst xmlns:a="http://schemas.openxmlformats.org/drawingml/2006/main">
              <a:ext uri="{FF2B5EF4-FFF2-40B4-BE49-F238E27FC236}">
                <a16:creationId xmlns:a16="http://schemas.microsoft.com/office/drawing/2014/main" id="{C7E9BFCA-1444-4BD0-A3FB-6EA871F516BB}"/>
              </a:ext>
            </a:extLst>
          </p:cNvPr>
          <p:cNvSpPr>
            <a:spLocks xmlns:a="http://schemas.openxmlformats.org/drawingml/2006/main" noGrp="1"/>
          </p:cNvSpPr>
          <p:nvPr/>
        </p:nvSpPr>
        <p:spPr>
          <a:xfrm xmlns:a="http://schemas.openxmlformats.org/drawingml/2006/main">
            <a:off x="2190750" y="4686300"/>
            <a:ext cx="371475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0" name="rule-text-4-1">
            <a:extLst xmlns:a="http://schemas.openxmlformats.org/drawingml/2006/main">
              <a:ext uri="{FF2B5EF4-FFF2-40B4-BE49-F238E27FC236}">
                <a16:creationId xmlns:a16="http://schemas.microsoft.com/office/drawing/2014/main" id="{A8CD727B-FBC4-46CE-8EA8-C5C4F42B9AEE}"/>
              </a:ext>
            </a:extLst>
          </p:cNvPr>
          <p:cNvSpPr>
            <a:spLocks xmlns:a="http://schemas.openxmlformats.org/drawingml/2006/main" noGrp="1"/>
          </p:cNvSpPr>
          <p:nvPr/>
        </p:nvSpPr>
        <p:spPr>
          <a:xfrm xmlns:a="http://schemas.openxmlformats.org/drawingml/2006/main">
            <a:off x="2305050" y="476250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fraction × current</a:t>
            </a:r>
          </a:p>
        </p:txBody>
      </p:sp>
      <p:sp>
        <p:nvSpPr>
          <p:cNvPr id="51" name="rule-4-2">
            <a:extLst xmlns:a="http://schemas.openxmlformats.org/drawingml/2006/main">
              <a:ext uri="{FF2B5EF4-FFF2-40B4-BE49-F238E27FC236}">
                <a16:creationId xmlns:a16="http://schemas.microsoft.com/office/drawing/2014/main" id="{754848B6-2532-4080-9B63-9647AF0003FD}"/>
              </a:ext>
            </a:extLst>
          </p:cNvPr>
          <p:cNvSpPr>
            <a:spLocks xmlns:a="http://schemas.openxmlformats.org/drawingml/2006/main" noGrp="1"/>
          </p:cNvSpPr>
          <p:nvPr/>
        </p:nvSpPr>
        <p:spPr>
          <a:xfrm xmlns:a="http://schemas.openxmlformats.org/drawingml/2006/main">
            <a:off x="5905500" y="4686300"/>
            <a:ext cx="525780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2" name="rule-text-4-2">
            <a:extLst xmlns:a="http://schemas.openxmlformats.org/drawingml/2006/main">
              <a:ext uri="{FF2B5EF4-FFF2-40B4-BE49-F238E27FC236}">
                <a16:creationId xmlns:a16="http://schemas.microsoft.com/office/drawing/2014/main" id="{6EF70986-D90E-419E-87BB-132272E2B2E4}"/>
              </a:ext>
            </a:extLst>
          </p:cNvPr>
          <p:cNvSpPr>
            <a:spLocks xmlns:a="http://schemas.openxmlformats.org/drawingml/2006/main" noGrp="1"/>
          </p:cNvSpPr>
          <p:nvPr/>
        </p:nvSpPr>
        <p:spPr>
          <a:xfrm xmlns:a="http://schemas.openxmlformats.org/drawingml/2006/main">
            <a:off x="6019800" y="47625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A bounded residual remains in the floor.</a:t>
            </a:r>
          </a:p>
        </p:txBody>
      </p:sp>
      <p:sp>
        <p:nvSpPr>
          <p:cNvPr id="53" name="rule-5-0">
            <a:extLst xmlns:a="http://schemas.openxmlformats.org/drawingml/2006/main">
              <a:ext uri="{FF2B5EF4-FFF2-40B4-BE49-F238E27FC236}">
                <a16:creationId xmlns:a16="http://schemas.microsoft.com/office/drawing/2014/main" id="{AEFA8A11-5475-4D16-B53A-1A2B7E6DF307}"/>
              </a:ext>
            </a:extLst>
          </p:cNvPr>
          <p:cNvSpPr>
            <a:spLocks xmlns:a="http://schemas.openxmlformats.org/drawingml/2006/main" noGrp="1"/>
          </p:cNvSpPr>
          <p:nvPr/>
        </p:nvSpPr>
        <p:spPr>
          <a:xfrm xmlns:a="http://schemas.openxmlformats.org/drawingml/2006/main">
            <a:off x="514350" y="5143500"/>
            <a:ext cx="167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4" name="rule-text-5-0">
            <a:extLst xmlns:a="http://schemas.openxmlformats.org/drawingml/2006/main">
              <a:ext uri="{FF2B5EF4-FFF2-40B4-BE49-F238E27FC236}">
                <a16:creationId xmlns:a16="http://schemas.microsoft.com/office/drawing/2014/main" id="{CEE0F7F4-091B-484B-BBAC-F5FC89DF9D72}"/>
              </a:ext>
            </a:extLst>
          </p:cNvPr>
          <p:cNvSpPr>
            <a:spLocks xmlns:a="http://schemas.openxmlformats.org/drawingml/2006/main" noGrp="1"/>
          </p:cNvSpPr>
          <p:nvPr/>
        </p:nvSpPr>
        <p:spPr>
          <a:xfrm xmlns:a="http://schemas.openxmlformats.org/drawingml/2006/main">
            <a:off x="628650" y="52197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EXCLUDE</a:t>
            </a:r>
          </a:p>
        </p:txBody>
      </p:sp>
      <p:sp>
        <p:nvSpPr>
          <p:cNvPr id="55" name="rule-5-1">
            <a:extLst xmlns:a="http://schemas.openxmlformats.org/drawingml/2006/main">
              <a:ext uri="{FF2B5EF4-FFF2-40B4-BE49-F238E27FC236}">
                <a16:creationId xmlns:a16="http://schemas.microsoft.com/office/drawing/2014/main" id="{3C75B485-5361-43C8-9917-79A08983BECA}"/>
              </a:ext>
            </a:extLst>
          </p:cNvPr>
          <p:cNvSpPr>
            <a:spLocks xmlns:a="http://schemas.openxmlformats.org/drawingml/2006/main" noGrp="1"/>
          </p:cNvSpPr>
          <p:nvPr/>
        </p:nvSpPr>
        <p:spPr>
          <a:xfrm xmlns:a="http://schemas.openxmlformats.org/drawingml/2006/main">
            <a:off x="2190750" y="5143500"/>
            <a:ext cx="3714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6" name="rule-text-5-1">
            <a:extLst xmlns:a="http://schemas.openxmlformats.org/drawingml/2006/main">
              <a:ext uri="{FF2B5EF4-FFF2-40B4-BE49-F238E27FC236}">
                <a16:creationId xmlns:a16="http://schemas.microsoft.com/office/drawing/2014/main" id="{BDFFB5BD-A66C-4951-98E4-E6A39DEC0382}"/>
              </a:ext>
            </a:extLst>
          </p:cNvPr>
          <p:cNvSpPr>
            <a:spLocks xmlns:a="http://schemas.openxmlformats.org/drawingml/2006/main" noGrp="1"/>
          </p:cNvSpPr>
          <p:nvPr/>
        </p:nvSpPr>
        <p:spPr>
          <a:xfrm xmlns:a="http://schemas.openxmlformats.org/drawingml/2006/main">
            <a:off x="2305050" y="521970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0 or current via toggle</a:t>
            </a:r>
          </a:p>
        </p:txBody>
      </p:sp>
      <p:sp>
        <p:nvSpPr>
          <p:cNvPr id="57" name="rule-5-2">
            <a:extLst xmlns:a="http://schemas.openxmlformats.org/drawingml/2006/main">
              <a:ext uri="{FF2B5EF4-FFF2-40B4-BE49-F238E27FC236}">
                <a16:creationId xmlns:a16="http://schemas.microsoft.com/office/drawing/2014/main" id="{318FB800-2699-4E07-8FB0-D8AEEB4CF0E3}"/>
              </a:ext>
            </a:extLst>
          </p:cNvPr>
          <p:cNvSpPr>
            <a:spLocks xmlns:a="http://schemas.openxmlformats.org/drawingml/2006/main" noGrp="1"/>
          </p:cNvSpPr>
          <p:nvPr/>
        </p:nvSpPr>
        <p:spPr>
          <a:xfrm xmlns:a="http://schemas.openxmlformats.org/drawingml/2006/main">
            <a:off x="5905500" y="5143500"/>
            <a:ext cx="52578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8" name="rule-text-5-2">
            <a:extLst xmlns:a="http://schemas.openxmlformats.org/drawingml/2006/main">
              <a:ext uri="{FF2B5EF4-FFF2-40B4-BE49-F238E27FC236}">
                <a16:creationId xmlns:a16="http://schemas.microsoft.com/office/drawing/2014/main" id="{A9D753BE-3021-4157-9333-62BC91415265}"/>
              </a:ext>
            </a:extLst>
          </p:cNvPr>
          <p:cNvSpPr>
            <a:spLocks xmlns:a="http://schemas.openxmlformats.org/drawingml/2006/main" noGrp="1"/>
          </p:cNvSpPr>
          <p:nvPr/>
        </p:nvSpPr>
        <p:spPr>
          <a:xfrm xmlns:a="http://schemas.openxmlformats.org/drawingml/2006/main">
            <a:off x="6019800" y="52197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Margin and tax are boundary choices.</a:t>
            </a:r>
          </a:p>
        </p:txBody>
      </p:sp>
      <p:sp>
        <p:nvSpPr>
          <p:cNvPr id="59" name="rule-6-0">
            <a:extLst xmlns:a="http://schemas.openxmlformats.org/drawingml/2006/main">
              <a:ext uri="{FF2B5EF4-FFF2-40B4-BE49-F238E27FC236}">
                <a16:creationId xmlns:a16="http://schemas.microsoft.com/office/drawing/2014/main" id="{83325B80-8A2F-47FE-A0AF-E474E36158EF}"/>
              </a:ext>
            </a:extLst>
          </p:cNvPr>
          <p:cNvSpPr>
            <a:spLocks xmlns:a="http://schemas.openxmlformats.org/drawingml/2006/main" noGrp="1"/>
          </p:cNvSpPr>
          <p:nvPr/>
        </p:nvSpPr>
        <p:spPr>
          <a:xfrm xmlns:a="http://schemas.openxmlformats.org/drawingml/2006/main">
            <a:off x="514350" y="5600700"/>
            <a:ext cx="167640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60" name="rule-text-6-0">
            <a:extLst xmlns:a="http://schemas.openxmlformats.org/drawingml/2006/main">
              <a:ext uri="{FF2B5EF4-FFF2-40B4-BE49-F238E27FC236}">
                <a16:creationId xmlns:a16="http://schemas.microsoft.com/office/drawing/2014/main" id="{4BAEBA8D-2C4C-4834-AAC2-5DE452D96D30}"/>
              </a:ext>
            </a:extLst>
          </p:cNvPr>
          <p:cNvSpPr>
            <a:spLocks xmlns:a="http://schemas.openxmlformats.org/drawingml/2006/main" noGrp="1"/>
          </p:cNvSpPr>
          <p:nvPr/>
        </p:nvSpPr>
        <p:spPr>
          <a:xfrm xmlns:a="http://schemas.openxmlformats.org/drawingml/2006/main">
            <a:off x="628650" y="5676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UNMODELED</a:t>
            </a:r>
          </a:p>
        </p:txBody>
      </p:sp>
      <p:sp>
        <p:nvSpPr>
          <p:cNvPr id="61" name="rule-6-1">
            <a:extLst xmlns:a="http://schemas.openxmlformats.org/drawingml/2006/main">
              <a:ext uri="{FF2B5EF4-FFF2-40B4-BE49-F238E27FC236}">
                <a16:creationId xmlns:a16="http://schemas.microsoft.com/office/drawing/2014/main" id="{630437AB-9212-494D-8938-A8353161F442}"/>
              </a:ext>
            </a:extLst>
          </p:cNvPr>
          <p:cNvSpPr>
            <a:spLocks xmlns:a="http://schemas.openxmlformats.org/drawingml/2006/main" noGrp="1"/>
          </p:cNvSpPr>
          <p:nvPr/>
        </p:nvSpPr>
        <p:spPr>
          <a:xfrm xmlns:a="http://schemas.openxmlformats.org/drawingml/2006/main">
            <a:off x="2190750" y="5600700"/>
            <a:ext cx="371475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62" name="rule-text-6-1">
            <a:extLst xmlns:a="http://schemas.openxmlformats.org/drawingml/2006/main">
              <a:ext uri="{FF2B5EF4-FFF2-40B4-BE49-F238E27FC236}">
                <a16:creationId xmlns:a16="http://schemas.microsoft.com/office/drawing/2014/main" id="{93859BBC-9ABC-408C-9049-3344C5F69CF9}"/>
              </a:ext>
            </a:extLst>
          </p:cNvPr>
          <p:cNvSpPr>
            <a:spLocks xmlns:a="http://schemas.openxmlformats.org/drawingml/2006/main" noGrp="1"/>
          </p:cNvSpPr>
          <p:nvPr/>
        </p:nvSpPr>
        <p:spPr>
          <a:xfrm xmlns:a="http://schemas.openxmlformats.org/drawingml/2006/main">
            <a:off x="2305050" y="567690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0.2–1.0 × current</a:t>
            </a:r>
          </a:p>
        </p:txBody>
      </p:sp>
      <p:sp>
        <p:nvSpPr>
          <p:cNvPr id="63" name="rule-6-2">
            <a:extLst xmlns:a="http://schemas.openxmlformats.org/drawingml/2006/main">
              <a:ext uri="{FF2B5EF4-FFF2-40B4-BE49-F238E27FC236}">
                <a16:creationId xmlns:a16="http://schemas.microsoft.com/office/drawing/2014/main" id="{63642AC5-8EC0-4351-AAE9-85D90DB84A31}"/>
              </a:ext>
            </a:extLst>
          </p:cNvPr>
          <p:cNvSpPr>
            <a:spLocks xmlns:a="http://schemas.openxmlformats.org/drawingml/2006/main" noGrp="1"/>
          </p:cNvSpPr>
          <p:nvPr/>
        </p:nvSpPr>
        <p:spPr>
          <a:xfrm xmlns:a="http://schemas.openxmlformats.org/drawingml/2006/main">
            <a:off x="5905500" y="5600700"/>
            <a:ext cx="5257800" cy="4572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64" name="rule-text-6-2">
            <a:extLst xmlns:a="http://schemas.openxmlformats.org/drawingml/2006/main">
              <a:ext uri="{FF2B5EF4-FFF2-40B4-BE49-F238E27FC236}">
                <a16:creationId xmlns:a16="http://schemas.microsoft.com/office/drawing/2014/main" id="{9E9AA0EC-6A74-441D-80E5-48B07CAA0920}"/>
              </a:ext>
            </a:extLst>
          </p:cNvPr>
          <p:cNvSpPr>
            <a:spLocks xmlns:a="http://schemas.openxmlformats.org/drawingml/2006/main" noGrp="1"/>
          </p:cNvSpPr>
          <p:nvPr/>
        </p:nvSpPr>
        <p:spPr>
          <a:xfrm xmlns:a="http://schemas.openxmlformats.org/drawingml/2006/main">
            <a:off x="6019800" y="56769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7241D"/>
                </a:solidFill>
                <a:latin typeface="Arial"/>
                <a:ea typeface="Arial"/>
                <a:cs typeface="Arial"/>
              </a:defRPr>
            </a:pPr>
            <a:r>
              <a:rPr sz="1200" b="0">
                <a:solidFill>
                  <a:srgbClr val="17241D"/>
                </a:solidFill>
                <a:latin typeface="Arial"/>
                <a:ea typeface="Arial"/>
                <a:cs typeface="Arial"/>
              </a:rPr>
              <a:t>Bounded unresolved input remains visible.</a:t>
            </a:r>
          </a:p>
        </p:txBody>
      </p:sp>
    </p:spTree>
    <p:extLst>
      <p:ext uri="{BB962C8B-B14F-4D97-AF65-F5344CB8AC3E}">
        <p14:creationId xmlns:p14="http://schemas.microsoft.com/office/powerpoint/2010/main" val="13136719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lide-4-kicker">
            <a:extLst xmlns:a="http://schemas.openxmlformats.org/drawingml/2006/main">
              <a:ext uri="{FF2B5EF4-FFF2-40B4-BE49-F238E27FC236}">
                <a16:creationId xmlns:a16="http://schemas.microsoft.com/office/drawing/2014/main" id="{4BC77F1B-8748-4A53-9DD5-FC924BD0EE55}"/>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05</a:t>
            </a:r>
          </a:p>
        </p:txBody>
      </p:sp>
      <p:sp>
        <p:nvSpPr>
          <p:cNvPr id="2" name="slide-4-title">
            <a:extLst xmlns:a="http://schemas.openxmlformats.org/drawingml/2006/main">
              <a:ext uri="{FF2B5EF4-FFF2-40B4-BE49-F238E27FC236}">
                <a16:creationId xmlns:a16="http://schemas.microsoft.com/office/drawing/2014/main" id="{BAA3DE1E-2E0F-419A-8ED5-C84DECFD250D}"/>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225" b="1">
                <a:solidFill>
                  <a:srgbClr val="17241D"/>
                </a:solidFill>
                <a:latin typeface="Arial"/>
                <a:ea typeface="Arial"/>
                <a:cs typeface="Arial"/>
              </a:defRPr>
            </a:pPr>
            <a:r>
              <a:rPr sz="3225" b="1">
                <a:solidFill>
                  <a:srgbClr val="17241D"/>
                </a:solidFill>
                <a:latin typeface="Arial"/>
                <a:ea typeface="Arial"/>
                <a:cs typeface="Arial"/>
              </a:rPr>
              <a:t>Labor and capital expand into operating and embodied inputs.</a:t>
            </a:r>
          </a:p>
        </p:txBody>
      </p:sp>
      <p:sp>
        <p:nvSpPr>
          <p:cNvPr id="3" name="slide-4-subtitle">
            <a:extLst xmlns:a="http://schemas.openxmlformats.org/drawingml/2006/main">
              <a:ext uri="{FF2B5EF4-FFF2-40B4-BE49-F238E27FC236}">
                <a16:creationId xmlns:a16="http://schemas.microsoft.com/office/drawing/2014/main" id="{53F91C84-DA65-4814-BF0F-E5ED237A2F38}"/>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9736C"/>
                </a:solidFill>
                <a:latin typeface="Arial"/>
                <a:ea typeface="Arial"/>
                <a:cs typeface="Arial"/>
              </a:defRPr>
            </a:pPr>
            <a:r>
              <a:rPr sz="1350" b="0">
                <a:solidFill>
                  <a:srgbClr val="69736C"/>
                </a:solidFill>
                <a:latin typeface="Arial"/>
                <a:ea typeface="Arial"/>
                <a:cs typeface="Arial"/>
              </a:rPr>
              <a:t>Recursion is an accounting transform: expand a node, evaluate its children, and stop at physical or bounded terminals.</a:t>
            </a:r>
          </a:p>
        </p:txBody>
      </p:sp>
      <p:cxnSp>
        <p:nvCxnSpPr>
          <p:cNvPr id="58" name="r1"/>
          <p:cNvCxnSpPr/>
          <p:nvPr/>
        </p:nvCxnSpPr>
        <p:spPr>
          <a:xfrm xmlns:a="http://schemas.openxmlformats.org/drawingml/2006/main" flipH="0" flipV="0">
            <a:off x="2667000" y="3571875"/>
            <a:ext cx="666750" cy="0"/>
          </a:xfrm>
          <a:prstGeom xmlns:a="http://schemas.openxmlformats.org/drawingml/2006/main" prst="straightConnector1">
            <a:avLst/>
          </a:prstGeom>
          <a:ln xmlns:a="http://schemas.openxmlformats.org/drawingml/2006/main" w="19050">
            <a:solidFill>
              <a:srgbClr val="B8BCC4"/>
            </a:solidFill>
            <a:prstDash val="solid"/>
          </a:ln>
        </p:spPr>
      </p:cxnSp>
      <p:cxnSp>
        <p:nvCxnSpPr>
          <p:cNvPr id="59" name="r2"/>
          <p:cNvCxnSpPr/>
          <p:nvPr/>
        </p:nvCxnSpPr>
        <p:spPr>
          <a:xfrm xmlns:a="http://schemas.openxmlformats.org/drawingml/2006/main" flipH="0" flipV="1">
            <a:off x="5524500" y="2771775"/>
            <a:ext cx="685800" cy="800100"/>
          </a:xfrm>
          <a:prstGeom xmlns:a="http://schemas.openxmlformats.org/drawingml/2006/main" prst="straightConnector1">
            <a:avLst/>
          </a:prstGeom>
          <a:ln xmlns:a="http://schemas.openxmlformats.org/drawingml/2006/main" w="19050">
            <a:solidFill>
              <a:srgbClr val="B8BCC4"/>
            </a:solidFill>
            <a:prstDash val="solid"/>
          </a:ln>
        </p:spPr>
      </p:cxnSp>
      <p:cxnSp>
        <p:nvCxnSpPr>
          <p:cNvPr id="60" name="r3"/>
          <p:cNvCxnSpPr/>
          <p:nvPr/>
        </p:nvCxnSpPr>
        <p:spPr>
          <a:xfrm xmlns:a="http://schemas.openxmlformats.org/drawingml/2006/main" flipH="0" flipV="0">
            <a:off x="5524500" y="3571875"/>
            <a:ext cx="685800" cy="876300"/>
          </a:xfrm>
          <a:prstGeom xmlns:a="http://schemas.openxmlformats.org/drawingml/2006/main" prst="straightConnector1">
            <a:avLst/>
          </a:prstGeom>
          <a:ln xmlns:a="http://schemas.openxmlformats.org/drawingml/2006/main" w="19050">
            <a:solidFill>
              <a:srgbClr val="B8BCC4"/>
            </a:solidFill>
            <a:prstDash val="solid"/>
          </a:ln>
        </p:spPr>
      </p:cxnSp>
      <p:cxnSp>
        <p:nvCxnSpPr>
          <p:cNvPr id="61" name="r4"/>
          <p:cNvCxnSpPr/>
          <p:nvPr/>
        </p:nvCxnSpPr>
        <p:spPr>
          <a:xfrm xmlns:a="http://schemas.openxmlformats.org/drawingml/2006/main" flipH="0" flipV="1">
            <a:off x="7905750" y="3667125"/>
            <a:ext cx="495300" cy="781050"/>
          </a:xfrm>
          <a:prstGeom xmlns:a="http://schemas.openxmlformats.org/drawingml/2006/main" prst="straightConnector1">
            <a:avLst/>
          </a:prstGeom>
          <a:ln xmlns:a="http://schemas.openxmlformats.org/drawingml/2006/main" w="19050">
            <a:solidFill>
              <a:srgbClr val="B8BCC4"/>
            </a:solidFill>
            <a:prstDash val="solid"/>
          </a:ln>
        </p:spPr>
      </p:cxnSp>
      <p:cxnSp>
        <p:nvCxnSpPr>
          <p:cNvPr id="62" name="r5"/>
          <p:cNvCxnSpPr/>
          <p:nvPr/>
        </p:nvCxnSpPr>
        <p:spPr>
          <a:xfrm xmlns:a="http://schemas.openxmlformats.org/drawingml/2006/main" flipH="0" flipV="0">
            <a:off x="7905750" y="4448175"/>
            <a:ext cx="495300" cy="0"/>
          </a:xfrm>
          <a:prstGeom xmlns:a="http://schemas.openxmlformats.org/drawingml/2006/main" prst="straightConnector1">
            <a:avLst/>
          </a:prstGeom>
          <a:ln xmlns:a="http://schemas.openxmlformats.org/drawingml/2006/main" w="19050">
            <a:solidFill>
              <a:srgbClr val="B8BCC4"/>
            </a:solidFill>
            <a:prstDash val="solid"/>
          </a:ln>
        </p:spPr>
      </p:cxnSp>
      <p:cxnSp>
        <p:nvCxnSpPr>
          <p:cNvPr id="63" name="r6"/>
          <p:cNvCxnSpPr/>
          <p:nvPr/>
        </p:nvCxnSpPr>
        <p:spPr>
          <a:xfrm xmlns:a="http://schemas.openxmlformats.org/drawingml/2006/main" flipH="0" flipV="0">
            <a:off x="7905750" y="4448175"/>
            <a:ext cx="495300" cy="800100"/>
          </a:xfrm>
          <a:prstGeom xmlns:a="http://schemas.openxmlformats.org/drawingml/2006/main" prst="straightConnector1">
            <a:avLst/>
          </a:prstGeom>
          <a:ln xmlns:a="http://schemas.openxmlformats.org/drawingml/2006/main" w="19050">
            <a:solidFill>
              <a:srgbClr val="B8BCC4"/>
            </a:solidFill>
            <a:prstDash val="solid"/>
          </a:ln>
        </p:spPr>
      </p:cxnSp>
      <p:sp>
        <p:nvSpPr>
          <p:cNvPr id="10" name="labor-node-box">
            <a:extLst xmlns:a="http://schemas.openxmlformats.org/drawingml/2006/main">
              <a:ext uri="{FF2B5EF4-FFF2-40B4-BE49-F238E27FC236}">
                <a16:creationId xmlns:a16="http://schemas.microsoft.com/office/drawing/2014/main" id="{89C0B2F5-0CB1-4CB1-AEDD-9A2EB9F262E1}"/>
              </a:ext>
            </a:extLst>
          </p:cNvPr>
          <p:cNvSpPr>
            <a:spLocks xmlns:a="http://schemas.openxmlformats.org/drawingml/2006/main" noGrp="1"/>
          </p:cNvSpPr>
          <p:nvPr/>
        </p:nvSpPr>
        <p:spPr>
          <a:xfrm xmlns:a="http://schemas.openxmlformats.org/drawingml/2006/main">
            <a:off x="514350" y="3067050"/>
            <a:ext cx="2152650" cy="1009650"/>
          </a:xfrm>
          <a:prstGeom xmlns:a="http://schemas.openxmlformats.org/drawingml/2006/main" prst="rect">
            <a:avLst/>
          </a:prstGeom>
          <a:solidFill xmlns:a="http://schemas.openxmlformats.org/drawingml/2006/main">
            <a:srgbClr val="FFF0EB"/>
          </a:solidFill>
          <a:ln xmlns:a="http://schemas.openxmlformats.org/drawingml/2006/main" w="9525">
            <a:solidFill>
              <a:srgbClr val="FF5B35"/>
            </a:solidFill>
            <a:prstDash val="solid"/>
          </a:ln>
        </p:spPr>
      </p:sp>
      <p:sp>
        <p:nvSpPr>
          <p:cNvPr id="11" name="labor-node-kicker">
            <a:extLst xmlns:a="http://schemas.openxmlformats.org/drawingml/2006/main">
              <a:ext uri="{FF2B5EF4-FFF2-40B4-BE49-F238E27FC236}">
                <a16:creationId xmlns:a16="http://schemas.microsoft.com/office/drawing/2014/main" id="{DB40ADBB-66A7-48C3-A49B-9F775611E7A0}"/>
              </a:ext>
            </a:extLst>
          </p:cNvPr>
          <p:cNvSpPr>
            <a:spLocks xmlns:a="http://schemas.openxmlformats.org/drawingml/2006/main" noGrp="1"/>
          </p:cNvSpPr>
          <p:nvPr/>
        </p:nvSpPr>
        <p:spPr>
          <a:xfrm xmlns:a="http://schemas.openxmlformats.org/drawingml/2006/main">
            <a:off x="685800" y="32099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FF5B35"/>
                </a:solidFill>
                <a:latin typeface="Arial"/>
                <a:ea typeface="Arial"/>
                <a:cs typeface="Arial"/>
              </a:defRPr>
            </a:pPr>
            <a:r>
              <a:rPr sz="975" b="1">
                <a:solidFill>
                  <a:srgbClr val="FF5B35"/>
                </a:solidFill>
                <a:latin typeface="Arial"/>
                <a:ea typeface="Arial"/>
                <a:cs typeface="Arial"/>
              </a:rPr>
              <a:t>LABOR NODE</a:t>
            </a:r>
          </a:p>
        </p:txBody>
      </p:sp>
      <p:sp>
        <p:nvSpPr>
          <p:cNvPr id="12" name="labor-node-title">
            <a:extLst xmlns:a="http://schemas.openxmlformats.org/drawingml/2006/main">
              <a:ext uri="{FF2B5EF4-FFF2-40B4-BE49-F238E27FC236}">
                <a16:creationId xmlns:a16="http://schemas.microsoft.com/office/drawing/2014/main" id="{B220C114-2AC1-4A0D-8AE6-377FB1862B4A}"/>
              </a:ext>
            </a:extLst>
          </p:cNvPr>
          <p:cNvSpPr>
            <a:spLocks xmlns:a="http://schemas.openxmlformats.org/drawingml/2006/main" noGrp="1"/>
          </p:cNvSpPr>
          <p:nvPr/>
        </p:nvSpPr>
        <p:spPr>
          <a:xfrm xmlns:a="http://schemas.openxmlformats.org/drawingml/2006/main">
            <a:off x="685800" y="3429000"/>
            <a:ext cx="1809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650" b="1">
                <a:solidFill>
                  <a:srgbClr val="17241D"/>
                </a:solidFill>
                <a:latin typeface="Arial"/>
                <a:ea typeface="Arial"/>
                <a:cs typeface="Arial"/>
              </a:defRPr>
            </a:pPr>
            <a:r>
              <a:rPr sz="1650" b="1">
                <a:solidFill>
                  <a:srgbClr val="17241D"/>
                </a:solidFill>
                <a:latin typeface="Arial"/>
                <a:ea typeface="Arial"/>
                <a:cs typeface="Arial"/>
              </a:rPr>
              <a:t>Human task</a:t>
            </a:r>
          </a:p>
          <a:p xmlns:a="http://schemas.openxmlformats.org/drawingml/2006/main">
            <a:pPr algn="l">
              <a:buNone/>
              <a:defRPr sz="1650" b="1">
                <a:solidFill>
                  <a:srgbClr val="17241D"/>
                </a:solidFill>
                <a:latin typeface="Arial"/>
                <a:ea typeface="Arial"/>
                <a:cs typeface="Arial"/>
              </a:defRPr>
            </a:pPr>
            <a:r>
              <a:rPr sz="1650" b="1">
                <a:solidFill>
                  <a:srgbClr val="17241D"/>
                </a:solidFill>
                <a:latin typeface="Arial"/>
                <a:ea typeface="Arial"/>
                <a:cs typeface="Arial"/>
              </a:rPr>
              <a:t>cost</a:t>
            </a:r>
          </a:p>
        </p:txBody>
      </p:sp>
      <p:sp>
        <p:nvSpPr>
          <p:cNvPr id="13" name="robot-node-box">
            <a:extLst xmlns:a="http://schemas.openxmlformats.org/drawingml/2006/main">
              <a:ext uri="{FF2B5EF4-FFF2-40B4-BE49-F238E27FC236}">
                <a16:creationId xmlns:a16="http://schemas.microsoft.com/office/drawing/2014/main" id="{96853F1A-0EA7-4106-86EC-A5C8331F1424}"/>
              </a:ext>
            </a:extLst>
          </p:cNvPr>
          <p:cNvSpPr>
            <a:spLocks xmlns:a="http://schemas.openxmlformats.org/drawingml/2006/main" noGrp="1"/>
          </p:cNvSpPr>
          <p:nvPr/>
        </p:nvSpPr>
        <p:spPr>
          <a:xfrm xmlns:a="http://schemas.openxmlformats.org/drawingml/2006/main">
            <a:off x="3333750" y="3067050"/>
            <a:ext cx="2190750" cy="10096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4" name="robot-node-kicker">
            <a:extLst xmlns:a="http://schemas.openxmlformats.org/drawingml/2006/main">
              <a:ext uri="{FF2B5EF4-FFF2-40B4-BE49-F238E27FC236}">
                <a16:creationId xmlns:a16="http://schemas.microsoft.com/office/drawing/2014/main" id="{3FFE9474-51AA-49E5-9120-A706C2FF10E4}"/>
              </a:ext>
            </a:extLst>
          </p:cNvPr>
          <p:cNvSpPr>
            <a:spLocks xmlns:a="http://schemas.openxmlformats.org/drawingml/2006/main" noGrp="1"/>
          </p:cNvSpPr>
          <p:nvPr/>
        </p:nvSpPr>
        <p:spPr>
          <a:xfrm xmlns:a="http://schemas.openxmlformats.org/drawingml/2006/main">
            <a:off x="3505200" y="3209925"/>
            <a:ext cx="1847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FF5B35"/>
                </a:solidFill>
                <a:latin typeface="Arial"/>
                <a:ea typeface="Arial"/>
                <a:cs typeface="Arial"/>
              </a:defRPr>
            </a:pPr>
            <a:r>
              <a:rPr sz="975" b="1">
                <a:solidFill>
                  <a:srgbClr val="FF5B35"/>
                </a:solidFill>
                <a:latin typeface="Arial"/>
                <a:ea typeface="Arial"/>
                <a:cs typeface="Arial"/>
              </a:rPr>
              <a:t>REPLACE</a:t>
            </a:r>
          </a:p>
        </p:txBody>
      </p:sp>
      <p:sp>
        <p:nvSpPr>
          <p:cNvPr id="15" name="robot-node-title">
            <a:extLst xmlns:a="http://schemas.openxmlformats.org/drawingml/2006/main">
              <a:ext uri="{FF2B5EF4-FFF2-40B4-BE49-F238E27FC236}">
                <a16:creationId xmlns:a16="http://schemas.microsoft.com/office/drawing/2014/main" id="{11E38215-BF3A-4461-BAB7-866681DF3BFC}"/>
              </a:ext>
            </a:extLst>
          </p:cNvPr>
          <p:cNvSpPr>
            <a:spLocks xmlns:a="http://schemas.openxmlformats.org/drawingml/2006/main" noGrp="1"/>
          </p:cNvSpPr>
          <p:nvPr/>
        </p:nvSpPr>
        <p:spPr>
          <a:xfrm xmlns:a="http://schemas.openxmlformats.org/drawingml/2006/main">
            <a:off x="3505200" y="3429000"/>
            <a:ext cx="1847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650" b="1">
                <a:solidFill>
                  <a:srgbClr val="17241D"/>
                </a:solidFill>
                <a:latin typeface="Arial"/>
                <a:ea typeface="Arial"/>
                <a:cs typeface="Arial"/>
              </a:defRPr>
            </a:pPr>
            <a:r>
              <a:rPr sz="1650" b="1">
                <a:solidFill>
                  <a:srgbClr val="17241D"/>
                </a:solidFill>
                <a:latin typeface="Arial"/>
                <a:ea typeface="Arial"/>
                <a:cs typeface="Arial"/>
              </a:rPr>
              <a:t>Machine</a:t>
            </a:r>
          </a:p>
          <a:p xmlns:a="http://schemas.openxmlformats.org/drawingml/2006/main">
            <a:pPr algn="l">
              <a:buNone/>
              <a:defRPr sz="1650" b="1">
                <a:solidFill>
                  <a:srgbClr val="17241D"/>
                </a:solidFill>
                <a:latin typeface="Arial"/>
                <a:ea typeface="Arial"/>
                <a:cs typeface="Arial"/>
              </a:defRPr>
            </a:pPr>
            <a:r>
              <a:rPr sz="1650" b="1">
                <a:solidFill>
                  <a:srgbClr val="17241D"/>
                </a:solidFill>
                <a:latin typeface="Arial"/>
                <a:ea typeface="Arial"/>
                <a:cs typeface="Arial"/>
              </a:rPr>
              <a:t>task</a:t>
            </a:r>
          </a:p>
        </p:txBody>
      </p:sp>
      <p:sp>
        <p:nvSpPr>
          <p:cNvPr id="16" name="operating-node-box">
            <a:extLst xmlns:a="http://schemas.openxmlformats.org/drawingml/2006/main">
              <a:ext uri="{FF2B5EF4-FFF2-40B4-BE49-F238E27FC236}">
                <a16:creationId xmlns:a16="http://schemas.microsoft.com/office/drawing/2014/main" id="{7973A337-3884-42FD-8B45-8921A87C0C5B}"/>
              </a:ext>
            </a:extLst>
          </p:cNvPr>
          <p:cNvSpPr>
            <a:spLocks xmlns:a="http://schemas.openxmlformats.org/drawingml/2006/main" noGrp="1"/>
          </p:cNvSpPr>
          <p:nvPr/>
        </p:nvSpPr>
        <p:spPr>
          <a:xfrm xmlns:a="http://schemas.openxmlformats.org/drawingml/2006/main">
            <a:off x="6210300" y="2305050"/>
            <a:ext cx="1695450" cy="933450"/>
          </a:xfrm>
          <a:prstGeom xmlns:a="http://schemas.openxmlformats.org/drawingml/2006/main" prst="rect">
            <a:avLst/>
          </a:prstGeom>
          <a:solidFill xmlns:a="http://schemas.openxmlformats.org/drawingml/2006/main">
            <a:srgbClr val="FFF8D9"/>
          </a:solidFill>
          <a:ln xmlns:a="http://schemas.openxmlformats.org/drawingml/2006/main" w="9525">
            <a:solidFill>
              <a:srgbClr val="E3B200"/>
            </a:solidFill>
            <a:prstDash val="solid"/>
          </a:ln>
        </p:spPr>
      </p:sp>
      <p:sp>
        <p:nvSpPr>
          <p:cNvPr id="17" name="operating-node-kicker">
            <a:extLst xmlns:a="http://schemas.openxmlformats.org/drawingml/2006/main">
              <a:ext uri="{FF2B5EF4-FFF2-40B4-BE49-F238E27FC236}">
                <a16:creationId xmlns:a16="http://schemas.microsoft.com/office/drawing/2014/main" id="{B5F21727-A152-4B25-BC9A-FF144E34A043}"/>
              </a:ext>
            </a:extLst>
          </p:cNvPr>
          <p:cNvSpPr>
            <a:spLocks xmlns:a="http://schemas.openxmlformats.org/drawingml/2006/main" noGrp="1"/>
          </p:cNvSpPr>
          <p:nvPr/>
        </p:nvSpPr>
        <p:spPr>
          <a:xfrm xmlns:a="http://schemas.openxmlformats.org/drawingml/2006/main">
            <a:off x="6381750" y="244792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5B35"/>
                </a:solidFill>
                <a:latin typeface="Arial"/>
                <a:ea typeface="Arial"/>
                <a:cs typeface="Arial"/>
              </a:defRPr>
            </a:pPr>
            <a:r>
              <a:rPr sz="900" b="1">
                <a:solidFill>
                  <a:srgbClr val="FF5B35"/>
                </a:solidFill>
                <a:latin typeface="Arial"/>
                <a:ea typeface="Arial"/>
                <a:cs typeface="Arial"/>
              </a:rPr>
              <a:t>OPERATING ENERGY</a:t>
            </a:r>
          </a:p>
        </p:txBody>
      </p:sp>
      <p:sp>
        <p:nvSpPr>
          <p:cNvPr id="18" name="operating-node-title">
            <a:extLst xmlns:a="http://schemas.openxmlformats.org/drawingml/2006/main">
              <a:ext uri="{FF2B5EF4-FFF2-40B4-BE49-F238E27FC236}">
                <a16:creationId xmlns:a16="http://schemas.microsoft.com/office/drawing/2014/main" id="{ADFCC1AA-B8DB-4738-8A7C-B95E9B24AA97}"/>
              </a:ext>
            </a:extLst>
          </p:cNvPr>
          <p:cNvSpPr>
            <a:spLocks xmlns:a="http://schemas.openxmlformats.org/drawingml/2006/main" noGrp="1"/>
          </p:cNvSpPr>
          <p:nvPr/>
        </p:nvSpPr>
        <p:spPr>
          <a:xfrm xmlns:a="http://schemas.openxmlformats.org/drawingml/2006/main">
            <a:off x="6381750" y="26670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75" b="1">
                <a:solidFill>
                  <a:srgbClr val="17241D"/>
                </a:solidFill>
                <a:latin typeface="Arial"/>
                <a:ea typeface="Arial"/>
                <a:cs typeface="Arial"/>
              </a:defRPr>
            </a:pPr>
            <a:r>
              <a:rPr sz="1575" b="1">
                <a:solidFill>
                  <a:srgbClr val="17241D"/>
                </a:solidFill>
                <a:latin typeface="Arial"/>
                <a:ea typeface="Arial"/>
                <a:cs typeface="Arial"/>
              </a:rPr>
              <a:t>kWh × mᵣ</a:t>
            </a:r>
          </a:p>
        </p:txBody>
      </p:sp>
      <p:sp>
        <p:nvSpPr>
          <p:cNvPr id="19" name="capital-node-box">
            <a:extLst xmlns:a="http://schemas.openxmlformats.org/drawingml/2006/main">
              <a:ext uri="{FF2B5EF4-FFF2-40B4-BE49-F238E27FC236}">
                <a16:creationId xmlns:a16="http://schemas.microsoft.com/office/drawing/2014/main" id="{B512C008-838E-4A21-A659-19F20B3260CE}"/>
              </a:ext>
            </a:extLst>
          </p:cNvPr>
          <p:cNvSpPr>
            <a:spLocks xmlns:a="http://schemas.openxmlformats.org/drawingml/2006/main" noGrp="1"/>
          </p:cNvSpPr>
          <p:nvPr/>
        </p:nvSpPr>
        <p:spPr>
          <a:xfrm xmlns:a="http://schemas.openxmlformats.org/drawingml/2006/main">
            <a:off x="6210300" y="3981450"/>
            <a:ext cx="1695450" cy="933450"/>
          </a:xfrm>
          <a:prstGeom xmlns:a="http://schemas.openxmlformats.org/drawingml/2006/main" prst="rect">
            <a:avLst/>
          </a:prstGeom>
          <a:solidFill xmlns:a="http://schemas.openxmlformats.org/drawingml/2006/main">
            <a:srgbClr val="E8EDFF"/>
          </a:solidFill>
          <a:ln xmlns:a="http://schemas.openxmlformats.org/drawingml/2006/main" w="9525">
            <a:solidFill>
              <a:srgbClr val="3856D9"/>
            </a:solidFill>
            <a:prstDash val="solid"/>
          </a:ln>
        </p:spPr>
      </p:sp>
      <p:sp>
        <p:nvSpPr>
          <p:cNvPr id="20" name="capital-node-kicker">
            <a:extLst xmlns:a="http://schemas.openxmlformats.org/drawingml/2006/main">
              <a:ext uri="{FF2B5EF4-FFF2-40B4-BE49-F238E27FC236}">
                <a16:creationId xmlns:a16="http://schemas.microsoft.com/office/drawing/2014/main" id="{374A2357-BF67-4516-ADC2-567F9445E018}"/>
              </a:ext>
            </a:extLst>
          </p:cNvPr>
          <p:cNvSpPr>
            <a:spLocks xmlns:a="http://schemas.openxmlformats.org/drawingml/2006/main" noGrp="1"/>
          </p:cNvSpPr>
          <p:nvPr/>
        </p:nvSpPr>
        <p:spPr>
          <a:xfrm xmlns:a="http://schemas.openxmlformats.org/drawingml/2006/main">
            <a:off x="6381750" y="412432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3856D9"/>
                </a:solidFill>
                <a:latin typeface="Arial"/>
                <a:ea typeface="Arial"/>
                <a:cs typeface="Arial"/>
              </a:defRPr>
            </a:pPr>
            <a:r>
              <a:rPr sz="900" b="1">
                <a:solidFill>
                  <a:srgbClr val="3856D9"/>
                </a:solidFill>
                <a:latin typeface="Arial"/>
                <a:ea typeface="Arial"/>
                <a:cs typeface="Arial"/>
              </a:rPr>
              <a:t>ALLOCATED CAPITAL</a:t>
            </a:r>
          </a:p>
        </p:txBody>
      </p:sp>
      <p:sp>
        <p:nvSpPr>
          <p:cNvPr id="21" name="capital-node-title">
            <a:extLst xmlns:a="http://schemas.openxmlformats.org/drawingml/2006/main">
              <a:ext uri="{FF2B5EF4-FFF2-40B4-BE49-F238E27FC236}">
                <a16:creationId xmlns:a16="http://schemas.microsoft.com/office/drawing/2014/main" id="{68218246-0C01-49AA-AF98-15D3B8E29561}"/>
              </a:ext>
            </a:extLst>
          </p:cNvPr>
          <p:cNvSpPr>
            <a:spLocks xmlns:a="http://schemas.openxmlformats.org/drawingml/2006/main" noGrp="1"/>
          </p:cNvSpPr>
          <p:nvPr/>
        </p:nvSpPr>
        <p:spPr>
          <a:xfrm xmlns:a="http://schemas.openxmlformats.org/drawingml/2006/main">
            <a:off x="6381750" y="43434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909"/>
          </a:bodyPr>
          <a:lstStyle xmlns:a="http://schemas.openxmlformats.org/drawingml/2006/main"/>
          <a:p xmlns:a="http://schemas.openxmlformats.org/drawingml/2006/main">
            <a:pPr algn="l">
              <a:buNone/>
              <a:defRPr sz="1650" b="1">
                <a:solidFill>
                  <a:srgbClr val="17241D"/>
                </a:solidFill>
                <a:latin typeface="Arial"/>
                <a:ea typeface="Arial"/>
                <a:cs typeface="Arial"/>
              </a:defRPr>
            </a:pPr>
            <a:r>
              <a:rPr sz="1650" b="1">
                <a:solidFill>
                  <a:srgbClr val="17241D"/>
                </a:solidFill>
                <a:latin typeface="Arial"/>
                <a:ea typeface="Arial"/>
                <a:cs typeface="Arial"/>
              </a:rPr>
              <a:t>Expand</a:t>
            </a:r>
          </a:p>
          <a:p xmlns:a="http://schemas.openxmlformats.org/drawingml/2006/main">
            <a:pPr algn="l">
              <a:buNone/>
              <a:defRPr sz="1650" b="1">
                <a:solidFill>
                  <a:srgbClr val="17241D"/>
                </a:solidFill>
                <a:latin typeface="Arial"/>
                <a:ea typeface="Arial"/>
                <a:cs typeface="Arial"/>
              </a:defRPr>
            </a:pPr>
            <a:r>
              <a:rPr sz="1650" b="1">
                <a:solidFill>
                  <a:srgbClr val="17241D"/>
                </a:solidFill>
                <a:latin typeface="Arial"/>
                <a:ea typeface="Arial"/>
                <a:cs typeface="Arial"/>
              </a:rPr>
              <a:t>again</a:t>
            </a:r>
          </a:p>
        </p:txBody>
      </p:sp>
      <p:sp>
        <p:nvSpPr>
          <p:cNvPr id="22" name="matter-node-box">
            <a:extLst xmlns:a="http://schemas.openxmlformats.org/drawingml/2006/main">
              <a:ext uri="{FF2B5EF4-FFF2-40B4-BE49-F238E27FC236}">
                <a16:creationId xmlns:a16="http://schemas.microsoft.com/office/drawing/2014/main" id="{850959B3-1961-4169-AD59-EBA8114DF55C}"/>
              </a:ext>
            </a:extLst>
          </p:cNvPr>
          <p:cNvSpPr>
            <a:spLocks xmlns:a="http://schemas.openxmlformats.org/drawingml/2006/main" noGrp="1"/>
          </p:cNvSpPr>
          <p:nvPr/>
        </p:nvSpPr>
        <p:spPr>
          <a:xfrm xmlns:a="http://schemas.openxmlformats.org/drawingml/2006/main">
            <a:off x="8401050" y="3228975"/>
            <a:ext cx="1524000" cy="781050"/>
          </a:xfrm>
          <a:prstGeom xmlns:a="http://schemas.openxmlformats.org/drawingml/2006/main" prst="rect">
            <a:avLst/>
          </a:prstGeom>
          <a:solidFill xmlns:a="http://schemas.openxmlformats.org/drawingml/2006/main">
            <a:srgbClr val="E5F2ED"/>
          </a:solidFill>
          <a:ln xmlns:a="http://schemas.openxmlformats.org/drawingml/2006/main" w="9525">
            <a:solidFill>
              <a:srgbClr val="267B62"/>
            </a:solidFill>
            <a:prstDash val="solid"/>
          </a:ln>
        </p:spPr>
      </p:sp>
      <p:sp>
        <p:nvSpPr>
          <p:cNvPr id="23" name="matter-node-kicker">
            <a:extLst xmlns:a="http://schemas.openxmlformats.org/drawingml/2006/main">
              <a:ext uri="{FF2B5EF4-FFF2-40B4-BE49-F238E27FC236}">
                <a16:creationId xmlns:a16="http://schemas.microsoft.com/office/drawing/2014/main" id="{B0BDDEF6-C5A7-4082-A288-2D590CFD16B1}"/>
              </a:ext>
            </a:extLst>
          </p:cNvPr>
          <p:cNvSpPr>
            <a:spLocks xmlns:a="http://schemas.openxmlformats.org/drawingml/2006/main" noGrp="1"/>
          </p:cNvSpPr>
          <p:nvPr/>
        </p:nvSpPr>
        <p:spPr>
          <a:xfrm xmlns:a="http://schemas.openxmlformats.org/drawingml/2006/main">
            <a:off x="8572500" y="3371850"/>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8A5A34"/>
                </a:solidFill>
                <a:latin typeface="Arial"/>
                <a:ea typeface="Arial"/>
                <a:cs typeface="Arial"/>
              </a:defRPr>
            </a:pPr>
            <a:r>
              <a:rPr sz="975" b="1">
                <a:solidFill>
                  <a:srgbClr val="8A5A34"/>
                </a:solidFill>
                <a:latin typeface="Arial"/>
                <a:ea typeface="Arial"/>
                <a:cs typeface="Arial"/>
              </a:rPr>
              <a:t>TERMINAL</a:t>
            </a:r>
          </a:p>
        </p:txBody>
      </p:sp>
      <p:sp>
        <p:nvSpPr>
          <p:cNvPr id="24" name="matter-node-title">
            <a:extLst xmlns:a="http://schemas.openxmlformats.org/drawingml/2006/main">
              <a:ext uri="{FF2B5EF4-FFF2-40B4-BE49-F238E27FC236}">
                <a16:creationId xmlns:a16="http://schemas.microsoft.com/office/drawing/2014/main" id="{E80BC6C7-9AB7-46EE-A890-B27ABC8BD5A6}"/>
              </a:ext>
            </a:extLst>
          </p:cNvPr>
          <p:cNvSpPr>
            <a:spLocks xmlns:a="http://schemas.openxmlformats.org/drawingml/2006/main" noGrp="1"/>
          </p:cNvSpPr>
          <p:nvPr/>
        </p:nvSpPr>
        <p:spPr>
          <a:xfrm xmlns:a="http://schemas.openxmlformats.org/drawingml/2006/main">
            <a:off x="8572500" y="3590925"/>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75" b="1">
                <a:solidFill>
                  <a:srgbClr val="17241D"/>
                </a:solidFill>
                <a:latin typeface="Arial"/>
                <a:ea typeface="Arial"/>
                <a:cs typeface="Arial"/>
              </a:defRPr>
            </a:pPr>
            <a:r>
              <a:rPr sz="1575" b="1">
                <a:solidFill>
                  <a:srgbClr val="17241D"/>
                </a:solidFill>
                <a:latin typeface="Arial"/>
                <a:ea typeface="Arial"/>
                <a:cs typeface="Arial"/>
              </a:rPr>
              <a:t>Materials</a:t>
            </a:r>
          </a:p>
        </p:txBody>
      </p:sp>
      <p:sp>
        <p:nvSpPr>
          <p:cNvPr id="25" name="fabrication-node-box">
            <a:extLst xmlns:a="http://schemas.openxmlformats.org/drawingml/2006/main">
              <a:ext uri="{FF2B5EF4-FFF2-40B4-BE49-F238E27FC236}">
                <a16:creationId xmlns:a16="http://schemas.microsoft.com/office/drawing/2014/main" id="{F460BB17-3CF3-4685-86CA-C0C49E812B73}"/>
              </a:ext>
            </a:extLst>
          </p:cNvPr>
          <p:cNvSpPr>
            <a:spLocks xmlns:a="http://schemas.openxmlformats.org/drawingml/2006/main" noGrp="1"/>
          </p:cNvSpPr>
          <p:nvPr/>
        </p:nvSpPr>
        <p:spPr>
          <a:xfrm xmlns:a="http://schemas.openxmlformats.org/drawingml/2006/main">
            <a:off x="8401050" y="4086225"/>
            <a:ext cx="1524000" cy="781050"/>
          </a:xfrm>
          <a:prstGeom xmlns:a="http://schemas.openxmlformats.org/drawingml/2006/main" prst="rect">
            <a:avLst/>
          </a:prstGeom>
          <a:solidFill xmlns:a="http://schemas.openxmlformats.org/drawingml/2006/main">
            <a:srgbClr val="FFF8D9"/>
          </a:solidFill>
          <a:ln xmlns:a="http://schemas.openxmlformats.org/drawingml/2006/main" w="9525">
            <a:solidFill>
              <a:srgbClr val="E3B200"/>
            </a:solidFill>
            <a:prstDash val="solid"/>
          </a:ln>
        </p:spPr>
      </p:sp>
      <p:sp>
        <p:nvSpPr>
          <p:cNvPr id="26" name="fabrication-node-kicker">
            <a:extLst xmlns:a="http://schemas.openxmlformats.org/drawingml/2006/main">
              <a:ext uri="{FF2B5EF4-FFF2-40B4-BE49-F238E27FC236}">
                <a16:creationId xmlns:a16="http://schemas.microsoft.com/office/drawing/2014/main" id="{45CAF6FE-B7A4-4DDC-9CD1-332B1FA8A44E}"/>
              </a:ext>
            </a:extLst>
          </p:cNvPr>
          <p:cNvSpPr>
            <a:spLocks xmlns:a="http://schemas.openxmlformats.org/drawingml/2006/main" noGrp="1"/>
          </p:cNvSpPr>
          <p:nvPr/>
        </p:nvSpPr>
        <p:spPr>
          <a:xfrm xmlns:a="http://schemas.openxmlformats.org/drawingml/2006/main">
            <a:off x="8572500" y="4229100"/>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E3B200"/>
                </a:solidFill>
                <a:latin typeface="Arial"/>
                <a:ea typeface="Arial"/>
                <a:cs typeface="Arial"/>
              </a:defRPr>
            </a:pPr>
            <a:r>
              <a:rPr sz="975" b="1">
                <a:solidFill>
                  <a:srgbClr val="E3B200"/>
                </a:solidFill>
                <a:latin typeface="Arial"/>
                <a:ea typeface="Arial"/>
                <a:cs typeface="Arial"/>
              </a:rPr>
              <a:t>EMBODIED</a:t>
            </a:r>
          </a:p>
        </p:txBody>
      </p:sp>
      <p:sp>
        <p:nvSpPr>
          <p:cNvPr id="27" name="fabrication-node-title">
            <a:extLst xmlns:a="http://schemas.openxmlformats.org/drawingml/2006/main">
              <a:ext uri="{FF2B5EF4-FFF2-40B4-BE49-F238E27FC236}">
                <a16:creationId xmlns:a16="http://schemas.microsoft.com/office/drawing/2014/main" id="{AC02FACE-1E4F-43BC-AF40-F5FD8B8B928D}"/>
              </a:ext>
            </a:extLst>
          </p:cNvPr>
          <p:cNvSpPr>
            <a:spLocks xmlns:a="http://schemas.openxmlformats.org/drawingml/2006/main" noGrp="1"/>
          </p:cNvSpPr>
          <p:nvPr/>
        </p:nvSpPr>
        <p:spPr>
          <a:xfrm xmlns:a="http://schemas.openxmlformats.org/drawingml/2006/main">
            <a:off x="8572500" y="4448175"/>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3492"/>
          </a:bodyPr>
          <a:lstStyle xmlns:a="http://schemas.openxmlformats.org/drawingml/2006/main"/>
          <a:p xmlns:a="http://schemas.openxmlformats.org/drawingml/2006/main">
            <a:pPr algn="l">
              <a:buNone/>
              <a:defRPr sz="1575" b="1">
                <a:solidFill>
                  <a:srgbClr val="17241D"/>
                </a:solidFill>
                <a:latin typeface="Arial"/>
                <a:ea typeface="Arial"/>
                <a:cs typeface="Arial"/>
              </a:defRPr>
            </a:pPr>
            <a:r>
              <a:rPr sz="1575" b="1">
                <a:solidFill>
                  <a:srgbClr val="17241D"/>
                </a:solidFill>
                <a:latin typeface="Arial"/>
                <a:ea typeface="Arial"/>
                <a:cs typeface="Arial"/>
              </a:rPr>
              <a:t>Fabrication</a:t>
            </a:r>
          </a:p>
          <a:p xmlns:a="http://schemas.openxmlformats.org/drawingml/2006/main">
            <a:pPr algn="l">
              <a:buNone/>
              <a:defRPr sz="1575" b="1">
                <a:solidFill>
                  <a:srgbClr val="17241D"/>
                </a:solidFill>
                <a:latin typeface="Arial"/>
                <a:ea typeface="Arial"/>
                <a:cs typeface="Arial"/>
              </a:defRPr>
            </a:pPr>
            <a:r>
              <a:rPr sz="1575" b="1">
                <a:solidFill>
                  <a:srgbClr val="17241D"/>
                </a:solidFill>
                <a:latin typeface="Arial"/>
                <a:ea typeface="Arial"/>
                <a:cs typeface="Arial"/>
              </a:rPr>
              <a:t>energy</a:t>
            </a:r>
          </a:p>
        </p:txBody>
      </p:sp>
      <p:sp>
        <p:nvSpPr>
          <p:cNvPr id="28" name="maintenance-node-box">
            <a:extLst xmlns:a="http://schemas.openxmlformats.org/drawingml/2006/main">
              <a:ext uri="{FF2B5EF4-FFF2-40B4-BE49-F238E27FC236}">
                <a16:creationId xmlns:a16="http://schemas.microsoft.com/office/drawing/2014/main" id="{7D19B494-6501-40AE-84CC-C4D7941DB421}"/>
              </a:ext>
            </a:extLst>
          </p:cNvPr>
          <p:cNvSpPr>
            <a:spLocks xmlns:a="http://schemas.openxmlformats.org/drawingml/2006/main" noGrp="1"/>
          </p:cNvSpPr>
          <p:nvPr/>
        </p:nvSpPr>
        <p:spPr>
          <a:xfrm xmlns:a="http://schemas.openxmlformats.org/drawingml/2006/main">
            <a:off x="8401050" y="4943475"/>
            <a:ext cx="1524000" cy="7810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9" name="maintenance-node-kicker">
            <a:extLst xmlns:a="http://schemas.openxmlformats.org/drawingml/2006/main">
              <a:ext uri="{FF2B5EF4-FFF2-40B4-BE49-F238E27FC236}">
                <a16:creationId xmlns:a16="http://schemas.microsoft.com/office/drawing/2014/main" id="{8C950209-348D-4C70-A936-9A937323C705}"/>
              </a:ext>
            </a:extLst>
          </p:cNvPr>
          <p:cNvSpPr>
            <a:spLocks xmlns:a="http://schemas.openxmlformats.org/drawingml/2006/main" noGrp="1"/>
          </p:cNvSpPr>
          <p:nvPr/>
        </p:nvSpPr>
        <p:spPr>
          <a:xfrm xmlns:a="http://schemas.openxmlformats.org/drawingml/2006/main">
            <a:off x="8572500" y="5086350"/>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67B62"/>
                </a:solidFill>
                <a:latin typeface="Arial"/>
                <a:ea typeface="Arial"/>
                <a:cs typeface="Arial"/>
              </a:defRPr>
            </a:pPr>
            <a:r>
              <a:rPr sz="975" b="1">
                <a:solidFill>
                  <a:srgbClr val="267B62"/>
                </a:solidFill>
                <a:latin typeface="Arial"/>
                <a:ea typeface="Arial"/>
                <a:cs typeface="Arial"/>
              </a:rPr>
              <a:t>DEEPER NODE</a:t>
            </a:r>
          </a:p>
        </p:txBody>
      </p:sp>
      <p:sp>
        <p:nvSpPr>
          <p:cNvPr id="30" name="maintenance-node-title">
            <a:extLst xmlns:a="http://schemas.openxmlformats.org/drawingml/2006/main">
              <a:ext uri="{FF2B5EF4-FFF2-40B4-BE49-F238E27FC236}">
                <a16:creationId xmlns:a16="http://schemas.microsoft.com/office/drawing/2014/main" id="{40816E0C-9561-4682-AA97-1130FD0D4D1E}"/>
              </a:ext>
            </a:extLst>
          </p:cNvPr>
          <p:cNvSpPr>
            <a:spLocks xmlns:a="http://schemas.openxmlformats.org/drawingml/2006/main" noGrp="1"/>
          </p:cNvSpPr>
          <p:nvPr/>
        </p:nvSpPr>
        <p:spPr>
          <a:xfrm xmlns:a="http://schemas.openxmlformats.org/drawingml/2006/main">
            <a:off x="8572500" y="5305425"/>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17241D"/>
                </a:solidFill>
                <a:latin typeface="Arial"/>
                <a:ea typeface="Arial"/>
                <a:cs typeface="Arial"/>
              </a:defRPr>
            </a:pPr>
            <a:r>
              <a:rPr sz="1500" b="1">
                <a:solidFill>
                  <a:srgbClr val="17241D"/>
                </a:solidFill>
                <a:latin typeface="Arial"/>
                <a:ea typeface="Arial"/>
                <a:cs typeface="Arial"/>
              </a:rPr>
              <a:t>Maintenance</a:t>
            </a:r>
          </a:p>
        </p:txBody>
      </p:sp>
      <p:sp>
        <p:nvSpPr>
          <p:cNvPr id="31" name="equation-panel">
            <a:extLst xmlns:a="http://schemas.openxmlformats.org/drawingml/2006/main">
              <a:ext uri="{FF2B5EF4-FFF2-40B4-BE49-F238E27FC236}">
                <a16:creationId xmlns:a16="http://schemas.microsoft.com/office/drawing/2014/main" id="{FFA7048B-A6F6-4D9D-B547-A7882179E1E0}"/>
              </a:ext>
            </a:extLst>
          </p:cNvPr>
          <p:cNvSpPr>
            <a:spLocks xmlns:a="http://schemas.openxmlformats.org/drawingml/2006/main" noGrp="1"/>
          </p:cNvSpPr>
          <p:nvPr/>
        </p:nvSpPr>
        <p:spPr>
          <a:xfrm xmlns:a="http://schemas.openxmlformats.org/drawingml/2006/main">
            <a:off x="10020300" y="2305050"/>
            <a:ext cx="1657350" cy="3419475"/>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32" name="equation-kicker">
            <a:extLst xmlns:a="http://schemas.openxmlformats.org/drawingml/2006/main">
              <a:ext uri="{FF2B5EF4-FFF2-40B4-BE49-F238E27FC236}">
                <a16:creationId xmlns:a16="http://schemas.microsoft.com/office/drawing/2014/main" id="{8BAC1633-7ED7-4BCD-9924-491B0B5DB8FC}"/>
              </a:ext>
            </a:extLst>
          </p:cNvPr>
          <p:cNvSpPr>
            <a:spLocks xmlns:a="http://schemas.openxmlformats.org/drawingml/2006/main" noGrp="1"/>
          </p:cNvSpPr>
          <p:nvPr/>
        </p:nvSpPr>
        <p:spPr>
          <a:xfrm xmlns:a="http://schemas.openxmlformats.org/drawingml/2006/main">
            <a:off x="10201275" y="25431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42"/>
          </a:bodyPr>
          <a:lstStyle xmlns:a="http://schemas.openxmlformats.org/drawingml/2006/main"/>
          <a:p xmlns:a="http://schemas.openxmlformats.org/drawingml/2006/main">
            <a:pPr algn="l">
              <a:buNone/>
              <a:defRPr sz="975" b="1">
                <a:solidFill>
                  <a:srgbClr val="D8FF57"/>
                </a:solidFill>
                <a:latin typeface="Arial"/>
                <a:ea typeface="Arial"/>
                <a:cs typeface="Arial"/>
              </a:defRPr>
            </a:pPr>
            <a:r>
              <a:rPr sz="975" b="1">
                <a:solidFill>
                  <a:srgbClr val="D8FF57"/>
                </a:solidFill>
                <a:latin typeface="Arial"/>
                <a:ea typeface="Arial"/>
                <a:cs typeface="Arial"/>
              </a:rPr>
              <a:t>EVALUATED OUTPUT</a:t>
            </a:r>
          </a:p>
        </p:txBody>
      </p:sp>
      <p:sp>
        <p:nvSpPr>
          <p:cNvPr id="33" name="equation-copy">
            <a:extLst xmlns:a="http://schemas.openxmlformats.org/drawingml/2006/main">
              <a:ext uri="{FF2B5EF4-FFF2-40B4-BE49-F238E27FC236}">
                <a16:creationId xmlns:a16="http://schemas.microsoft.com/office/drawing/2014/main" id="{9DF13D55-DAFB-41AE-8FF1-2C37805A92DF}"/>
              </a:ext>
            </a:extLst>
          </p:cNvPr>
          <p:cNvSpPr>
            <a:spLocks xmlns:a="http://schemas.openxmlformats.org/drawingml/2006/main" noGrp="1"/>
          </p:cNvSpPr>
          <p:nvPr/>
        </p:nvSpPr>
        <p:spPr>
          <a:xfrm xmlns:a="http://schemas.openxmlformats.org/drawingml/2006/main">
            <a:off x="10201275" y="2981325"/>
            <a:ext cx="12954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88000"/>
              </a:lnSpc>
              <a:buNone/>
              <a:defRPr sz="2250" b="1">
                <a:solidFill>
                  <a:srgbClr val="F7F5ED"/>
                </a:solidFill>
                <a:latin typeface="Arial"/>
                <a:ea typeface="Arial"/>
                <a:cs typeface="Arial"/>
              </a:defRPr>
            </a:pPr>
            <a:r>
              <a:rPr sz="2250" b="1">
                <a:solidFill>
                  <a:srgbClr val="F7F5ED"/>
                </a:solidFill>
                <a:latin typeface="Arial"/>
                <a:ea typeface="Arial"/>
                <a:cs typeface="Arial"/>
              </a:rPr>
              <a:t>Eval(n)</a:t>
            </a:r>
          </a:p>
          <a:p xmlns:a="http://schemas.openxmlformats.org/drawingml/2006/main">
            <a:pPr algn="ctr">
              <a:lnSpc>
                <a:spcPct val="88000"/>
              </a:lnSpc>
              <a:buNone/>
              <a:defRPr sz="2250" b="1">
                <a:solidFill>
                  <a:srgbClr val="F7F5ED"/>
                </a:solidFill>
                <a:latin typeface="Arial"/>
                <a:ea typeface="Arial"/>
                <a:cs typeface="Arial"/>
              </a:defRPr>
            </a:pPr>
            <a:r>
              <a:rPr sz="2250" b="1">
                <a:solidFill>
                  <a:srgbClr val="F7F5ED"/>
                </a:solidFill>
                <a:latin typeface="Arial"/>
                <a:ea typeface="Arial"/>
                <a:cs typeface="Arial"/>
              </a:rPr>
              <a:t>=</a:t>
            </a:r>
          </a:p>
          <a:p xmlns:a="http://schemas.openxmlformats.org/drawingml/2006/main">
            <a:pPr algn="ctr">
              <a:lnSpc>
                <a:spcPct val="88000"/>
              </a:lnSpc>
              <a:buNone/>
              <a:defRPr sz="2250" b="1">
                <a:solidFill>
                  <a:srgbClr val="F7F5ED"/>
                </a:solidFill>
                <a:latin typeface="Arial"/>
                <a:ea typeface="Arial"/>
                <a:cs typeface="Arial"/>
              </a:defRPr>
            </a:pPr>
            <a:r>
              <a:rPr sz="2250" b="1">
                <a:solidFill>
                  <a:srgbClr val="F7F5ED"/>
                </a:solidFill>
                <a:latin typeface="Arial"/>
                <a:ea typeface="Arial"/>
                <a:cs typeface="Arial"/>
              </a:rPr>
              <a:t>Σ leaves</a:t>
            </a:r>
          </a:p>
          <a:p xmlns:a="http://schemas.openxmlformats.org/drawingml/2006/main">
            <a:pPr algn="ctr">
              <a:lnSpc>
                <a:spcPct val="88000"/>
              </a:lnSpc>
              <a:buNone/>
              <a:defRPr sz="2250" b="1">
                <a:solidFill>
                  <a:srgbClr val="F7F5ED"/>
                </a:solidFill>
                <a:latin typeface="Arial"/>
                <a:ea typeface="Arial"/>
                <a:cs typeface="Arial"/>
              </a:defRPr>
            </a:pPr>
            <a:r>
              <a:rPr sz="2250" b="1">
                <a:solidFill>
                  <a:srgbClr val="F7F5ED"/>
                </a:solidFill>
                <a:latin typeface="Arial"/>
                <a:ea typeface="Arial"/>
                <a:cs typeface="Arial"/>
              </a:rPr>
              <a:t>+ residuals</a:t>
            </a:r>
          </a:p>
        </p:txBody>
      </p:sp>
      <p:sp>
        <p:nvSpPr>
          <p:cNvPr id="34" name="equation-note">
            <a:extLst xmlns:a="http://schemas.openxmlformats.org/drawingml/2006/main">
              <a:ext uri="{FF2B5EF4-FFF2-40B4-BE49-F238E27FC236}">
                <a16:creationId xmlns:a16="http://schemas.microsoft.com/office/drawing/2014/main" id="{CA9D7D1E-763A-40D8-8F07-0D079CC21153}"/>
              </a:ext>
            </a:extLst>
          </p:cNvPr>
          <p:cNvSpPr>
            <a:spLocks xmlns:a="http://schemas.openxmlformats.org/drawingml/2006/main" noGrp="1"/>
          </p:cNvSpPr>
          <p:nvPr/>
        </p:nvSpPr>
        <p:spPr>
          <a:xfrm xmlns:a="http://schemas.openxmlformats.org/drawingml/2006/main">
            <a:off x="10201275" y="5191125"/>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0">
                <a:solidFill>
                  <a:srgbClr val="A7B0A9"/>
                </a:solidFill>
                <a:latin typeface="Arial"/>
                <a:ea typeface="Arial"/>
                <a:cs typeface="Arial"/>
              </a:defRPr>
            </a:pPr>
            <a:r>
              <a:rPr sz="1050" b="0">
                <a:solidFill>
                  <a:srgbClr val="A7B0A9"/>
                </a:solidFill>
                <a:latin typeface="Arial"/>
                <a:ea typeface="Arial"/>
                <a:cs typeface="Arial"/>
              </a:rPr>
              <a:t>depth cutoff → physical fallback</a:t>
            </a:r>
          </a:p>
        </p:txBody>
      </p:sp>
      <p:sp>
        <p:nvSpPr>
          <p:cNvPr id="35" name="footer-4-left">
            <a:extLst xmlns:a="http://schemas.openxmlformats.org/drawingml/2006/main">
              <a:ext uri="{FF2B5EF4-FFF2-40B4-BE49-F238E27FC236}">
                <a16:creationId xmlns:a16="http://schemas.microsoft.com/office/drawing/2014/main" id="{569E788D-47C4-4111-AF28-A8E326607EED}"/>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36" name="footer-4-number">
            <a:extLst xmlns:a="http://schemas.openxmlformats.org/drawingml/2006/main">
              <a:ext uri="{FF2B5EF4-FFF2-40B4-BE49-F238E27FC236}">
                <a16:creationId xmlns:a16="http://schemas.microsoft.com/office/drawing/2014/main" id="{EDC83924-715E-4AFE-A258-7B69C756DFD0}"/>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05</a:t>
            </a:r>
          </a:p>
        </p:txBody>
      </p:sp>
    </p:spTree>
    <p:extLst>
      <p:ext uri="{BB962C8B-B14F-4D97-AF65-F5344CB8AC3E}">
        <p14:creationId xmlns:p14="http://schemas.microsoft.com/office/powerpoint/2010/main" val="352500271"/>
      </p:ext>
    </p:extLst>
  </p:cSld>
</p:sld>
</file>

<file path=ppt/slides/slide6.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24" name="slide-5-kicker">
            <a:extLst xmlns:a="http://schemas.openxmlformats.org/drawingml/2006/main">
              <a:ext uri="{FF2B5EF4-FFF2-40B4-BE49-F238E27FC236}">
                <a16:creationId xmlns:a16="http://schemas.microsoft.com/office/drawing/2014/main" id="{136853E5-FE4E-4747-9D93-B8B889AC4779}"/>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06</a:t>
            </a:r>
          </a:p>
        </p:txBody>
      </p:sp>
      <p:sp>
        <p:nvSpPr>
          <p:cNvPr id="2" name="slide-5-title">
            <a:extLst xmlns:a="http://schemas.openxmlformats.org/drawingml/2006/main">
              <a:ext uri="{FF2B5EF4-FFF2-40B4-BE49-F238E27FC236}">
                <a16:creationId xmlns:a16="http://schemas.microsoft.com/office/drawing/2014/main" id="{5DB74E45-69FC-4E8B-8261-8A4DD85518DC}"/>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00" b="1">
                <a:solidFill>
                  <a:srgbClr val="17241D"/>
                </a:solidFill>
                <a:latin typeface="Arial"/>
                <a:ea typeface="Arial"/>
                <a:cs typeface="Arial"/>
              </a:defRPr>
            </a:pPr>
            <a:r>
              <a:rPr sz="3300" b="1">
                <a:solidFill>
                  <a:srgbClr val="17241D"/>
                </a:solidFill>
                <a:latin typeface="Arial"/>
                <a:ea typeface="Arial"/>
                <a:cs typeface="Arial"/>
              </a:rPr>
              <a:t>Recursion depth controls resolution, not an extra discount.</a:t>
            </a:r>
          </a:p>
        </p:txBody>
      </p:sp>
      <p:sp>
        <p:nvSpPr>
          <p:cNvPr id="3" name="slide-5-subtitle">
            <a:extLst xmlns:a="http://schemas.openxmlformats.org/drawingml/2006/main">
              <a:ext uri="{FF2B5EF4-FFF2-40B4-BE49-F238E27FC236}">
                <a16:creationId xmlns:a16="http://schemas.microsoft.com/office/drawing/2014/main" id="{08E5D715-3CF9-491C-A14E-701C11CCDA6C}"/>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9736C"/>
                </a:solidFill>
                <a:latin typeface="Arial"/>
                <a:ea typeface="Arial"/>
                <a:cs typeface="Arial"/>
              </a:defRPr>
            </a:pPr>
            <a:r>
              <a:rPr sz="1350" b="0">
                <a:solidFill>
                  <a:srgbClr val="69736C"/>
                </a:solidFill>
                <a:latin typeface="Arial"/>
                <a:ea typeface="Arial"/>
                <a:cs typeface="Arial"/>
              </a:rPr>
              <a:t>Depth 1–20; default 5. A truncated branch evaluates its declared physical fallback and increments cutoffCount.</a:t>
            </a:r>
          </a:p>
        </p:txBody>
      </p:sp>
      <p:sp>
        <p:nvSpPr>
          <p:cNvPr id="22" name="footer-5-left">
            <a:extLst xmlns:a="http://schemas.openxmlformats.org/drawingml/2006/main">
              <a:ext uri="{FF2B5EF4-FFF2-40B4-BE49-F238E27FC236}">
                <a16:creationId xmlns:a16="http://schemas.microsoft.com/office/drawing/2014/main" id="{CCF9ADDA-9A4D-4614-8D06-0B00E703E138}"/>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23" name="footer-5-number">
            <a:extLst xmlns:a="http://schemas.openxmlformats.org/drawingml/2006/main">
              <a:ext uri="{FF2B5EF4-FFF2-40B4-BE49-F238E27FC236}">
                <a16:creationId xmlns:a16="http://schemas.microsoft.com/office/drawing/2014/main" id="{95C068E5-CFAF-410F-A3FA-44710D500B2E}"/>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06</a:t>
            </a:r>
          </a:p>
        </p:txBody>
      </p:sp>
      <p:sp>
        <p:nvSpPr>
          <p:cNvPr id="25" name="depth-rule-kicker">
            <a:extLst xmlns:a="http://schemas.openxmlformats.org/drawingml/2006/main">
              <a:ext uri="{FF2B5EF4-FFF2-40B4-BE49-F238E27FC236}">
                <a16:creationId xmlns:a16="http://schemas.microsoft.com/office/drawing/2014/main" id="{102BE0F6-A298-4FA8-A52A-F590BA3FF588}"/>
              </a:ext>
            </a:extLst>
          </p:cNvPr>
          <p:cNvSpPr>
            <a:spLocks xmlns:a="http://schemas.openxmlformats.org/drawingml/2006/main" noGrp="1"/>
          </p:cNvSpPr>
          <p:nvPr/>
        </p:nvSpPr>
        <p:spPr>
          <a:xfrm xmlns:a="http://schemas.openxmlformats.org/drawingml/2006/main">
            <a:off x="533400" y="25241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BOUNDARY CONDITION</a:t>
            </a:r>
          </a:p>
        </p:txBody>
      </p:sp>
      <p:sp>
        <p:nvSpPr>
          <p:cNvPr id="26" name="depth-code-box">
            <a:extLst xmlns:a="http://schemas.openxmlformats.org/drawingml/2006/main">
              <a:ext uri="{FF2B5EF4-FFF2-40B4-BE49-F238E27FC236}">
                <a16:creationId xmlns:a16="http://schemas.microsoft.com/office/drawing/2014/main" id="{12438B5E-AA01-4C13-AF07-AB1BDF3D227D}"/>
              </a:ext>
            </a:extLst>
          </p:cNvPr>
          <p:cNvSpPr>
            <a:spLocks xmlns:a="http://schemas.openxmlformats.org/drawingml/2006/main" noGrp="1"/>
          </p:cNvSpPr>
          <p:nvPr/>
        </p:nvSpPr>
        <p:spPr>
          <a:xfrm xmlns:a="http://schemas.openxmlformats.org/drawingml/2006/main">
            <a:off x="514350" y="2819400"/>
            <a:ext cx="4667250" cy="213360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27" name="depth-code">
            <a:extLst xmlns:a="http://schemas.openxmlformats.org/drawingml/2006/main">
              <a:ext uri="{FF2B5EF4-FFF2-40B4-BE49-F238E27FC236}">
                <a16:creationId xmlns:a16="http://schemas.microsoft.com/office/drawing/2014/main" id="{EE26FDA6-EE18-4EFD-960B-A4DD6526B620}"/>
              </a:ext>
            </a:extLst>
          </p:cNvPr>
          <p:cNvSpPr>
            <a:spLocks xmlns:a="http://schemas.openxmlformats.org/drawingml/2006/main" noGrp="1"/>
          </p:cNvSpPr>
          <p:nvPr/>
        </p:nvSpPr>
        <p:spPr>
          <a:xfrm xmlns:a="http://schemas.openxmlformats.org/drawingml/2006/main">
            <a:off x="781050" y="3124200"/>
            <a:ext cx="4095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7F5ED"/>
                </a:solidFill>
                <a:latin typeface="Arial"/>
                <a:ea typeface="Arial"/>
                <a:cs typeface="Arial"/>
              </a:defRPr>
            </a:pPr>
            <a:r>
              <a:rPr sz="1650" b="1">
                <a:solidFill>
                  <a:srgbClr val="F7F5ED"/>
                </a:solidFill>
                <a:latin typeface="Arial"/>
                <a:ea typeface="Arial"/>
                <a:cs typeface="Arial"/>
              </a:rPr>
              <a:t>if depth ≥ maxDepth:</a:t>
            </a:r>
          </a:p>
          <a:p xmlns:a="http://schemas.openxmlformats.org/drawingml/2006/main">
            <a:pPr algn="l">
              <a:lnSpc>
                <a:spcPct val="105000"/>
              </a:lnSpc>
              <a:buNone/>
              <a:defRPr sz="1650" b="1">
                <a:solidFill>
                  <a:srgbClr val="F7F5ED"/>
                </a:solidFill>
                <a:latin typeface="Arial"/>
                <a:ea typeface="Arial"/>
                <a:cs typeface="Arial"/>
              </a:defRPr>
            </a:pPr>
            <a:r>
              <a:rPr sz="1650" b="1">
                <a:solidFill>
                  <a:srgbClr val="F7F5ED"/>
                </a:solidFill>
                <a:latin typeface="Arial"/>
                <a:ea typeface="Arial"/>
                <a:cs typeface="Arial"/>
              </a:rPr>
              <a:t>  value ← Eval(depthFallback)</a:t>
            </a:r>
          </a:p>
          <a:p xmlns:a="http://schemas.openxmlformats.org/drawingml/2006/main">
            <a:pPr algn="l">
              <a:lnSpc>
                <a:spcPct val="105000"/>
              </a:lnSpc>
              <a:buNone/>
              <a:defRPr sz="1650" b="1">
                <a:solidFill>
                  <a:srgbClr val="F7F5ED"/>
                </a:solidFill>
                <a:latin typeface="Arial"/>
                <a:ea typeface="Arial"/>
                <a:cs typeface="Arial"/>
              </a:defRPr>
            </a:pPr>
            <a:r>
              <a:rPr sz="1650" b="1">
                <a:solidFill>
                  <a:srgbClr val="F7F5ED"/>
                </a:solidFill>
                <a:latin typeface="Arial"/>
                <a:ea typeface="Arial"/>
                <a:cs typeface="Arial"/>
              </a:rPr>
              <a:t>  cutoffCount ← cutoffCount + 1</a:t>
            </a:r>
          </a:p>
          <a:p xmlns:a="http://schemas.openxmlformats.org/drawingml/2006/main">
            <a:pPr algn="l">
              <a:lnSpc>
                <a:spcPct val="105000"/>
              </a:lnSpc>
              <a:buNone/>
              <a:defRPr sz="1650" b="1">
                <a:solidFill>
                  <a:srgbClr val="F7F5ED"/>
                </a:solidFill>
                <a:latin typeface="Arial"/>
                <a:ea typeface="Arial"/>
                <a:cs typeface="Arial"/>
              </a:defRPr>
            </a:pPr>
            <a:r>
              <a:rPr sz="1650" b="1">
                <a:solidFill>
                  <a:srgbClr val="F7F5ED"/>
                </a:solidFill>
                <a:latin typeface="Arial"/>
                <a:ea typeface="Arial"/>
                <a:cs typeface="Arial"/>
              </a:rPr>
              <a:t>else:</a:t>
            </a:r>
          </a:p>
          <a:p xmlns:a="http://schemas.openxmlformats.org/drawingml/2006/main">
            <a:pPr algn="l">
              <a:lnSpc>
                <a:spcPct val="105000"/>
              </a:lnSpc>
              <a:buNone/>
              <a:defRPr sz="1650" b="1">
                <a:solidFill>
                  <a:srgbClr val="F7F5ED"/>
                </a:solidFill>
                <a:latin typeface="Arial"/>
                <a:ea typeface="Arial"/>
                <a:cs typeface="Arial"/>
              </a:defRPr>
            </a:pPr>
            <a:r>
              <a:rPr sz="1650" b="1">
                <a:solidFill>
                  <a:srgbClr val="F7F5ED"/>
                </a:solidFill>
                <a:latin typeface="Arial"/>
                <a:ea typeface="Arial"/>
                <a:cs typeface="Arial"/>
              </a:rPr>
              <a:t>  value ← Σ Eval(child)</a:t>
            </a:r>
          </a:p>
        </p:txBody>
      </p:sp>
      <p:sp>
        <p:nvSpPr>
          <p:cNvPr id="28" name="depth-ruler-label">
            <a:extLst xmlns:a="http://schemas.openxmlformats.org/drawingml/2006/main">
              <a:ext uri="{FF2B5EF4-FFF2-40B4-BE49-F238E27FC236}">
                <a16:creationId xmlns:a16="http://schemas.microsoft.com/office/drawing/2014/main" id="{03C22598-FFFB-48D0-B520-2AB56A108774}"/>
              </a:ext>
            </a:extLst>
          </p:cNvPr>
          <p:cNvSpPr>
            <a:spLocks xmlns:a="http://schemas.openxmlformats.org/drawingml/2006/main" noGrp="1"/>
          </p:cNvSpPr>
          <p:nvPr/>
        </p:nvSpPr>
        <p:spPr>
          <a:xfrm xmlns:a="http://schemas.openxmlformats.org/drawingml/2006/main">
            <a:off x="5810250" y="25241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MAXIMUM DEPTH</a:t>
            </a:r>
          </a:p>
        </p:txBody>
      </p:sp>
      <p:cxnSp>
        <p:nvCxnSpPr>
          <p:cNvPr id="63" name="depth-ruler"/>
          <p:cNvCxnSpPr/>
          <p:nvPr/>
        </p:nvCxnSpPr>
        <p:spPr>
          <a:xfrm xmlns:a="http://schemas.openxmlformats.org/drawingml/2006/main" flipH="0" flipV="0">
            <a:off x="5962650" y="3371850"/>
            <a:ext cx="5238750" cy="0"/>
          </a:xfrm>
          <a:prstGeom xmlns:a="http://schemas.openxmlformats.org/drawingml/2006/main" prst="straightConnector1">
            <a:avLst/>
          </a:prstGeom>
          <a:ln xmlns:a="http://schemas.openxmlformats.org/drawingml/2006/main" w="28575">
            <a:solidFill>
              <a:srgbClr val="B8BCC4"/>
            </a:solidFill>
            <a:prstDash val="solid"/>
          </a:ln>
        </p:spPr>
      </p:cxnSp>
      <p:cxnSp>
        <p:nvCxnSpPr>
          <p:cNvPr id="64" name="depth-tick-1"/>
          <p:cNvCxnSpPr/>
          <p:nvPr/>
        </p:nvCxnSpPr>
        <p:spPr>
          <a:xfrm xmlns:a="http://schemas.openxmlformats.org/drawingml/2006/main" flipH="0" flipV="0">
            <a:off x="5962650" y="327660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31" name="depth-label-1">
            <a:extLst xmlns:a="http://schemas.openxmlformats.org/drawingml/2006/main">
              <a:ext uri="{FF2B5EF4-FFF2-40B4-BE49-F238E27FC236}">
                <a16:creationId xmlns:a16="http://schemas.microsoft.com/office/drawing/2014/main" id="{AD34F6DC-FD2D-4EDE-8F5F-19712A9A397F}"/>
              </a:ext>
            </a:extLst>
          </p:cNvPr>
          <p:cNvSpPr>
            <a:spLocks xmlns:a="http://schemas.openxmlformats.org/drawingml/2006/main" noGrp="1"/>
          </p:cNvSpPr>
          <p:nvPr/>
        </p:nvSpPr>
        <p:spPr>
          <a:xfrm xmlns:a="http://schemas.openxmlformats.org/drawingml/2006/main">
            <a:off x="5734050" y="3562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9736C"/>
                </a:solidFill>
                <a:latin typeface="Arial"/>
                <a:ea typeface="Arial"/>
                <a:cs typeface="Arial"/>
              </a:defRPr>
            </a:pPr>
            <a:r>
              <a:rPr sz="1200" b="0">
                <a:solidFill>
                  <a:srgbClr val="69736C"/>
                </a:solidFill>
                <a:latin typeface="Arial"/>
                <a:ea typeface="Arial"/>
                <a:cs typeface="Arial"/>
              </a:rPr>
              <a:t>1</a:t>
            </a:r>
          </a:p>
        </p:txBody>
      </p:sp>
      <p:cxnSp>
        <p:nvCxnSpPr>
          <p:cNvPr id="66" name="depth-tick-3"/>
          <p:cNvCxnSpPr/>
          <p:nvPr/>
        </p:nvCxnSpPr>
        <p:spPr>
          <a:xfrm xmlns:a="http://schemas.openxmlformats.org/drawingml/2006/main" flipH="0" flipV="0">
            <a:off x="6514097" y="327660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33" name="depth-label-3">
            <a:extLst xmlns:a="http://schemas.openxmlformats.org/drawingml/2006/main">
              <a:ext uri="{FF2B5EF4-FFF2-40B4-BE49-F238E27FC236}">
                <a16:creationId xmlns:a16="http://schemas.microsoft.com/office/drawing/2014/main" id="{7B783C9E-9510-4B63-A243-F910F4CDEA9B}"/>
              </a:ext>
            </a:extLst>
          </p:cNvPr>
          <p:cNvSpPr>
            <a:spLocks xmlns:a="http://schemas.openxmlformats.org/drawingml/2006/main" noGrp="1"/>
          </p:cNvSpPr>
          <p:nvPr/>
        </p:nvSpPr>
        <p:spPr>
          <a:xfrm xmlns:a="http://schemas.openxmlformats.org/drawingml/2006/main">
            <a:off x="6285497" y="3562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9736C"/>
                </a:solidFill>
                <a:latin typeface="Arial"/>
                <a:ea typeface="Arial"/>
                <a:cs typeface="Arial"/>
              </a:defRPr>
            </a:pPr>
            <a:r>
              <a:rPr sz="1200" b="0">
                <a:solidFill>
                  <a:srgbClr val="69736C"/>
                </a:solidFill>
                <a:latin typeface="Arial"/>
                <a:ea typeface="Arial"/>
                <a:cs typeface="Arial"/>
              </a:rPr>
              <a:t>3</a:t>
            </a:r>
          </a:p>
        </p:txBody>
      </p:sp>
      <p:cxnSp>
        <p:nvCxnSpPr>
          <p:cNvPr id="68" name="depth-tick-5"/>
          <p:cNvCxnSpPr/>
          <p:nvPr/>
        </p:nvCxnSpPr>
        <p:spPr>
          <a:xfrm xmlns:a="http://schemas.openxmlformats.org/drawingml/2006/main" flipH="0" flipV="0">
            <a:off x="7065545" y="3200400"/>
            <a:ext cx="0" cy="342900"/>
          </a:xfrm>
          <a:prstGeom xmlns:a="http://schemas.openxmlformats.org/drawingml/2006/main" prst="straightConnector1">
            <a:avLst/>
          </a:prstGeom>
          <a:ln xmlns:a="http://schemas.openxmlformats.org/drawingml/2006/main" w="38100">
            <a:solidFill>
              <a:srgbClr val="FF5B35"/>
            </a:solidFill>
            <a:prstDash val="solid"/>
          </a:ln>
        </p:spPr>
      </p:cxnSp>
      <p:sp>
        <p:nvSpPr>
          <p:cNvPr id="35" name="depth-label-5">
            <a:extLst xmlns:a="http://schemas.openxmlformats.org/drawingml/2006/main">
              <a:ext uri="{FF2B5EF4-FFF2-40B4-BE49-F238E27FC236}">
                <a16:creationId xmlns:a16="http://schemas.microsoft.com/office/drawing/2014/main" id="{BD8215DA-5279-49B6-9E5F-9E5299051F0C}"/>
              </a:ext>
            </a:extLst>
          </p:cNvPr>
          <p:cNvSpPr>
            <a:spLocks xmlns:a="http://schemas.openxmlformats.org/drawingml/2006/main" noGrp="1"/>
          </p:cNvSpPr>
          <p:nvPr/>
        </p:nvSpPr>
        <p:spPr>
          <a:xfrm xmlns:a="http://schemas.openxmlformats.org/drawingml/2006/main">
            <a:off x="6836945" y="3562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5B35"/>
                </a:solidFill>
                <a:latin typeface="Arial"/>
                <a:ea typeface="Arial"/>
                <a:cs typeface="Arial"/>
              </a:defRPr>
            </a:pPr>
            <a:r>
              <a:rPr sz="1200" b="1">
                <a:solidFill>
                  <a:srgbClr val="FF5B35"/>
                </a:solidFill>
                <a:latin typeface="Arial"/>
                <a:ea typeface="Arial"/>
                <a:cs typeface="Arial"/>
              </a:rPr>
              <a:t>5</a:t>
            </a:r>
          </a:p>
        </p:txBody>
      </p:sp>
      <p:cxnSp>
        <p:nvCxnSpPr>
          <p:cNvPr id="70" name="depth-tick-10"/>
          <p:cNvCxnSpPr/>
          <p:nvPr/>
        </p:nvCxnSpPr>
        <p:spPr>
          <a:xfrm xmlns:a="http://schemas.openxmlformats.org/drawingml/2006/main" flipH="0" flipV="0">
            <a:off x="8444163" y="327660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37" name="depth-label-10">
            <a:extLst xmlns:a="http://schemas.openxmlformats.org/drawingml/2006/main">
              <a:ext uri="{FF2B5EF4-FFF2-40B4-BE49-F238E27FC236}">
                <a16:creationId xmlns:a16="http://schemas.microsoft.com/office/drawing/2014/main" id="{67FC449F-D7FC-42B0-ADD1-05635AED22A6}"/>
              </a:ext>
            </a:extLst>
          </p:cNvPr>
          <p:cNvSpPr>
            <a:spLocks xmlns:a="http://schemas.openxmlformats.org/drawingml/2006/main" noGrp="1"/>
          </p:cNvSpPr>
          <p:nvPr/>
        </p:nvSpPr>
        <p:spPr>
          <a:xfrm xmlns:a="http://schemas.openxmlformats.org/drawingml/2006/main">
            <a:off x="8215563" y="3562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9736C"/>
                </a:solidFill>
                <a:latin typeface="Arial"/>
                <a:ea typeface="Arial"/>
                <a:cs typeface="Arial"/>
              </a:defRPr>
            </a:pPr>
            <a:r>
              <a:rPr sz="1200" b="0">
                <a:solidFill>
                  <a:srgbClr val="69736C"/>
                </a:solidFill>
                <a:latin typeface="Arial"/>
                <a:ea typeface="Arial"/>
                <a:cs typeface="Arial"/>
              </a:rPr>
              <a:t>10</a:t>
            </a:r>
          </a:p>
        </p:txBody>
      </p:sp>
      <p:cxnSp>
        <p:nvCxnSpPr>
          <p:cNvPr id="72" name="depth-tick-15"/>
          <p:cNvCxnSpPr/>
          <p:nvPr/>
        </p:nvCxnSpPr>
        <p:spPr>
          <a:xfrm xmlns:a="http://schemas.openxmlformats.org/drawingml/2006/main" flipH="0" flipV="0">
            <a:off x="9822782" y="327660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39" name="depth-label-15">
            <a:extLst xmlns:a="http://schemas.openxmlformats.org/drawingml/2006/main">
              <a:ext uri="{FF2B5EF4-FFF2-40B4-BE49-F238E27FC236}">
                <a16:creationId xmlns:a16="http://schemas.microsoft.com/office/drawing/2014/main" id="{D90E7F0D-8BEC-4763-A234-1217FF28A9CF}"/>
              </a:ext>
            </a:extLst>
          </p:cNvPr>
          <p:cNvSpPr>
            <a:spLocks xmlns:a="http://schemas.openxmlformats.org/drawingml/2006/main" noGrp="1"/>
          </p:cNvSpPr>
          <p:nvPr/>
        </p:nvSpPr>
        <p:spPr>
          <a:xfrm xmlns:a="http://schemas.openxmlformats.org/drawingml/2006/main">
            <a:off x="9594182" y="3562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9736C"/>
                </a:solidFill>
                <a:latin typeface="Arial"/>
                <a:ea typeface="Arial"/>
                <a:cs typeface="Arial"/>
              </a:defRPr>
            </a:pPr>
            <a:r>
              <a:rPr sz="1200" b="0">
                <a:solidFill>
                  <a:srgbClr val="69736C"/>
                </a:solidFill>
                <a:latin typeface="Arial"/>
                <a:ea typeface="Arial"/>
                <a:cs typeface="Arial"/>
              </a:rPr>
              <a:t>15</a:t>
            </a:r>
          </a:p>
        </p:txBody>
      </p:sp>
      <p:cxnSp>
        <p:nvCxnSpPr>
          <p:cNvPr id="74" name="depth-tick-20"/>
          <p:cNvCxnSpPr/>
          <p:nvPr/>
        </p:nvCxnSpPr>
        <p:spPr>
          <a:xfrm xmlns:a="http://schemas.openxmlformats.org/drawingml/2006/main" flipH="0" flipV="0">
            <a:off x="11201400" y="327660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41" name="depth-label-20">
            <a:extLst xmlns:a="http://schemas.openxmlformats.org/drawingml/2006/main">
              <a:ext uri="{FF2B5EF4-FFF2-40B4-BE49-F238E27FC236}">
                <a16:creationId xmlns:a16="http://schemas.microsoft.com/office/drawing/2014/main" id="{A527A7E3-3817-4BD4-B7CB-97831BBCA787}"/>
              </a:ext>
            </a:extLst>
          </p:cNvPr>
          <p:cNvSpPr>
            <a:spLocks xmlns:a="http://schemas.openxmlformats.org/drawingml/2006/main" noGrp="1"/>
          </p:cNvSpPr>
          <p:nvPr/>
        </p:nvSpPr>
        <p:spPr>
          <a:xfrm xmlns:a="http://schemas.openxmlformats.org/drawingml/2006/main">
            <a:off x="10972800" y="3562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9736C"/>
                </a:solidFill>
                <a:latin typeface="Arial"/>
                <a:ea typeface="Arial"/>
                <a:cs typeface="Arial"/>
              </a:defRPr>
            </a:pPr>
            <a:r>
              <a:rPr sz="1200" b="0">
                <a:solidFill>
                  <a:srgbClr val="69736C"/>
                </a:solidFill>
                <a:latin typeface="Arial"/>
                <a:ea typeface="Arial"/>
                <a:cs typeface="Arial"/>
              </a:rPr>
              <a:t>20</a:t>
            </a:r>
          </a:p>
        </p:txBody>
      </p:sp>
      <p:sp>
        <p:nvSpPr>
          <p:cNvPr id="42" name="depth-default-box">
            <a:extLst xmlns:a="http://schemas.openxmlformats.org/drawingml/2006/main">
              <a:ext uri="{FF2B5EF4-FFF2-40B4-BE49-F238E27FC236}">
                <a16:creationId xmlns:a16="http://schemas.microsoft.com/office/drawing/2014/main" id="{27A5B239-2961-4B2F-9E63-D0A53CC1EF6C}"/>
              </a:ext>
            </a:extLst>
          </p:cNvPr>
          <p:cNvSpPr>
            <a:spLocks xmlns:a="http://schemas.openxmlformats.org/drawingml/2006/main" noGrp="1"/>
          </p:cNvSpPr>
          <p:nvPr/>
        </p:nvSpPr>
        <p:spPr>
          <a:xfrm xmlns:a="http://schemas.openxmlformats.org/drawingml/2006/main">
            <a:off x="6486525" y="2914650"/>
            <a:ext cx="1162050" cy="323850"/>
          </a:xfrm>
          <a:prstGeom xmlns:a="http://schemas.openxmlformats.org/drawingml/2006/main" prst="roundRect">
            <a:avLst>
              <a:gd name="adj" fmla="val 23529"/>
            </a:avLst>
          </a:prstGeom>
          <a:solidFill xmlns:a="http://schemas.openxmlformats.org/drawingml/2006/main">
            <a:srgbClr val="FF5B35"/>
          </a:solidFill>
          <a:ln xmlns:a="http://schemas.openxmlformats.org/drawingml/2006/main" w="9525">
            <a:solidFill>
              <a:srgbClr val="FF5B35"/>
            </a:solidFill>
            <a:prstDash val="solid"/>
          </a:ln>
        </p:spPr>
      </p:sp>
      <p:sp>
        <p:nvSpPr>
          <p:cNvPr id="43" name="depth-default-text">
            <a:extLst xmlns:a="http://schemas.openxmlformats.org/drawingml/2006/main">
              <a:ext uri="{FF2B5EF4-FFF2-40B4-BE49-F238E27FC236}">
                <a16:creationId xmlns:a16="http://schemas.microsoft.com/office/drawing/2014/main" id="{AFEBE266-189F-428C-909B-9345F0217A10}"/>
              </a:ext>
            </a:extLst>
          </p:cNvPr>
          <p:cNvSpPr>
            <a:spLocks xmlns:a="http://schemas.openxmlformats.org/drawingml/2006/main" noGrp="1"/>
          </p:cNvSpPr>
          <p:nvPr/>
        </p:nvSpPr>
        <p:spPr>
          <a:xfrm xmlns:a="http://schemas.openxmlformats.org/drawingml/2006/main">
            <a:off x="6486525" y="2914650"/>
            <a:ext cx="1162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rmAutofit fontScale="100000"/>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DEFAULT 5</a:t>
            </a:r>
          </a:p>
        </p:txBody>
      </p:sp>
      <p:sp>
        <p:nvSpPr>
          <p:cNvPr id="44" name="depth-card-0">
            <a:extLst xmlns:a="http://schemas.openxmlformats.org/drawingml/2006/main">
              <a:ext uri="{FF2B5EF4-FFF2-40B4-BE49-F238E27FC236}">
                <a16:creationId xmlns:a16="http://schemas.microsoft.com/office/drawing/2014/main" id="{41F07BE9-1E65-4B5A-AB34-A6829BDF7FC7}"/>
              </a:ext>
            </a:extLst>
          </p:cNvPr>
          <p:cNvSpPr>
            <a:spLocks xmlns:a="http://schemas.openxmlformats.org/drawingml/2006/main" noGrp="1"/>
          </p:cNvSpPr>
          <p:nvPr/>
        </p:nvSpPr>
        <p:spPr>
          <a:xfrm xmlns:a="http://schemas.openxmlformats.org/drawingml/2006/main">
            <a:off x="5810250" y="4114800"/>
            <a:ext cx="1657350" cy="12573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45" name="depth-card-n-0">
            <a:extLst xmlns:a="http://schemas.openxmlformats.org/drawingml/2006/main">
              <a:ext uri="{FF2B5EF4-FFF2-40B4-BE49-F238E27FC236}">
                <a16:creationId xmlns:a16="http://schemas.microsoft.com/office/drawing/2014/main" id="{4134CB00-7D9A-443F-8F6E-8B23DC33FBBA}"/>
              </a:ext>
            </a:extLst>
          </p:cNvPr>
          <p:cNvSpPr>
            <a:spLocks xmlns:a="http://schemas.openxmlformats.org/drawingml/2006/main" noGrp="1"/>
          </p:cNvSpPr>
          <p:nvPr/>
        </p:nvSpPr>
        <p:spPr>
          <a:xfrm xmlns:a="http://schemas.openxmlformats.org/drawingml/2006/main">
            <a:off x="5962650" y="4248150"/>
            <a:ext cx="1352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F5B35"/>
                </a:solidFill>
                <a:latin typeface="Arial"/>
                <a:ea typeface="Arial"/>
                <a:cs typeface="Arial"/>
              </a:defRPr>
            </a:pPr>
            <a:r>
              <a:rPr sz="2550" b="1">
                <a:solidFill>
                  <a:srgbClr val="FF5B35"/>
                </a:solidFill>
                <a:latin typeface="Arial"/>
                <a:ea typeface="Arial"/>
                <a:cs typeface="Arial"/>
              </a:rPr>
              <a:t>29</a:t>
            </a:r>
          </a:p>
        </p:txBody>
      </p:sp>
      <p:sp>
        <p:nvSpPr>
          <p:cNvPr id="46" name="depth-card-t-0">
            <a:extLst xmlns:a="http://schemas.openxmlformats.org/drawingml/2006/main">
              <a:ext uri="{FF2B5EF4-FFF2-40B4-BE49-F238E27FC236}">
                <a16:creationId xmlns:a16="http://schemas.microsoft.com/office/drawing/2014/main" id="{C4406057-FEB2-4081-8923-C7BB9D63C89E}"/>
              </a:ext>
            </a:extLst>
          </p:cNvPr>
          <p:cNvSpPr>
            <a:spLocks xmlns:a="http://schemas.openxmlformats.org/drawingml/2006/main" noGrp="1"/>
          </p:cNvSpPr>
          <p:nvPr/>
        </p:nvSpPr>
        <p:spPr>
          <a:xfrm xmlns:a="http://schemas.openxmlformats.org/drawingml/2006/main">
            <a:off x="5962650" y="4714875"/>
            <a:ext cx="1352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55"/>
          </a:bodyPr>
          <a:lstStyle xmlns:a="http://schemas.openxmlformats.org/drawingml/2006/main"/>
          <a:p xmlns:a="http://schemas.openxmlformats.org/drawingml/2006/main">
            <a:pPr algn="l">
              <a:lnSpc>
                <a:spcPct val="102000"/>
              </a:lnSpc>
              <a:buNone/>
              <a:defRPr sz="1125" b="1">
                <a:solidFill>
                  <a:srgbClr val="17241D"/>
                </a:solidFill>
                <a:latin typeface="Arial"/>
                <a:ea typeface="Arial"/>
                <a:cs typeface="Arial"/>
              </a:defRPr>
            </a:pPr>
            <a:r>
              <a:rPr sz="1125" b="1">
                <a:solidFill>
                  <a:srgbClr val="17241D"/>
                </a:solidFill>
                <a:latin typeface="Arial"/>
                <a:ea typeface="Arial"/>
                <a:cs typeface="Arial"/>
              </a:rPr>
              <a:t>cutoffs at depth 5</a:t>
            </a:r>
          </a:p>
          <a:p xmlns:a="http://schemas.openxmlformats.org/drawingml/2006/main">
            <a:pPr algn="l">
              <a:lnSpc>
                <a:spcPct val="102000"/>
              </a:lnSpc>
              <a:buNone/>
              <a:defRPr sz="1125" b="1">
                <a:solidFill>
                  <a:srgbClr val="17241D"/>
                </a:solidFill>
                <a:latin typeface="Arial"/>
                <a:ea typeface="Arial"/>
                <a:cs typeface="Arial"/>
              </a:defRPr>
            </a:pPr>
            <a:r>
              <a:rPr sz="1125" b="1">
                <a:solidFill>
                  <a:srgbClr val="17241D"/>
                </a:solidFill>
                <a:latin typeface="Arial"/>
                <a:ea typeface="Arial"/>
                <a:cs typeface="Arial"/>
              </a:rPr>
              <a:t>across tea, shirt, flour</a:t>
            </a:r>
          </a:p>
        </p:txBody>
      </p:sp>
      <p:sp>
        <p:nvSpPr>
          <p:cNvPr id="47" name="depth-card-1">
            <a:extLst xmlns:a="http://schemas.openxmlformats.org/drawingml/2006/main">
              <a:ext uri="{FF2B5EF4-FFF2-40B4-BE49-F238E27FC236}">
                <a16:creationId xmlns:a16="http://schemas.microsoft.com/office/drawing/2014/main" id="{47A2F188-B9CA-4572-A372-6F1EC5F3E6ED}"/>
              </a:ext>
            </a:extLst>
          </p:cNvPr>
          <p:cNvSpPr>
            <a:spLocks xmlns:a="http://schemas.openxmlformats.org/drawingml/2006/main" noGrp="1"/>
          </p:cNvSpPr>
          <p:nvPr/>
        </p:nvSpPr>
        <p:spPr>
          <a:xfrm xmlns:a="http://schemas.openxmlformats.org/drawingml/2006/main">
            <a:off x="7620000" y="4114800"/>
            <a:ext cx="1657350" cy="12573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48" name="depth-card-n-1">
            <a:extLst xmlns:a="http://schemas.openxmlformats.org/drawingml/2006/main">
              <a:ext uri="{FF2B5EF4-FFF2-40B4-BE49-F238E27FC236}">
                <a16:creationId xmlns:a16="http://schemas.microsoft.com/office/drawing/2014/main" id="{60677450-CEA1-488C-92F2-6252BC41B326}"/>
              </a:ext>
            </a:extLst>
          </p:cNvPr>
          <p:cNvSpPr>
            <a:spLocks xmlns:a="http://schemas.openxmlformats.org/drawingml/2006/main" noGrp="1"/>
          </p:cNvSpPr>
          <p:nvPr/>
        </p:nvSpPr>
        <p:spPr>
          <a:xfrm xmlns:a="http://schemas.openxmlformats.org/drawingml/2006/main">
            <a:off x="7772400" y="4248150"/>
            <a:ext cx="1352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7241D"/>
                </a:solidFill>
                <a:latin typeface="Arial"/>
                <a:ea typeface="Arial"/>
                <a:cs typeface="Arial"/>
              </a:defRPr>
            </a:pPr>
            <a:r>
              <a:rPr sz="2550" b="1">
                <a:solidFill>
                  <a:srgbClr val="17241D"/>
                </a:solidFill>
                <a:latin typeface="Arial"/>
                <a:ea typeface="Arial"/>
                <a:cs typeface="Arial"/>
              </a:rPr>
              <a:t>7</a:t>
            </a:r>
          </a:p>
        </p:txBody>
      </p:sp>
      <p:sp>
        <p:nvSpPr>
          <p:cNvPr id="49" name="depth-card-t-1">
            <a:extLst xmlns:a="http://schemas.openxmlformats.org/drawingml/2006/main">
              <a:ext uri="{FF2B5EF4-FFF2-40B4-BE49-F238E27FC236}">
                <a16:creationId xmlns:a16="http://schemas.microsoft.com/office/drawing/2014/main" id="{EF64A5D2-C00F-43B1-B75E-FCD828E478E6}"/>
              </a:ext>
            </a:extLst>
          </p:cNvPr>
          <p:cNvSpPr>
            <a:spLocks xmlns:a="http://schemas.openxmlformats.org/drawingml/2006/main" noGrp="1"/>
          </p:cNvSpPr>
          <p:nvPr/>
        </p:nvSpPr>
        <p:spPr>
          <a:xfrm xmlns:a="http://schemas.openxmlformats.org/drawingml/2006/main">
            <a:off x="7772400" y="4714875"/>
            <a:ext cx="1352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023"/>
          </a:bodyPr>
          <a:lstStyle xmlns:a="http://schemas.openxmlformats.org/drawingml/2006/main"/>
          <a:p xmlns:a="http://schemas.openxmlformats.org/drawingml/2006/main">
            <a:pPr algn="l">
              <a:lnSpc>
                <a:spcPct val="102000"/>
              </a:lnSpc>
              <a:buNone/>
              <a:defRPr sz="1125" b="1">
                <a:solidFill>
                  <a:srgbClr val="17241D"/>
                </a:solidFill>
                <a:latin typeface="Arial"/>
                <a:ea typeface="Arial"/>
                <a:cs typeface="Arial"/>
              </a:defRPr>
            </a:pPr>
            <a:r>
              <a:rPr sz="1125" b="1">
                <a:solidFill>
                  <a:srgbClr val="17241D"/>
                </a:solidFill>
                <a:latin typeface="Arial"/>
                <a:ea typeface="Arial"/>
                <a:cs typeface="Arial"/>
              </a:rPr>
              <a:t>depth where all current</a:t>
            </a:r>
          </a:p>
          <a:p xmlns:a="http://schemas.openxmlformats.org/drawingml/2006/main">
            <a:pPr algn="l">
              <a:lnSpc>
                <a:spcPct val="102000"/>
              </a:lnSpc>
              <a:buNone/>
              <a:defRPr sz="1125" b="1">
                <a:solidFill>
                  <a:srgbClr val="17241D"/>
                </a:solidFill>
                <a:latin typeface="Arial"/>
                <a:ea typeface="Arial"/>
                <a:cs typeface="Arial"/>
              </a:defRPr>
            </a:pPr>
            <a:r>
              <a:rPr sz="1125" b="1">
                <a:solidFill>
                  <a:srgbClr val="17241D"/>
                </a:solidFill>
                <a:latin typeface="Arial"/>
                <a:ea typeface="Arial"/>
                <a:cs typeface="Arial"/>
              </a:rPr>
              <a:t>fixtures have converged</a:t>
            </a:r>
          </a:p>
        </p:txBody>
      </p:sp>
      <p:sp>
        <p:nvSpPr>
          <p:cNvPr id="50" name="depth-card-2">
            <a:extLst xmlns:a="http://schemas.openxmlformats.org/drawingml/2006/main">
              <a:ext uri="{FF2B5EF4-FFF2-40B4-BE49-F238E27FC236}">
                <a16:creationId xmlns:a16="http://schemas.microsoft.com/office/drawing/2014/main" id="{754B243E-A743-4158-885A-61D4E281AC8F}"/>
              </a:ext>
            </a:extLst>
          </p:cNvPr>
          <p:cNvSpPr>
            <a:spLocks xmlns:a="http://schemas.openxmlformats.org/drawingml/2006/main" noGrp="1"/>
          </p:cNvSpPr>
          <p:nvPr/>
        </p:nvSpPr>
        <p:spPr>
          <a:xfrm xmlns:a="http://schemas.openxmlformats.org/drawingml/2006/main">
            <a:off x="9429750" y="4114800"/>
            <a:ext cx="2038350" cy="12573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1" name="depth-card-n-2">
            <a:extLst xmlns:a="http://schemas.openxmlformats.org/drawingml/2006/main">
              <a:ext uri="{FF2B5EF4-FFF2-40B4-BE49-F238E27FC236}">
                <a16:creationId xmlns:a16="http://schemas.microsoft.com/office/drawing/2014/main" id="{243359D2-2C6A-4840-A0CE-5E8E1250DBC1}"/>
              </a:ext>
            </a:extLst>
          </p:cNvPr>
          <p:cNvSpPr>
            <a:spLocks xmlns:a="http://schemas.openxmlformats.org/drawingml/2006/main" noGrp="1"/>
          </p:cNvSpPr>
          <p:nvPr/>
        </p:nvSpPr>
        <p:spPr>
          <a:xfrm xmlns:a="http://schemas.openxmlformats.org/drawingml/2006/main">
            <a:off x="9582150" y="4248150"/>
            <a:ext cx="1733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7241D"/>
                </a:solidFill>
                <a:latin typeface="Arial"/>
                <a:ea typeface="Arial"/>
                <a:cs typeface="Arial"/>
              </a:defRPr>
            </a:pPr>
            <a:r>
              <a:rPr sz="2550" b="1">
                <a:solidFill>
                  <a:srgbClr val="17241D"/>
                </a:solidFill>
                <a:latin typeface="Arial"/>
                <a:ea typeface="Arial"/>
                <a:cs typeface="Arial"/>
              </a:rPr>
              <a:t>20</a:t>
            </a:r>
          </a:p>
        </p:txBody>
      </p:sp>
      <p:sp>
        <p:nvSpPr>
          <p:cNvPr id="52" name="depth-card-t-2">
            <a:extLst xmlns:a="http://schemas.openxmlformats.org/drawingml/2006/main">
              <a:ext uri="{FF2B5EF4-FFF2-40B4-BE49-F238E27FC236}">
                <a16:creationId xmlns:a16="http://schemas.microsoft.com/office/drawing/2014/main" id="{D4FA1AD5-DD26-4FCA-A2A5-7F39EAD7AC9C}"/>
              </a:ext>
            </a:extLst>
          </p:cNvPr>
          <p:cNvSpPr>
            <a:spLocks xmlns:a="http://schemas.openxmlformats.org/drawingml/2006/main" noGrp="1"/>
          </p:cNvSpPr>
          <p:nvPr/>
        </p:nvSpPr>
        <p:spPr>
          <a:xfrm xmlns:a="http://schemas.openxmlformats.org/drawingml/2006/main">
            <a:off x="9582150" y="4714875"/>
            <a:ext cx="1733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17241D"/>
                </a:solidFill>
                <a:latin typeface="Arial"/>
                <a:ea typeface="Arial"/>
                <a:cs typeface="Arial"/>
              </a:defRPr>
            </a:pPr>
            <a:r>
              <a:rPr sz="1125" b="1">
                <a:solidFill>
                  <a:srgbClr val="17241D"/>
                </a:solidFill>
                <a:latin typeface="Arial"/>
                <a:ea typeface="Arial"/>
                <a:cs typeface="Arial"/>
              </a:rPr>
              <a:t>hard maximum for</a:t>
            </a:r>
          </a:p>
          <a:p xmlns:a="http://schemas.openxmlformats.org/drawingml/2006/main">
            <a:pPr algn="l">
              <a:lnSpc>
                <a:spcPct val="102000"/>
              </a:lnSpc>
              <a:buNone/>
              <a:defRPr sz="1125" b="1">
                <a:solidFill>
                  <a:srgbClr val="17241D"/>
                </a:solidFill>
                <a:latin typeface="Arial"/>
                <a:ea typeface="Arial"/>
                <a:cs typeface="Arial"/>
              </a:defRPr>
            </a:pPr>
            <a:r>
              <a:rPr sz="1125" b="1">
                <a:solidFill>
                  <a:srgbClr val="17241D"/>
                </a:solidFill>
                <a:latin typeface="Arial"/>
                <a:ea typeface="Arial"/>
                <a:cs typeface="Arial"/>
              </a:rPr>
              <a:t>interactive evaluation</a:t>
            </a:r>
          </a:p>
        </p:txBody>
      </p:sp>
      <p:sp>
        <p:nvSpPr>
          <p:cNvPr id="53" name="depth-warning">
            <a:extLst xmlns:a="http://schemas.openxmlformats.org/drawingml/2006/main">
              <a:ext uri="{FF2B5EF4-FFF2-40B4-BE49-F238E27FC236}">
                <a16:creationId xmlns:a16="http://schemas.microsoft.com/office/drawing/2014/main" id="{1FFE4878-C0F5-4E0B-AD2C-9FB8967C6262}"/>
              </a:ext>
            </a:extLst>
          </p:cNvPr>
          <p:cNvSpPr>
            <a:spLocks xmlns:a="http://schemas.openxmlformats.org/drawingml/2006/main" noGrp="1"/>
          </p:cNvSpPr>
          <p:nvPr/>
        </p:nvSpPr>
        <p:spPr>
          <a:xfrm xmlns:a="http://schemas.openxmlformats.org/drawingml/2006/main">
            <a:off x="5810250" y="5581650"/>
            <a:ext cx="565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41D"/>
                </a:solidFill>
                <a:latin typeface="Arial"/>
                <a:ea typeface="Arial"/>
                <a:cs typeface="Arial"/>
              </a:defRPr>
            </a:pPr>
            <a:r>
              <a:rPr sz="1275" b="1">
                <a:solidFill>
                  <a:srgbClr val="17241D"/>
                </a:solidFill>
                <a:latin typeface="Arial"/>
                <a:ea typeface="Arial"/>
                <a:cs typeface="Arial"/>
              </a:rPr>
              <a:t>A cutoff is reported; it is never silently converted into zero.</a:t>
            </a:r>
          </a:p>
        </p:txBody>
      </p:sp>
    </p:spTree>
    <p:extLst>
      <p:ext uri="{BB962C8B-B14F-4D97-AF65-F5344CB8AC3E}">
        <p14:creationId xmlns:p14="http://schemas.microsoft.com/office/powerpoint/2010/main" val="6818112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2-kicker">
            <a:extLst xmlns:a="http://schemas.openxmlformats.org/drawingml/2006/main">
              <a:ext uri="{FF2B5EF4-FFF2-40B4-BE49-F238E27FC236}">
                <a16:creationId xmlns:a16="http://schemas.microsoft.com/office/drawing/2014/main" id="{8A31AF0E-6182-48F2-AC8A-5FAAA1DDF40B}"/>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07</a:t>
            </a:r>
          </a:p>
        </p:txBody>
      </p:sp>
      <p:sp>
        <p:nvSpPr>
          <p:cNvPr id="2" name="slide-2-title">
            <a:extLst xmlns:a="http://schemas.openxmlformats.org/drawingml/2006/main">
              <a:ext uri="{FF2B5EF4-FFF2-40B4-BE49-F238E27FC236}">
                <a16:creationId xmlns:a16="http://schemas.microsoft.com/office/drawing/2014/main" id="{BFDED1FA-9454-4126-BE89-B9E0D1CF0DC4}"/>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225" b="1">
                <a:solidFill>
                  <a:srgbClr val="17241D"/>
                </a:solidFill>
                <a:latin typeface="Arial"/>
                <a:ea typeface="Arial"/>
                <a:cs typeface="Arial"/>
              </a:defRPr>
            </a:pPr>
            <a:r>
              <a:rPr sz="3225" b="1">
                <a:solidFill>
                  <a:srgbClr val="17241D"/>
                </a:solidFill>
                <a:latin typeface="Arial"/>
                <a:ea typeface="Arial"/>
                <a:cs typeface="Arial"/>
              </a:rPr>
              <a:t>Scenario boundaries remain separate from physical substitution.</a:t>
            </a:r>
          </a:p>
        </p:txBody>
      </p:sp>
      <p:sp>
        <p:nvSpPr>
          <p:cNvPr id="3" name="slide-2-subtitle">
            <a:extLst xmlns:a="http://schemas.openxmlformats.org/drawingml/2006/main">
              <a:ext uri="{FF2B5EF4-FFF2-40B4-BE49-F238E27FC236}">
                <a16:creationId xmlns:a16="http://schemas.microsoft.com/office/drawing/2014/main" id="{C4F281A8-4425-4888-9278-F87F29113463}"/>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The default is a purchase-good resource floor—not a prediction of retail equilibrium.</a:t>
            </a:r>
          </a:p>
        </p:txBody>
      </p:sp>
      <p:sp>
        <p:nvSpPr>
          <p:cNvPr id="4" name="price-stack-0">
            <a:extLst xmlns:a="http://schemas.openxmlformats.org/drawingml/2006/main">
              <a:ext uri="{FF2B5EF4-FFF2-40B4-BE49-F238E27FC236}">
                <a16:creationId xmlns:a16="http://schemas.microsoft.com/office/drawing/2014/main" id="{3AF5FEB1-8832-4E47-A44C-DDA2DF50C1F5}"/>
              </a:ext>
            </a:extLst>
          </p:cNvPr>
          <p:cNvSpPr>
            <a:spLocks xmlns:a="http://schemas.openxmlformats.org/drawingml/2006/main" noGrp="1"/>
          </p:cNvSpPr>
          <p:nvPr/>
        </p:nvSpPr>
        <p:spPr>
          <a:xfrm xmlns:a="http://schemas.openxmlformats.org/drawingml/2006/main">
            <a:off x="514350" y="2590800"/>
            <a:ext cx="3845137" cy="552450"/>
          </a:xfrm>
          <a:prstGeom xmlns:a="http://schemas.openxmlformats.org/drawingml/2006/main" prst="rect">
            <a:avLst/>
          </a:prstGeom>
          <a:solidFill xmlns:a="http://schemas.openxmlformats.org/drawingml/2006/main">
            <a:srgbClr val="8E7895"/>
          </a:solidFill>
          <a:ln xmlns:a="http://schemas.openxmlformats.org/drawingml/2006/main" w="0">
            <a:solidFill>
              <a:srgbClr val="8E7895"/>
            </a:solidFill>
            <a:prstDash val="solid"/>
          </a:ln>
        </p:spPr>
      </p:sp>
      <p:sp>
        <p:nvSpPr>
          <p:cNvPr id="5" name="price-stack-label-0">
            <a:extLst xmlns:a="http://schemas.openxmlformats.org/drawingml/2006/main">
              <a:ext uri="{FF2B5EF4-FFF2-40B4-BE49-F238E27FC236}">
                <a16:creationId xmlns:a16="http://schemas.microsoft.com/office/drawing/2014/main" id="{5883F9A8-1B73-4DE6-B92D-B1CD4C99717B}"/>
              </a:ext>
            </a:extLst>
          </p:cNvPr>
          <p:cNvSpPr>
            <a:spLocks xmlns:a="http://schemas.openxmlformats.org/drawingml/2006/main" noGrp="1"/>
          </p:cNvSpPr>
          <p:nvPr/>
        </p:nvSpPr>
        <p:spPr>
          <a:xfrm xmlns:a="http://schemas.openxmlformats.org/drawingml/2006/main">
            <a:off x="600075" y="2771775"/>
            <a:ext cx="3673687"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7476"/>
          </a:bodyPr>
          <a:lstStyle xmlns:a="http://schemas.openxmlformats.org/drawingml/2006/main"/>
          <a:p xmlns:a="http://schemas.openxmlformats.org/drawingml/2006/main">
            <a:pPr algn="ctr">
              <a:lnSpc>
                <a:spcPct val="95000"/>
              </a:lnSpc>
              <a:buNone/>
              <a:defRPr sz="975" b="1">
                <a:solidFill>
                  <a:srgbClr val="FFFFFF"/>
                </a:solidFill>
                <a:latin typeface="Arial"/>
                <a:ea typeface="Arial"/>
                <a:cs typeface="Arial"/>
              </a:defRPr>
            </a:pPr>
            <a:r>
              <a:rPr sz="975" b="1">
                <a:solidFill>
                  <a:srgbClr val="FFFFFF"/>
                </a:solidFill>
                <a:latin typeface="Arial"/>
                <a:ea typeface="Arial"/>
                <a:cs typeface="Arial"/>
              </a:rPr>
              <a:t>UNIT</a:t>
            </a:r>
          </a:p>
          <a:p xmlns:a="http://schemas.openxmlformats.org/drawingml/2006/main">
            <a:pPr algn="ctr">
              <a:lnSpc>
                <a:spcPct val="95000"/>
              </a:lnSpc>
              <a:buNone/>
              <a:defRPr sz="975" b="1">
                <a:solidFill>
                  <a:srgbClr val="FFFFFF"/>
                </a:solidFill>
                <a:latin typeface="Arial"/>
                <a:ea typeface="Arial"/>
                <a:cs typeface="Arial"/>
              </a:defRPr>
            </a:pPr>
            <a:r>
              <a:rPr sz="975" b="1">
                <a:solidFill>
                  <a:srgbClr val="FFFFFF"/>
                </a:solidFill>
                <a:latin typeface="Arial"/>
                <a:ea typeface="Arial"/>
                <a:cs typeface="Arial"/>
              </a:rPr>
              <a:t>purchase good</a:t>
            </a:r>
          </a:p>
        </p:txBody>
      </p:sp>
      <p:sp>
        <p:nvSpPr>
          <p:cNvPr id="6" name="price-stack-1">
            <a:extLst xmlns:a="http://schemas.openxmlformats.org/drawingml/2006/main">
              <a:ext uri="{FF2B5EF4-FFF2-40B4-BE49-F238E27FC236}">
                <a16:creationId xmlns:a16="http://schemas.microsoft.com/office/drawing/2014/main" id="{844CD950-A59E-47C8-883B-A43AD1B68759}"/>
              </a:ext>
            </a:extLst>
          </p:cNvPr>
          <p:cNvSpPr>
            <a:spLocks xmlns:a="http://schemas.openxmlformats.org/drawingml/2006/main" noGrp="1"/>
          </p:cNvSpPr>
          <p:nvPr/>
        </p:nvSpPr>
        <p:spPr>
          <a:xfrm xmlns:a="http://schemas.openxmlformats.org/drawingml/2006/main">
            <a:off x="4359487" y="2590800"/>
            <a:ext cx="3597063" cy="552450"/>
          </a:xfrm>
          <a:prstGeom xmlns:a="http://schemas.openxmlformats.org/drawingml/2006/main" prst="rect">
            <a:avLst/>
          </a:prstGeom>
          <a:solidFill xmlns:a="http://schemas.openxmlformats.org/drawingml/2006/main">
            <a:srgbClr val="FF5B35"/>
          </a:solidFill>
          <a:ln xmlns:a="http://schemas.openxmlformats.org/drawingml/2006/main" w="0">
            <a:solidFill>
              <a:srgbClr val="FF5B35"/>
            </a:solidFill>
            <a:prstDash val="solid"/>
          </a:ln>
        </p:spPr>
      </p:sp>
      <p:sp>
        <p:nvSpPr>
          <p:cNvPr id="7" name="price-stack-label-1">
            <a:extLst xmlns:a="http://schemas.openxmlformats.org/drawingml/2006/main">
              <a:ext uri="{FF2B5EF4-FFF2-40B4-BE49-F238E27FC236}">
                <a16:creationId xmlns:a16="http://schemas.microsoft.com/office/drawing/2014/main" id="{28A8EA9A-A536-4422-9116-75493835A60F}"/>
              </a:ext>
            </a:extLst>
          </p:cNvPr>
          <p:cNvSpPr>
            <a:spLocks xmlns:a="http://schemas.openxmlformats.org/drawingml/2006/main" noGrp="1"/>
          </p:cNvSpPr>
          <p:nvPr/>
        </p:nvSpPr>
        <p:spPr>
          <a:xfrm xmlns:a="http://schemas.openxmlformats.org/drawingml/2006/main">
            <a:off x="4445212" y="2771775"/>
            <a:ext cx="3425613"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7476"/>
          </a:bodyPr>
          <a:lstStyle xmlns:a="http://schemas.openxmlformats.org/drawingml/2006/main"/>
          <a:p xmlns:a="http://schemas.openxmlformats.org/drawingml/2006/main">
            <a:pPr algn="ctr">
              <a:lnSpc>
                <a:spcPct val="95000"/>
              </a:lnSpc>
              <a:buNone/>
              <a:defRPr sz="975" b="1">
                <a:solidFill>
                  <a:srgbClr val="FFFFFF"/>
                </a:solidFill>
                <a:latin typeface="Arial"/>
                <a:ea typeface="Arial"/>
                <a:cs typeface="Arial"/>
              </a:defRPr>
            </a:pPr>
            <a:r>
              <a:rPr sz="975" b="1">
                <a:solidFill>
                  <a:srgbClr val="FFFFFF"/>
                </a:solidFill>
                <a:latin typeface="Arial"/>
                <a:ea typeface="Arial"/>
                <a:cs typeface="Arial"/>
              </a:rPr>
              <a:t>REGION</a:t>
            </a:r>
          </a:p>
          <a:p xmlns:a="http://schemas.openxmlformats.org/drawingml/2006/main">
            <a:pPr algn="ctr">
              <a:lnSpc>
                <a:spcPct val="95000"/>
              </a:lnSpc>
              <a:buNone/>
              <a:defRPr sz="975" b="1">
                <a:solidFill>
                  <a:srgbClr val="FFFFFF"/>
                </a:solidFill>
                <a:latin typeface="Arial"/>
                <a:ea typeface="Arial"/>
                <a:cs typeface="Arial"/>
              </a:defRPr>
            </a:pPr>
            <a:r>
              <a:rPr sz="975" b="1">
                <a:solidFill>
                  <a:srgbClr val="FFFFFF"/>
                </a:solidFill>
                <a:latin typeface="Arial"/>
                <a:ea typeface="Arial"/>
                <a:cs typeface="Arial"/>
              </a:rPr>
              <a:t>California</a:t>
            </a:r>
          </a:p>
        </p:txBody>
      </p:sp>
      <p:sp>
        <p:nvSpPr>
          <p:cNvPr id="8" name="price-stack-2">
            <a:extLst xmlns:a="http://schemas.openxmlformats.org/drawingml/2006/main">
              <a:ext uri="{FF2B5EF4-FFF2-40B4-BE49-F238E27FC236}">
                <a16:creationId xmlns:a16="http://schemas.microsoft.com/office/drawing/2014/main" id="{A029A00D-0772-4745-8417-3613E3860988}"/>
              </a:ext>
            </a:extLst>
          </p:cNvPr>
          <p:cNvSpPr>
            <a:spLocks xmlns:a="http://schemas.openxmlformats.org/drawingml/2006/main" noGrp="1"/>
          </p:cNvSpPr>
          <p:nvPr/>
        </p:nvSpPr>
        <p:spPr>
          <a:xfrm xmlns:a="http://schemas.openxmlformats.org/drawingml/2006/main">
            <a:off x="7956550" y="2590800"/>
            <a:ext cx="1922568" cy="552450"/>
          </a:xfrm>
          <a:prstGeom xmlns:a="http://schemas.openxmlformats.org/drawingml/2006/main" prst="rect">
            <a:avLst/>
          </a:prstGeom>
          <a:solidFill xmlns:a="http://schemas.openxmlformats.org/drawingml/2006/main">
            <a:srgbClr val="3856D9"/>
          </a:solidFill>
          <a:ln xmlns:a="http://schemas.openxmlformats.org/drawingml/2006/main" w="0">
            <a:solidFill>
              <a:srgbClr val="3856D9"/>
            </a:solidFill>
            <a:prstDash val="solid"/>
          </a:ln>
        </p:spPr>
      </p:sp>
      <p:sp>
        <p:nvSpPr>
          <p:cNvPr id="9" name="price-stack-label-2">
            <a:extLst xmlns:a="http://schemas.openxmlformats.org/drawingml/2006/main">
              <a:ext uri="{FF2B5EF4-FFF2-40B4-BE49-F238E27FC236}">
                <a16:creationId xmlns:a16="http://schemas.microsoft.com/office/drawing/2014/main" id="{E0B0A066-1853-4DE3-A368-BCFF407F5C96}"/>
              </a:ext>
            </a:extLst>
          </p:cNvPr>
          <p:cNvSpPr>
            <a:spLocks xmlns:a="http://schemas.openxmlformats.org/drawingml/2006/main" noGrp="1"/>
          </p:cNvSpPr>
          <p:nvPr/>
        </p:nvSpPr>
        <p:spPr>
          <a:xfrm xmlns:a="http://schemas.openxmlformats.org/drawingml/2006/main">
            <a:off x="8042275" y="2771775"/>
            <a:ext cx="175111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7476"/>
          </a:bodyPr>
          <a:lstStyle xmlns:a="http://schemas.openxmlformats.org/drawingml/2006/main"/>
          <a:p xmlns:a="http://schemas.openxmlformats.org/drawingml/2006/main">
            <a:pPr algn="ctr">
              <a:lnSpc>
                <a:spcPct val="95000"/>
              </a:lnSpc>
              <a:buNone/>
              <a:defRPr sz="975" b="1">
                <a:solidFill>
                  <a:srgbClr val="FFFFFF"/>
                </a:solidFill>
                <a:latin typeface="Arial"/>
                <a:ea typeface="Arial"/>
                <a:cs typeface="Arial"/>
              </a:defRPr>
            </a:pPr>
            <a:r>
              <a:rPr sz="975" b="1">
                <a:solidFill>
                  <a:srgbClr val="FFFFFF"/>
                </a:solidFill>
                <a:latin typeface="Arial"/>
                <a:ea typeface="Arial"/>
                <a:cs typeface="Arial"/>
              </a:rPr>
              <a:t>POWER</a:t>
            </a:r>
          </a:p>
          <a:p xmlns:a="http://schemas.openxmlformats.org/drawingml/2006/main">
            <a:pPr algn="ctr">
              <a:lnSpc>
                <a:spcPct val="95000"/>
              </a:lnSpc>
              <a:buNone/>
              <a:defRPr sz="975" b="1">
                <a:solidFill>
                  <a:srgbClr val="FFFFFF"/>
                </a:solidFill>
                <a:latin typeface="Arial"/>
                <a:ea typeface="Arial"/>
                <a:cs typeface="Arial"/>
              </a:defRPr>
            </a:pPr>
            <a:r>
              <a:rPr sz="975" b="1">
                <a:solidFill>
                  <a:srgbClr val="FFFFFF"/>
                </a:solidFill>
                <a:latin typeface="Arial"/>
                <a:ea typeface="Arial"/>
                <a:cs typeface="Arial"/>
              </a:rPr>
              <a:t>$200/MWh</a:t>
            </a:r>
          </a:p>
        </p:txBody>
      </p:sp>
      <p:sp>
        <p:nvSpPr>
          <p:cNvPr id="10" name="price-stack-3">
            <a:extLst xmlns:a="http://schemas.openxmlformats.org/drawingml/2006/main">
              <a:ext uri="{FF2B5EF4-FFF2-40B4-BE49-F238E27FC236}">
                <a16:creationId xmlns:a16="http://schemas.microsoft.com/office/drawing/2014/main" id="{A18A1156-FCB4-4C69-8051-1DDC6826C65A}"/>
              </a:ext>
            </a:extLst>
          </p:cNvPr>
          <p:cNvSpPr>
            <a:spLocks xmlns:a="http://schemas.openxmlformats.org/drawingml/2006/main" noGrp="1"/>
          </p:cNvSpPr>
          <p:nvPr/>
        </p:nvSpPr>
        <p:spPr>
          <a:xfrm xmlns:a="http://schemas.openxmlformats.org/drawingml/2006/main">
            <a:off x="9879118" y="2590800"/>
            <a:ext cx="682202" cy="552450"/>
          </a:xfrm>
          <a:prstGeom xmlns:a="http://schemas.openxmlformats.org/drawingml/2006/main" prst="rect">
            <a:avLst/>
          </a:prstGeom>
          <a:solidFill xmlns:a="http://schemas.openxmlformats.org/drawingml/2006/main">
            <a:srgbClr val="E3B200"/>
          </a:solidFill>
          <a:ln xmlns:a="http://schemas.openxmlformats.org/drawingml/2006/main" w="0">
            <a:solidFill>
              <a:srgbClr val="E3B200"/>
            </a:solidFill>
            <a:prstDash val="solid"/>
          </a:ln>
        </p:spPr>
      </p:sp>
      <p:sp>
        <p:nvSpPr>
          <p:cNvPr id="11" name="price-stack-4">
            <a:extLst xmlns:a="http://schemas.openxmlformats.org/drawingml/2006/main">
              <a:ext uri="{FF2B5EF4-FFF2-40B4-BE49-F238E27FC236}">
                <a16:creationId xmlns:a16="http://schemas.microsoft.com/office/drawing/2014/main" id="{059F725E-B488-46E1-BC3B-DD0A4772E61F}"/>
              </a:ext>
            </a:extLst>
          </p:cNvPr>
          <p:cNvSpPr>
            <a:spLocks xmlns:a="http://schemas.openxmlformats.org/drawingml/2006/main" noGrp="1"/>
          </p:cNvSpPr>
          <p:nvPr/>
        </p:nvSpPr>
        <p:spPr>
          <a:xfrm xmlns:a="http://schemas.openxmlformats.org/drawingml/2006/main">
            <a:off x="10561320" y="2590800"/>
            <a:ext cx="930275" cy="552450"/>
          </a:xfrm>
          <a:prstGeom xmlns:a="http://schemas.openxmlformats.org/drawingml/2006/main" prst="rect">
            <a:avLst/>
          </a:prstGeom>
          <a:solidFill xmlns:a="http://schemas.openxmlformats.org/drawingml/2006/main">
            <a:srgbClr val="8A5A34"/>
          </a:solidFill>
          <a:ln xmlns:a="http://schemas.openxmlformats.org/drawingml/2006/main" w="0">
            <a:solidFill>
              <a:srgbClr val="8A5A34"/>
            </a:solidFill>
            <a:prstDash val="solid"/>
          </a:ln>
        </p:spPr>
      </p:sp>
      <p:sp>
        <p:nvSpPr>
          <p:cNvPr id="12" name="price-stack-label-4">
            <a:extLst xmlns:a="http://schemas.openxmlformats.org/drawingml/2006/main">
              <a:ext uri="{FF2B5EF4-FFF2-40B4-BE49-F238E27FC236}">
                <a16:creationId xmlns:a16="http://schemas.microsoft.com/office/drawing/2014/main" id="{B0C5DBB0-2F36-4A85-8C7F-1D1AAB5E099F}"/>
              </a:ext>
            </a:extLst>
          </p:cNvPr>
          <p:cNvSpPr>
            <a:spLocks xmlns:a="http://schemas.openxmlformats.org/drawingml/2006/main" noGrp="1"/>
          </p:cNvSpPr>
          <p:nvPr/>
        </p:nvSpPr>
        <p:spPr>
          <a:xfrm xmlns:a="http://schemas.openxmlformats.org/drawingml/2006/main">
            <a:off x="10647045" y="2771775"/>
            <a:ext cx="758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7476"/>
          </a:bodyPr>
          <a:lstStyle xmlns:a="http://schemas.openxmlformats.org/drawingml/2006/main"/>
          <a:p xmlns:a="http://schemas.openxmlformats.org/drawingml/2006/main">
            <a:pPr algn="ctr">
              <a:lnSpc>
                <a:spcPct val="95000"/>
              </a:lnSpc>
              <a:buNone/>
              <a:defRPr sz="975" b="1">
                <a:solidFill>
                  <a:srgbClr val="FFFFFF"/>
                </a:solidFill>
                <a:latin typeface="Arial"/>
                <a:ea typeface="Arial"/>
                <a:cs typeface="Arial"/>
              </a:defRPr>
            </a:pPr>
            <a:r>
              <a:rPr sz="975" b="1">
                <a:solidFill>
                  <a:srgbClr val="FFFFFF"/>
                </a:solidFill>
                <a:latin typeface="Arial"/>
                <a:ea typeface="Arial"/>
                <a:cs typeface="Arial"/>
              </a:rPr>
              <a:t>DEPTH</a:t>
            </a:r>
          </a:p>
          <a:p xmlns:a="http://schemas.openxmlformats.org/drawingml/2006/main">
            <a:pPr algn="ctr">
              <a:lnSpc>
                <a:spcPct val="95000"/>
              </a:lnSpc>
              <a:buNone/>
              <a:defRPr sz="975" b="1">
                <a:solidFill>
                  <a:srgbClr val="FFFFFF"/>
                </a:solidFill>
                <a:latin typeface="Arial"/>
                <a:ea typeface="Arial"/>
                <a:cs typeface="Arial"/>
              </a:defRPr>
            </a:pPr>
            <a:r>
              <a:rPr sz="975" b="1">
                <a:solidFill>
                  <a:srgbClr val="FFFFFF"/>
                </a:solidFill>
                <a:latin typeface="Arial"/>
                <a:ea typeface="Arial"/>
                <a:cs typeface="Arial"/>
              </a:rPr>
              <a:t>5</a:t>
            </a:r>
          </a:p>
        </p:txBody>
      </p:sp>
      <p:sp>
        <p:nvSpPr>
          <p:cNvPr id="13" name="price-stack-5">
            <a:extLst xmlns:a="http://schemas.openxmlformats.org/drawingml/2006/main">
              <a:ext uri="{FF2B5EF4-FFF2-40B4-BE49-F238E27FC236}">
                <a16:creationId xmlns:a16="http://schemas.microsoft.com/office/drawing/2014/main" id="{5F4DBD1C-25AE-4817-9DBC-BEF1E0A5EE44}"/>
              </a:ext>
            </a:extLst>
          </p:cNvPr>
          <p:cNvSpPr>
            <a:spLocks xmlns:a="http://schemas.openxmlformats.org/drawingml/2006/main" noGrp="1"/>
          </p:cNvSpPr>
          <p:nvPr/>
        </p:nvSpPr>
        <p:spPr>
          <a:xfrm xmlns:a="http://schemas.openxmlformats.org/drawingml/2006/main">
            <a:off x="11491595" y="2590800"/>
            <a:ext cx="186055" cy="552450"/>
          </a:xfrm>
          <a:prstGeom xmlns:a="http://schemas.openxmlformats.org/drawingml/2006/main" prst="rect">
            <a:avLst/>
          </a:prstGeom>
          <a:solidFill xmlns:a="http://schemas.openxmlformats.org/drawingml/2006/main">
            <a:srgbClr val="B45468"/>
          </a:solidFill>
          <a:ln xmlns:a="http://schemas.openxmlformats.org/drawingml/2006/main" w="0">
            <a:solidFill>
              <a:srgbClr val="B45468"/>
            </a:solidFill>
            <a:prstDash val="solid"/>
          </a:ln>
        </p:spPr>
      </p:sp>
      <p:sp>
        <p:nvSpPr>
          <p:cNvPr id="14" name="today-price-label">
            <a:extLst xmlns:a="http://schemas.openxmlformats.org/drawingml/2006/main">
              <a:ext uri="{FF2B5EF4-FFF2-40B4-BE49-F238E27FC236}">
                <a16:creationId xmlns:a16="http://schemas.microsoft.com/office/drawing/2014/main" id="{89BABFDB-7337-4F0F-8318-EFCA5655225D}"/>
              </a:ext>
            </a:extLst>
          </p:cNvPr>
          <p:cNvSpPr>
            <a:spLocks xmlns:a="http://schemas.openxmlformats.org/drawingml/2006/main" noGrp="1"/>
          </p:cNvSpPr>
          <p:nvPr/>
        </p:nvSpPr>
        <p:spPr>
          <a:xfrm xmlns:a="http://schemas.openxmlformats.org/drawingml/2006/main">
            <a:off x="514350" y="3238500"/>
            <a:ext cx="552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7241D"/>
                </a:solidFill>
                <a:latin typeface="Arial"/>
                <a:ea typeface="Arial"/>
                <a:cs typeface="Arial"/>
              </a:defRPr>
            </a:pPr>
            <a:r>
              <a:rPr sz="1275" b="1">
                <a:solidFill>
                  <a:srgbClr val="17241D"/>
                </a:solidFill>
                <a:latin typeface="Arial"/>
                <a:ea typeface="Arial"/>
                <a:cs typeface="Arial"/>
              </a:rPr>
              <a:t>BASELINE SCENARIO OBJECT · margin OFF · tax OFF</a:t>
            </a:r>
          </a:p>
        </p:txBody>
      </p:sp>
      <p:sp>
        <p:nvSpPr>
          <p:cNvPr id="15" name="collapse-panel">
            <a:extLst xmlns:a="http://schemas.openxmlformats.org/drawingml/2006/main">
              <a:ext uri="{FF2B5EF4-FFF2-40B4-BE49-F238E27FC236}">
                <a16:creationId xmlns:a16="http://schemas.microsoft.com/office/drawing/2014/main" id="{9832E239-112E-4797-8CEB-02F6160B0B8E}"/>
              </a:ext>
            </a:extLst>
          </p:cNvPr>
          <p:cNvSpPr>
            <a:spLocks xmlns:a="http://schemas.openxmlformats.org/drawingml/2006/main" noGrp="1"/>
          </p:cNvSpPr>
          <p:nvPr/>
        </p:nvSpPr>
        <p:spPr>
          <a:xfrm xmlns:a="http://schemas.openxmlformats.org/drawingml/2006/main">
            <a:off x="514350" y="3876675"/>
            <a:ext cx="5295900" cy="20002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6" name="collapse-kicker">
            <a:extLst xmlns:a="http://schemas.openxmlformats.org/drawingml/2006/main">
              <a:ext uri="{FF2B5EF4-FFF2-40B4-BE49-F238E27FC236}">
                <a16:creationId xmlns:a16="http://schemas.microsoft.com/office/drawing/2014/main" id="{90AF0956-0B8A-4F83-B186-541B75B2B6CD}"/>
              </a:ext>
            </a:extLst>
          </p:cNvPr>
          <p:cNvSpPr>
            <a:spLocks xmlns:a="http://schemas.openxmlformats.org/drawingml/2006/main" noGrp="1"/>
          </p:cNvSpPr>
          <p:nvPr/>
        </p:nvSpPr>
        <p:spPr>
          <a:xfrm xmlns:a="http://schemas.openxmlformats.org/drawingml/2006/main">
            <a:off x="742950" y="41052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FF5B35"/>
                </a:solidFill>
                <a:latin typeface="Arial"/>
                <a:ea typeface="Arial"/>
                <a:cs typeface="Arial"/>
              </a:defRPr>
            </a:pPr>
            <a:r>
              <a:rPr sz="1125" b="1">
                <a:solidFill>
                  <a:srgbClr val="FF5B35"/>
                </a:solidFill>
                <a:latin typeface="Arial"/>
                <a:ea typeface="Arial"/>
                <a:cs typeface="Arial"/>
              </a:rPr>
              <a:t>INSIDE THE FLOOR</a:t>
            </a:r>
          </a:p>
        </p:txBody>
      </p:sp>
      <p:sp>
        <p:nvSpPr>
          <p:cNvPr id="17" name="collapse-body">
            <a:extLst xmlns:a="http://schemas.openxmlformats.org/drawingml/2006/main">
              <a:ext uri="{FF2B5EF4-FFF2-40B4-BE49-F238E27FC236}">
                <a16:creationId xmlns:a16="http://schemas.microsoft.com/office/drawing/2014/main" id="{E300F182-3B5A-4959-94CE-FAEEC7C63E1F}"/>
              </a:ext>
            </a:extLst>
          </p:cNvPr>
          <p:cNvSpPr>
            <a:spLocks xmlns:a="http://schemas.openxmlformats.org/drawingml/2006/main" noGrp="1"/>
          </p:cNvSpPr>
          <p:nvPr/>
        </p:nvSpPr>
        <p:spPr>
          <a:xfrm xmlns:a="http://schemas.openxmlformats.org/drawingml/2006/main">
            <a:off x="742950" y="4486275"/>
            <a:ext cx="45243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7241D"/>
                </a:solidFill>
                <a:latin typeface="Arial"/>
                <a:ea typeface="Arial"/>
                <a:cs typeface="Arial"/>
              </a:defRPr>
            </a:pPr>
            <a:r>
              <a:rPr sz="1500" b="1">
                <a:solidFill>
                  <a:srgbClr val="17241D"/>
                </a:solidFill>
                <a:latin typeface="Arial"/>
                <a:ea typeface="Arial"/>
                <a:cs typeface="Arial"/>
              </a:rPr>
              <a:t>Direct and process energy</a:t>
            </a:r>
          </a:p>
          <a:p xmlns:a="http://schemas.openxmlformats.org/drawingml/2006/main">
            <a:pPr algn="l">
              <a:lnSpc>
                <a:spcPct val="105000"/>
              </a:lnSpc>
              <a:buNone/>
              <a:defRPr sz="1500" b="1">
                <a:solidFill>
                  <a:srgbClr val="17241D"/>
                </a:solidFill>
                <a:latin typeface="Arial"/>
                <a:ea typeface="Arial"/>
                <a:cs typeface="Arial"/>
              </a:defRPr>
            </a:pPr>
            <a:r>
              <a:rPr sz="1500" b="1">
                <a:solidFill>
                  <a:srgbClr val="17241D"/>
                </a:solidFill>
                <a:latin typeface="Arial"/>
                <a:ea typeface="Arial"/>
                <a:cs typeface="Arial"/>
              </a:rPr>
              <a:t>Replacement capital</a:t>
            </a:r>
          </a:p>
          <a:p xmlns:a="http://schemas.openxmlformats.org/drawingml/2006/main">
            <a:pPr algn="l">
              <a:lnSpc>
                <a:spcPct val="105000"/>
              </a:lnSpc>
              <a:buNone/>
              <a:defRPr sz="1500" b="1">
                <a:solidFill>
                  <a:srgbClr val="17241D"/>
                </a:solidFill>
                <a:latin typeface="Arial"/>
                <a:ea typeface="Arial"/>
                <a:cs typeface="Arial"/>
              </a:defRPr>
            </a:pPr>
            <a:r>
              <a:rPr sz="1500" b="1">
                <a:solidFill>
                  <a:srgbClr val="17241D"/>
                </a:solidFill>
                <a:latin typeface="Arial"/>
                <a:ea typeface="Arial"/>
                <a:cs typeface="Arial"/>
              </a:rPr>
              <a:t>Materials + land/scarcity</a:t>
            </a:r>
          </a:p>
        </p:txBody>
      </p:sp>
      <p:sp>
        <p:nvSpPr>
          <p:cNvPr id="18" name="remain-panel">
            <a:extLst xmlns:a="http://schemas.openxmlformats.org/drawingml/2006/main">
              <a:ext uri="{FF2B5EF4-FFF2-40B4-BE49-F238E27FC236}">
                <a16:creationId xmlns:a16="http://schemas.microsoft.com/office/drawing/2014/main" id="{DD28F069-A2CA-4EFB-90D1-A84EE9BF7E92}"/>
              </a:ext>
            </a:extLst>
          </p:cNvPr>
          <p:cNvSpPr>
            <a:spLocks xmlns:a="http://schemas.openxmlformats.org/drawingml/2006/main" noGrp="1"/>
          </p:cNvSpPr>
          <p:nvPr/>
        </p:nvSpPr>
        <p:spPr>
          <a:xfrm xmlns:a="http://schemas.openxmlformats.org/drawingml/2006/main">
            <a:off x="6381750" y="3876675"/>
            <a:ext cx="5295900" cy="200025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19" name="remain-kicker">
            <a:extLst xmlns:a="http://schemas.openxmlformats.org/drawingml/2006/main">
              <a:ext uri="{FF2B5EF4-FFF2-40B4-BE49-F238E27FC236}">
                <a16:creationId xmlns:a16="http://schemas.microsoft.com/office/drawing/2014/main" id="{279066AF-E222-4A5E-BCE5-C4533458B771}"/>
              </a:ext>
            </a:extLst>
          </p:cNvPr>
          <p:cNvSpPr>
            <a:spLocks xmlns:a="http://schemas.openxmlformats.org/drawingml/2006/main" noGrp="1"/>
          </p:cNvSpPr>
          <p:nvPr/>
        </p:nvSpPr>
        <p:spPr>
          <a:xfrm xmlns:a="http://schemas.openxmlformats.org/drawingml/2006/main">
            <a:off x="6610350" y="410527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267B62"/>
                </a:solidFill>
                <a:latin typeface="Arial"/>
                <a:ea typeface="Arial"/>
                <a:cs typeface="Arial"/>
              </a:defRPr>
            </a:pPr>
            <a:r>
              <a:rPr sz="1125" b="1">
                <a:solidFill>
                  <a:srgbClr val="267B62"/>
                </a:solidFill>
                <a:latin typeface="Arial"/>
                <a:ea typeface="Arial"/>
                <a:cs typeface="Arial"/>
              </a:rPr>
              <a:t>OUTSIDE THIS BOUNDARY</a:t>
            </a:r>
          </a:p>
        </p:txBody>
      </p:sp>
      <p:sp>
        <p:nvSpPr>
          <p:cNvPr id="20" name="remain-body">
            <a:extLst xmlns:a="http://schemas.openxmlformats.org/drawingml/2006/main">
              <a:ext uri="{FF2B5EF4-FFF2-40B4-BE49-F238E27FC236}">
                <a16:creationId xmlns:a16="http://schemas.microsoft.com/office/drawing/2014/main" id="{1ACE17E4-C001-4DA8-B6DF-A0340DB489E8}"/>
              </a:ext>
            </a:extLst>
          </p:cNvPr>
          <p:cNvSpPr>
            <a:spLocks xmlns:a="http://schemas.openxmlformats.org/drawingml/2006/main" noGrp="1"/>
          </p:cNvSpPr>
          <p:nvPr/>
        </p:nvSpPr>
        <p:spPr>
          <a:xfrm xmlns:a="http://schemas.openxmlformats.org/drawingml/2006/main">
            <a:off x="6610350" y="4486275"/>
            <a:ext cx="4572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7F5ED"/>
                </a:solidFill>
                <a:latin typeface="Arial"/>
                <a:ea typeface="Arial"/>
                <a:cs typeface="Arial"/>
              </a:defRPr>
            </a:pPr>
            <a:r>
              <a:rPr sz="1500" b="1">
                <a:solidFill>
                  <a:srgbClr val="F7F5ED"/>
                </a:solidFill>
                <a:latin typeface="Arial"/>
                <a:ea typeface="Arial"/>
                <a:cs typeface="Arial"/>
              </a:rPr>
              <a:t>Demand and willingness to pay</a:t>
            </a:r>
          </a:p>
          <a:p xmlns:a="http://schemas.openxmlformats.org/drawingml/2006/main">
            <a:pPr algn="l">
              <a:lnSpc>
                <a:spcPct val="105000"/>
              </a:lnSpc>
              <a:buNone/>
              <a:defRPr sz="1500" b="1">
                <a:solidFill>
                  <a:srgbClr val="F7F5ED"/>
                </a:solidFill>
                <a:latin typeface="Arial"/>
                <a:ea typeface="Arial"/>
                <a:cs typeface="Arial"/>
              </a:defRPr>
            </a:pPr>
            <a:r>
              <a:rPr sz="1500" b="1">
                <a:solidFill>
                  <a:srgbClr val="F7F5ED"/>
                </a:solidFill>
                <a:latin typeface="Arial"/>
                <a:ea typeface="Arial"/>
                <a:cs typeface="Arial"/>
              </a:rPr>
              <a:t>Financing and market power</a:t>
            </a:r>
          </a:p>
          <a:p xmlns:a="http://schemas.openxmlformats.org/drawingml/2006/main">
            <a:pPr algn="l">
              <a:lnSpc>
                <a:spcPct val="105000"/>
              </a:lnSpc>
              <a:buNone/>
              <a:defRPr sz="1500" b="1">
                <a:solidFill>
                  <a:srgbClr val="F7F5ED"/>
                </a:solidFill>
                <a:latin typeface="Arial"/>
                <a:ea typeface="Arial"/>
                <a:cs typeface="Arial"/>
              </a:defRPr>
            </a:pPr>
            <a:r>
              <a:rPr sz="1500" b="1">
                <a:solidFill>
                  <a:srgbClr val="F7F5ED"/>
                </a:solidFill>
                <a:latin typeface="Arial"/>
                <a:ea typeface="Arial"/>
                <a:cs typeface="Arial"/>
              </a:rPr>
              <a:t>Use-phase energy for purchase goods</a:t>
            </a:r>
          </a:p>
        </p:txBody>
      </p:sp>
      <p:sp>
        <p:nvSpPr>
          <p:cNvPr id="21" name="footer-2-left">
            <a:extLst xmlns:a="http://schemas.openxmlformats.org/drawingml/2006/main">
              <a:ext uri="{FF2B5EF4-FFF2-40B4-BE49-F238E27FC236}">
                <a16:creationId xmlns:a16="http://schemas.microsoft.com/office/drawing/2014/main" id="{814E4A4B-D2A5-431D-9ABC-AC407EC8B771}"/>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22" name="footer-2-number">
            <a:extLst xmlns:a="http://schemas.openxmlformats.org/drawingml/2006/main">
              <a:ext uri="{FF2B5EF4-FFF2-40B4-BE49-F238E27FC236}">
                <a16:creationId xmlns:a16="http://schemas.microsoft.com/office/drawing/2014/main" id="{02AB6D64-921D-4AF8-80DF-4C2A75541D67}"/>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07</a:t>
            </a:r>
          </a:p>
        </p:txBody>
      </p:sp>
    </p:spTree>
    <p:extLst>
      <p:ext uri="{BB962C8B-B14F-4D97-AF65-F5344CB8AC3E}">
        <p14:creationId xmlns:p14="http://schemas.microsoft.com/office/powerpoint/2010/main" val="5594208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lide-4-kicker">
            <a:extLst xmlns:a="http://schemas.openxmlformats.org/drawingml/2006/main">
              <a:ext uri="{FF2B5EF4-FFF2-40B4-BE49-F238E27FC236}">
                <a16:creationId xmlns:a16="http://schemas.microsoft.com/office/drawing/2014/main" id="{4BC77F1B-8748-4A53-9DD5-FC924BD0EE55}"/>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08</a:t>
            </a:r>
          </a:p>
        </p:txBody>
      </p:sp>
      <p:sp>
        <p:nvSpPr>
          <p:cNvPr id="2" name="slide-4-title">
            <a:extLst xmlns:a="http://schemas.openxmlformats.org/drawingml/2006/main">
              <a:ext uri="{FF2B5EF4-FFF2-40B4-BE49-F238E27FC236}">
                <a16:creationId xmlns:a16="http://schemas.microsoft.com/office/drawing/2014/main" id="{BAA3DE1E-2E0F-419A-8ED5-C84DECFD250D}"/>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17241D"/>
                </a:solidFill>
                <a:latin typeface="Arial"/>
                <a:ea typeface="Arial"/>
                <a:cs typeface="Arial"/>
              </a:defRPr>
            </a:pPr>
            <a:r>
              <a:rPr sz="3150" b="1">
                <a:solidFill>
                  <a:srgbClr val="17241D"/>
                </a:solidFill>
                <a:latin typeface="Arial"/>
                <a:ea typeface="Arial"/>
                <a:cs typeface="Arial"/>
              </a:rPr>
              <a:t>A node contributes either its residual or its children—never both.</a:t>
            </a:r>
          </a:p>
        </p:txBody>
      </p:sp>
      <p:sp>
        <p:nvSpPr>
          <p:cNvPr id="3" name="slide-4-subtitle">
            <a:extLst xmlns:a="http://schemas.openxmlformats.org/drawingml/2006/main">
              <a:ext uri="{FF2B5EF4-FFF2-40B4-BE49-F238E27FC236}">
                <a16:creationId xmlns:a16="http://schemas.microsoft.com/office/drawing/2014/main" id="{53F91C84-DA65-4814-BF0F-E5ED237A2F38}"/>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Whole-product life-cycle energy is an allocation envelope across branches, not an extra line item.</a:t>
            </a:r>
          </a:p>
        </p:txBody>
      </p:sp>
      <p:cxnSp>
        <p:nvCxnSpPr>
          <p:cNvPr id="58" name="r1"/>
          <p:cNvCxnSpPr/>
          <p:nvPr/>
        </p:nvCxnSpPr>
        <p:spPr>
          <a:xfrm xmlns:a="http://schemas.openxmlformats.org/drawingml/2006/main" flipH="0" flipV="0">
            <a:off x="2667000" y="3571875"/>
            <a:ext cx="666750" cy="0"/>
          </a:xfrm>
          <a:prstGeom xmlns:a="http://schemas.openxmlformats.org/drawingml/2006/main" prst="straightConnector1">
            <a:avLst/>
          </a:prstGeom>
          <a:ln xmlns:a="http://schemas.openxmlformats.org/drawingml/2006/main" w="19050">
            <a:solidFill>
              <a:srgbClr val="B8BCC4"/>
            </a:solidFill>
            <a:prstDash val="solid"/>
          </a:ln>
        </p:spPr>
      </p:cxnSp>
      <p:cxnSp>
        <p:nvCxnSpPr>
          <p:cNvPr id="59" name="r2"/>
          <p:cNvCxnSpPr/>
          <p:nvPr/>
        </p:nvCxnSpPr>
        <p:spPr>
          <a:xfrm xmlns:a="http://schemas.openxmlformats.org/drawingml/2006/main" flipH="0" flipV="1">
            <a:off x="5524500" y="2771775"/>
            <a:ext cx="685800" cy="800100"/>
          </a:xfrm>
          <a:prstGeom xmlns:a="http://schemas.openxmlformats.org/drawingml/2006/main" prst="straightConnector1">
            <a:avLst/>
          </a:prstGeom>
          <a:ln xmlns:a="http://schemas.openxmlformats.org/drawingml/2006/main" w="19050">
            <a:solidFill>
              <a:srgbClr val="B8BCC4"/>
            </a:solidFill>
            <a:prstDash val="solid"/>
          </a:ln>
        </p:spPr>
      </p:cxnSp>
      <p:cxnSp>
        <p:nvCxnSpPr>
          <p:cNvPr id="60" name="r3"/>
          <p:cNvCxnSpPr/>
          <p:nvPr/>
        </p:nvCxnSpPr>
        <p:spPr>
          <a:xfrm xmlns:a="http://schemas.openxmlformats.org/drawingml/2006/main" flipH="0" flipV="0">
            <a:off x="5524500" y="3571875"/>
            <a:ext cx="685800" cy="876300"/>
          </a:xfrm>
          <a:prstGeom xmlns:a="http://schemas.openxmlformats.org/drawingml/2006/main" prst="straightConnector1">
            <a:avLst/>
          </a:prstGeom>
          <a:ln xmlns:a="http://schemas.openxmlformats.org/drawingml/2006/main" w="19050">
            <a:solidFill>
              <a:srgbClr val="B8BCC4"/>
            </a:solidFill>
            <a:prstDash val="solid"/>
          </a:ln>
        </p:spPr>
      </p:cxnSp>
      <p:cxnSp>
        <p:nvCxnSpPr>
          <p:cNvPr id="61" name="r4"/>
          <p:cNvCxnSpPr/>
          <p:nvPr/>
        </p:nvCxnSpPr>
        <p:spPr>
          <a:xfrm xmlns:a="http://schemas.openxmlformats.org/drawingml/2006/main" flipH="0" flipV="1">
            <a:off x="7905750" y="3667125"/>
            <a:ext cx="495300" cy="781050"/>
          </a:xfrm>
          <a:prstGeom xmlns:a="http://schemas.openxmlformats.org/drawingml/2006/main" prst="straightConnector1">
            <a:avLst/>
          </a:prstGeom>
          <a:ln xmlns:a="http://schemas.openxmlformats.org/drawingml/2006/main" w="19050">
            <a:solidFill>
              <a:srgbClr val="B8BCC4"/>
            </a:solidFill>
            <a:prstDash val="solid"/>
          </a:ln>
        </p:spPr>
      </p:cxnSp>
      <p:cxnSp>
        <p:nvCxnSpPr>
          <p:cNvPr id="62" name="r5"/>
          <p:cNvCxnSpPr/>
          <p:nvPr/>
        </p:nvCxnSpPr>
        <p:spPr>
          <a:xfrm xmlns:a="http://schemas.openxmlformats.org/drawingml/2006/main" flipH="0" flipV="0">
            <a:off x="7905750" y="4448175"/>
            <a:ext cx="495300" cy="0"/>
          </a:xfrm>
          <a:prstGeom xmlns:a="http://schemas.openxmlformats.org/drawingml/2006/main" prst="straightConnector1">
            <a:avLst/>
          </a:prstGeom>
          <a:ln xmlns:a="http://schemas.openxmlformats.org/drawingml/2006/main" w="19050">
            <a:solidFill>
              <a:srgbClr val="B8BCC4"/>
            </a:solidFill>
            <a:prstDash val="solid"/>
          </a:ln>
        </p:spPr>
      </p:cxnSp>
      <p:cxnSp>
        <p:nvCxnSpPr>
          <p:cNvPr id="63" name="r6"/>
          <p:cNvCxnSpPr/>
          <p:nvPr/>
        </p:nvCxnSpPr>
        <p:spPr>
          <a:xfrm xmlns:a="http://schemas.openxmlformats.org/drawingml/2006/main" flipH="0" flipV="0">
            <a:off x="7905750" y="4448175"/>
            <a:ext cx="495300" cy="800100"/>
          </a:xfrm>
          <a:prstGeom xmlns:a="http://schemas.openxmlformats.org/drawingml/2006/main" prst="straightConnector1">
            <a:avLst/>
          </a:prstGeom>
          <a:ln xmlns:a="http://schemas.openxmlformats.org/drawingml/2006/main" w="19050">
            <a:solidFill>
              <a:srgbClr val="B8BCC4"/>
            </a:solidFill>
            <a:prstDash val="solid"/>
          </a:ln>
        </p:spPr>
      </p:cxnSp>
      <p:sp>
        <p:nvSpPr>
          <p:cNvPr id="10" name="labor-node-box">
            <a:extLst xmlns:a="http://schemas.openxmlformats.org/drawingml/2006/main">
              <a:ext uri="{FF2B5EF4-FFF2-40B4-BE49-F238E27FC236}">
                <a16:creationId xmlns:a16="http://schemas.microsoft.com/office/drawing/2014/main" id="{89C0B2F5-0CB1-4CB1-AEDD-9A2EB9F262E1}"/>
              </a:ext>
            </a:extLst>
          </p:cNvPr>
          <p:cNvSpPr>
            <a:spLocks xmlns:a="http://schemas.openxmlformats.org/drawingml/2006/main" noGrp="1"/>
          </p:cNvSpPr>
          <p:nvPr/>
        </p:nvSpPr>
        <p:spPr>
          <a:xfrm xmlns:a="http://schemas.openxmlformats.org/drawingml/2006/main">
            <a:off x="514350" y="3067050"/>
            <a:ext cx="2152650" cy="1009650"/>
          </a:xfrm>
          <a:prstGeom xmlns:a="http://schemas.openxmlformats.org/drawingml/2006/main" prst="rect">
            <a:avLst/>
          </a:prstGeom>
          <a:solidFill xmlns:a="http://schemas.openxmlformats.org/drawingml/2006/main">
            <a:srgbClr val="FFF0EB"/>
          </a:solidFill>
          <a:ln xmlns:a="http://schemas.openxmlformats.org/drawingml/2006/main" w="9525">
            <a:solidFill>
              <a:srgbClr val="FF5B35"/>
            </a:solidFill>
            <a:prstDash val="solid"/>
          </a:ln>
        </p:spPr>
      </p:sp>
      <p:sp>
        <p:nvSpPr>
          <p:cNvPr id="11" name="labor-node-kicker">
            <a:extLst xmlns:a="http://schemas.openxmlformats.org/drawingml/2006/main">
              <a:ext uri="{FF2B5EF4-FFF2-40B4-BE49-F238E27FC236}">
                <a16:creationId xmlns:a16="http://schemas.microsoft.com/office/drawing/2014/main" id="{DB40ADBB-66A7-48C3-A49B-9F775611E7A0}"/>
              </a:ext>
            </a:extLst>
          </p:cNvPr>
          <p:cNvSpPr>
            <a:spLocks xmlns:a="http://schemas.openxmlformats.org/drawingml/2006/main" noGrp="1"/>
          </p:cNvSpPr>
          <p:nvPr/>
        </p:nvSpPr>
        <p:spPr>
          <a:xfrm xmlns:a="http://schemas.openxmlformats.org/drawingml/2006/main">
            <a:off x="685800" y="32099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FF5B35"/>
                </a:solidFill>
                <a:latin typeface="Arial"/>
                <a:ea typeface="Arial"/>
                <a:cs typeface="Arial"/>
              </a:defRPr>
            </a:pPr>
            <a:r>
              <a:rPr sz="975" b="1">
                <a:solidFill>
                  <a:srgbClr val="FF5B35"/>
                </a:solidFill>
                <a:latin typeface="Arial"/>
                <a:ea typeface="Arial"/>
                <a:cs typeface="Arial"/>
              </a:rPr>
              <a:t>CURRENT NODE</a:t>
            </a:r>
          </a:p>
        </p:txBody>
      </p:sp>
      <p:sp>
        <p:nvSpPr>
          <p:cNvPr id="12" name="labor-node-title">
            <a:extLst xmlns:a="http://schemas.openxmlformats.org/drawingml/2006/main">
              <a:ext uri="{FF2B5EF4-FFF2-40B4-BE49-F238E27FC236}">
                <a16:creationId xmlns:a16="http://schemas.microsoft.com/office/drawing/2014/main" id="{B220C114-2AC1-4A0D-8AE6-377FB1862B4A}"/>
              </a:ext>
            </a:extLst>
          </p:cNvPr>
          <p:cNvSpPr>
            <a:spLocks xmlns:a="http://schemas.openxmlformats.org/drawingml/2006/main" noGrp="1"/>
          </p:cNvSpPr>
          <p:nvPr/>
        </p:nvSpPr>
        <p:spPr>
          <a:xfrm xmlns:a="http://schemas.openxmlformats.org/drawingml/2006/main">
            <a:off x="685800" y="3429000"/>
            <a:ext cx="1809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650" b="1">
                <a:solidFill>
                  <a:srgbClr val="17241D"/>
                </a:solidFill>
                <a:latin typeface="Arial"/>
                <a:ea typeface="Arial"/>
                <a:cs typeface="Arial"/>
              </a:defRPr>
            </a:pPr>
            <a:r>
              <a:rPr sz="1650" b="1">
                <a:solidFill>
                  <a:srgbClr val="17241D"/>
                </a:solidFill>
                <a:latin typeface="Arial"/>
                <a:ea typeface="Arial"/>
                <a:cs typeface="Arial"/>
              </a:rPr>
              <a:t>Aggregate</a:t>
            </a:r>
          </a:p>
          <a:p xmlns:a="http://schemas.openxmlformats.org/drawingml/2006/main">
            <a:pPr algn="l">
              <a:buNone/>
              <a:defRPr sz="1650" b="1">
                <a:solidFill>
                  <a:srgbClr val="17241D"/>
                </a:solidFill>
                <a:latin typeface="Arial"/>
                <a:ea typeface="Arial"/>
                <a:cs typeface="Arial"/>
              </a:defRPr>
            </a:pPr>
            <a:r>
              <a:rPr sz="1650" b="1">
                <a:solidFill>
                  <a:srgbClr val="17241D"/>
                </a:solidFill>
                <a:latin typeface="Arial"/>
                <a:ea typeface="Arial"/>
                <a:cs typeface="Arial"/>
              </a:rPr>
              <a:t>cost cₙ</a:t>
            </a:r>
          </a:p>
        </p:txBody>
      </p:sp>
      <p:sp>
        <p:nvSpPr>
          <p:cNvPr id="13" name="robot-node-box">
            <a:extLst xmlns:a="http://schemas.openxmlformats.org/drawingml/2006/main">
              <a:ext uri="{FF2B5EF4-FFF2-40B4-BE49-F238E27FC236}">
                <a16:creationId xmlns:a16="http://schemas.microsoft.com/office/drawing/2014/main" id="{96853F1A-0EA7-4106-86EC-A5C8331F1424}"/>
              </a:ext>
            </a:extLst>
          </p:cNvPr>
          <p:cNvSpPr>
            <a:spLocks xmlns:a="http://schemas.openxmlformats.org/drawingml/2006/main" noGrp="1"/>
          </p:cNvSpPr>
          <p:nvPr/>
        </p:nvSpPr>
        <p:spPr>
          <a:xfrm xmlns:a="http://schemas.openxmlformats.org/drawingml/2006/main">
            <a:off x="3333750" y="3067050"/>
            <a:ext cx="2190750" cy="10096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4" name="robot-node-kicker">
            <a:extLst xmlns:a="http://schemas.openxmlformats.org/drawingml/2006/main">
              <a:ext uri="{FF2B5EF4-FFF2-40B4-BE49-F238E27FC236}">
                <a16:creationId xmlns:a16="http://schemas.microsoft.com/office/drawing/2014/main" id="{3FFE9474-51AA-49E5-9120-A706C2FF10E4}"/>
              </a:ext>
            </a:extLst>
          </p:cNvPr>
          <p:cNvSpPr>
            <a:spLocks xmlns:a="http://schemas.openxmlformats.org/drawingml/2006/main" noGrp="1"/>
          </p:cNvSpPr>
          <p:nvPr/>
        </p:nvSpPr>
        <p:spPr>
          <a:xfrm xmlns:a="http://schemas.openxmlformats.org/drawingml/2006/main">
            <a:off x="3505200" y="3209925"/>
            <a:ext cx="1847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FF5B35"/>
                </a:solidFill>
                <a:latin typeface="Arial"/>
                <a:ea typeface="Arial"/>
                <a:cs typeface="Arial"/>
              </a:defRPr>
            </a:pPr>
            <a:r>
              <a:rPr sz="975" b="1">
                <a:solidFill>
                  <a:srgbClr val="FF5B35"/>
                </a:solidFill>
                <a:latin typeface="Arial"/>
                <a:ea typeface="Arial"/>
                <a:cs typeface="Arial"/>
              </a:rPr>
              <a:t>DECISION</a:t>
            </a:r>
          </a:p>
        </p:txBody>
      </p:sp>
      <p:sp>
        <p:nvSpPr>
          <p:cNvPr id="15" name="robot-node-title">
            <a:extLst xmlns:a="http://schemas.openxmlformats.org/drawingml/2006/main">
              <a:ext uri="{FF2B5EF4-FFF2-40B4-BE49-F238E27FC236}">
                <a16:creationId xmlns:a16="http://schemas.microsoft.com/office/drawing/2014/main" id="{11E38215-BF3A-4461-BAB7-866681DF3BFC}"/>
              </a:ext>
            </a:extLst>
          </p:cNvPr>
          <p:cNvSpPr>
            <a:spLocks xmlns:a="http://schemas.openxmlformats.org/drawingml/2006/main" noGrp="1"/>
          </p:cNvSpPr>
          <p:nvPr/>
        </p:nvSpPr>
        <p:spPr>
          <a:xfrm xmlns:a="http://schemas.openxmlformats.org/drawingml/2006/main">
            <a:off x="3505200" y="3429000"/>
            <a:ext cx="1847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725" b="1">
                <a:solidFill>
                  <a:srgbClr val="17241D"/>
                </a:solidFill>
                <a:latin typeface="Arial"/>
                <a:ea typeface="Arial"/>
                <a:cs typeface="Arial"/>
              </a:defRPr>
            </a:pPr>
            <a:r>
              <a:rPr sz="1725" b="1">
                <a:solidFill>
                  <a:srgbClr val="17241D"/>
                </a:solidFill>
                <a:latin typeface="Arial"/>
                <a:ea typeface="Arial"/>
                <a:cs typeface="Arial"/>
              </a:rPr>
              <a:t>Expand?</a:t>
            </a:r>
          </a:p>
        </p:txBody>
      </p:sp>
      <p:sp>
        <p:nvSpPr>
          <p:cNvPr id="16" name="operating-node-box">
            <a:extLst xmlns:a="http://schemas.openxmlformats.org/drawingml/2006/main">
              <a:ext uri="{FF2B5EF4-FFF2-40B4-BE49-F238E27FC236}">
                <a16:creationId xmlns:a16="http://schemas.microsoft.com/office/drawing/2014/main" id="{7973A337-3884-42FD-8B45-8921A87C0C5B}"/>
              </a:ext>
            </a:extLst>
          </p:cNvPr>
          <p:cNvSpPr>
            <a:spLocks xmlns:a="http://schemas.openxmlformats.org/drawingml/2006/main" noGrp="1"/>
          </p:cNvSpPr>
          <p:nvPr/>
        </p:nvSpPr>
        <p:spPr>
          <a:xfrm xmlns:a="http://schemas.openxmlformats.org/drawingml/2006/main">
            <a:off x="6210300" y="2305050"/>
            <a:ext cx="1695450" cy="933450"/>
          </a:xfrm>
          <a:prstGeom xmlns:a="http://schemas.openxmlformats.org/drawingml/2006/main" prst="rect">
            <a:avLst/>
          </a:prstGeom>
          <a:solidFill xmlns:a="http://schemas.openxmlformats.org/drawingml/2006/main">
            <a:srgbClr val="FFF8D9"/>
          </a:solidFill>
          <a:ln xmlns:a="http://schemas.openxmlformats.org/drawingml/2006/main" w="9525">
            <a:solidFill>
              <a:srgbClr val="E3B200"/>
            </a:solidFill>
            <a:prstDash val="solid"/>
          </a:ln>
        </p:spPr>
      </p:sp>
      <p:sp>
        <p:nvSpPr>
          <p:cNvPr id="17" name="operating-node-kicker">
            <a:extLst xmlns:a="http://schemas.openxmlformats.org/drawingml/2006/main">
              <a:ext uri="{FF2B5EF4-FFF2-40B4-BE49-F238E27FC236}">
                <a16:creationId xmlns:a16="http://schemas.microsoft.com/office/drawing/2014/main" id="{B5F21727-A152-4B25-BC9A-FF144E34A043}"/>
              </a:ext>
            </a:extLst>
          </p:cNvPr>
          <p:cNvSpPr>
            <a:spLocks xmlns:a="http://schemas.openxmlformats.org/drawingml/2006/main" noGrp="1"/>
          </p:cNvSpPr>
          <p:nvPr/>
        </p:nvSpPr>
        <p:spPr>
          <a:xfrm xmlns:a="http://schemas.openxmlformats.org/drawingml/2006/main">
            <a:off x="6381750" y="244792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67B62"/>
                </a:solidFill>
                <a:latin typeface="Arial"/>
                <a:ea typeface="Arial"/>
                <a:cs typeface="Arial"/>
              </a:defRPr>
            </a:pPr>
            <a:r>
              <a:rPr sz="975" b="1">
                <a:solidFill>
                  <a:srgbClr val="267B62"/>
                </a:solidFill>
                <a:latin typeface="Arial"/>
                <a:ea typeface="Arial"/>
                <a:cs typeface="Arial"/>
              </a:rPr>
              <a:t>NO</a:t>
            </a:r>
          </a:p>
        </p:txBody>
      </p:sp>
      <p:sp>
        <p:nvSpPr>
          <p:cNvPr id="18" name="operating-node-title">
            <a:extLst xmlns:a="http://schemas.openxmlformats.org/drawingml/2006/main">
              <a:ext uri="{FF2B5EF4-FFF2-40B4-BE49-F238E27FC236}">
                <a16:creationId xmlns:a16="http://schemas.microsoft.com/office/drawing/2014/main" id="{ADFCC1AA-B8DB-4738-8A7C-B95E9B24AA97}"/>
              </a:ext>
            </a:extLst>
          </p:cNvPr>
          <p:cNvSpPr>
            <a:spLocks xmlns:a="http://schemas.openxmlformats.org/drawingml/2006/main" noGrp="1"/>
          </p:cNvSpPr>
          <p:nvPr/>
        </p:nvSpPr>
        <p:spPr>
          <a:xfrm xmlns:a="http://schemas.openxmlformats.org/drawingml/2006/main">
            <a:off x="6381750" y="26670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425" b="1">
                <a:solidFill>
                  <a:srgbClr val="17241D"/>
                </a:solidFill>
                <a:latin typeface="Arial"/>
                <a:ea typeface="Arial"/>
                <a:cs typeface="Arial"/>
              </a:defRPr>
            </a:pPr>
            <a:r>
              <a:rPr sz="1425" b="1">
                <a:solidFill>
                  <a:srgbClr val="17241D"/>
                </a:solidFill>
                <a:latin typeface="Arial"/>
                <a:ea typeface="Arial"/>
                <a:cs typeface="Arial"/>
              </a:rPr>
              <a:t>Keep declared</a:t>
            </a:r>
          </a:p>
          <a:p xmlns:a="http://schemas.openxmlformats.org/drawingml/2006/main">
            <a:pPr algn="l">
              <a:buNone/>
              <a:defRPr sz="1425" b="1">
                <a:solidFill>
                  <a:srgbClr val="17241D"/>
                </a:solidFill>
                <a:latin typeface="Arial"/>
                <a:ea typeface="Arial"/>
                <a:cs typeface="Arial"/>
              </a:defRPr>
            </a:pPr>
            <a:r>
              <a:rPr sz="1425" b="1">
                <a:solidFill>
                  <a:srgbClr val="17241D"/>
                </a:solidFill>
                <a:latin typeface="Arial"/>
                <a:ea typeface="Arial"/>
                <a:cs typeface="Arial"/>
              </a:rPr>
              <a:t>residual</a:t>
            </a:r>
          </a:p>
        </p:txBody>
      </p:sp>
      <p:sp>
        <p:nvSpPr>
          <p:cNvPr id="19" name="capital-node-box">
            <a:extLst xmlns:a="http://schemas.openxmlformats.org/drawingml/2006/main">
              <a:ext uri="{FF2B5EF4-FFF2-40B4-BE49-F238E27FC236}">
                <a16:creationId xmlns:a16="http://schemas.microsoft.com/office/drawing/2014/main" id="{B512C008-838E-4A21-A659-19F20B3260CE}"/>
              </a:ext>
            </a:extLst>
          </p:cNvPr>
          <p:cNvSpPr>
            <a:spLocks xmlns:a="http://schemas.openxmlformats.org/drawingml/2006/main" noGrp="1"/>
          </p:cNvSpPr>
          <p:nvPr/>
        </p:nvSpPr>
        <p:spPr>
          <a:xfrm xmlns:a="http://schemas.openxmlformats.org/drawingml/2006/main">
            <a:off x="6210300" y="3981450"/>
            <a:ext cx="1695450" cy="933450"/>
          </a:xfrm>
          <a:prstGeom xmlns:a="http://schemas.openxmlformats.org/drawingml/2006/main" prst="rect">
            <a:avLst/>
          </a:prstGeom>
          <a:solidFill xmlns:a="http://schemas.openxmlformats.org/drawingml/2006/main">
            <a:srgbClr val="E8EDFF"/>
          </a:solidFill>
          <a:ln xmlns:a="http://schemas.openxmlformats.org/drawingml/2006/main" w="9525">
            <a:solidFill>
              <a:srgbClr val="3856D9"/>
            </a:solidFill>
            <a:prstDash val="solid"/>
          </a:ln>
        </p:spPr>
      </p:sp>
      <p:sp>
        <p:nvSpPr>
          <p:cNvPr id="20" name="capital-node-kicker">
            <a:extLst xmlns:a="http://schemas.openxmlformats.org/drawingml/2006/main">
              <a:ext uri="{FF2B5EF4-FFF2-40B4-BE49-F238E27FC236}">
                <a16:creationId xmlns:a16="http://schemas.microsoft.com/office/drawing/2014/main" id="{374A2357-BF67-4516-ADC2-567F9445E018}"/>
              </a:ext>
            </a:extLst>
          </p:cNvPr>
          <p:cNvSpPr>
            <a:spLocks xmlns:a="http://schemas.openxmlformats.org/drawingml/2006/main" noGrp="1"/>
          </p:cNvSpPr>
          <p:nvPr/>
        </p:nvSpPr>
        <p:spPr>
          <a:xfrm xmlns:a="http://schemas.openxmlformats.org/drawingml/2006/main">
            <a:off x="6381750" y="412432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3856D9"/>
                </a:solidFill>
                <a:latin typeface="Arial"/>
                <a:ea typeface="Arial"/>
                <a:cs typeface="Arial"/>
              </a:defRPr>
            </a:pPr>
            <a:r>
              <a:rPr sz="975" b="1">
                <a:solidFill>
                  <a:srgbClr val="3856D9"/>
                </a:solidFill>
                <a:latin typeface="Arial"/>
                <a:ea typeface="Arial"/>
                <a:cs typeface="Arial"/>
              </a:rPr>
              <a:t>YES</a:t>
            </a:r>
          </a:p>
        </p:txBody>
      </p:sp>
      <p:sp>
        <p:nvSpPr>
          <p:cNvPr id="21" name="capital-node-title">
            <a:extLst xmlns:a="http://schemas.openxmlformats.org/drawingml/2006/main">
              <a:ext uri="{FF2B5EF4-FFF2-40B4-BE49-F238E27FC236}">
                <a16:creationId xmlns:a16="http://schemas.microsoft.com/office/drawing/2014/main" id="{68218246-0C01-49AA-AF98-15D3B8E29561}"/>
              </a:ext>
            </a:extLst>
          </p:cNvPr>
          <p:cNvSpPr>
            <a:spLocks xmlns:a="http://schemas.openxmlformats.org/drawingml/2006/main" noGrp="1"/>
          </p:cNvSpPr>
          <p:nvPr/>
        </p:nvSpPr>
        <p:spPr>
          <a:xfrm xmlns:a="http://schemas.openxmlformats.org/drawingml/2006/main">
            <a:off x="6381750" y="43434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75" b="1">
                <a:solidFill>
                  <a:srgbClr val="17241D"/>
                </a:solidFill>
                <a:latin typeface="Arial"/>
                <a:ea typeface="Arial"/>
                <a:cs typeface="Arial"/>
              </a:defRPr>
            </a:pPr>
            <a:r>
              <a:rPr sz="1575" b="1">
                <a:solidFill>
                  <a:srgbClr val="17241D"/>
                </a:solidFill>
                <a:latin typeface="Arial"/>
                <a:ea typeface="Arial"/>
                <a:cs typeface="Arial"/>
              </a:rPr>
              <a:t>Sum children</a:t>
            </a:r>
          </a:p>
        </p:txBody>
      </p:sp>
      <p:sp>
        <p:nvSpPr>
          <p:cNvPr id="22" name="matter-node-box">
            <a:extLst xmlns:a="http://schemas.openxmlformats.org/drawingml/2006/main">
              <a:ext uri="{FF2B5EF4-FFF2-40B4-BE49-F238E27FC236}">
                <a16:creationId xmlns:a16="http://schemas.microsoft.com/office/drawing/2014/main" id="{850959B3-1961-4169-AD59-EBA8114DF55C}"/>
              </a:ext>
            </a:extLst>
          </p:cNvPr>
          <p:cNvSpPr>
            <a:spLocks xmlns:a="http://schemas.openxmlformats.org/drawingml/2006/main" noGrp="1"/>
          </p:cNvSpPr>
          <p:nvPr/>
        </p:nvSpPr>
        <p:spPr>
          <a:xfrm xmlns:a="http://schemas.openxmlformats.org/drawingml/2006/main">
            <a:off x="8401050" y="3228975"/>
            <a:ext cx="1524000" cy="781050"/>
          </a:xfrm>
          <a:prstGeom xmlns:a="http://schemas.openxmlformats.org/drawingml/2006/main" prst="rect">
            <a:avLst/>
          </a:prstGeom>
          <a:solidFill xmlns:a="http://schemas.openxmlformats.org/drawingml/2006/main">
            <a:srgbClr val="E5F2ED"/>
          </a:solidFill>
          <a:ln xmlns:a="http://schemas.openxmlformats.org/drawingml/2006/main" w="9525">
            <a:solidFill>
              <a:srgbClr val="267B62"/>
            </a:solidFill>
            <a:prstDash val="solid"/>
          </a:ln>
        </p:spPr>
      </p:sp>
      <p:sp>
        <p:nvSpPr>
          <p:cNvPr id="23" name="matter-node-kicker">
            <a:extLst xmlns:a="http://schemas.openxmlformats.org/drawingml/2006/main">
              <a:ext uri="{FF2B5EF4-FFF2-40B4-BE49-F238E27FC236}">
                <a16:creationId xmlns:a16="http://schemas.microsoft.com/office/drawing/2014/main" id="{B0BDDEF6-C5A7-4082-A288-2D590CFD16B1}"/>
              </a:ext>
            </a:extLst>
          </p:cNvPr>
          <p:cNvSpPr>
            <a:spLocks xmlns:a="http://schemas.openxmlformats.org/drawingml/2006/main" noGrp="1"/>
          </p:cNvSpPr>
          <p:nvPr/>
        </p:nvSpPr>
        <p:spPr>
          <a:xfrm xmlns:a="http://schemas.openxmlformats.org/drawingml/2006/main">
            <a:off x="8572500" y="3371850"/>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8A5A34"/>
                </a:solidFill>
                <a:latin typeface="Arial"/>
                <a:ea typeface="Arial"/>
                <a:cs typeface="Arial"/>
              </a:defRPr>
            </a:pPr>
            <a:r>
              <a:rPr sz="975" b="1">
                <a:solidFill>
                  <a:srgbClr val="8A5A34"/>
                </a:solidFill>
                <a:latin typeface="Arial"/>
                <a:ea typeface="Arial"/>
                <a:cs typeface="Arial"/>
              </a:rPr>
              <a:t>CHILD 1</a:t>
            </a:r>
          </a:p>
        </p:txBody>
      </p:sp>
      <p:sp>
        <p:nvSpPr>
          <p:cNvPr id="24" name="matter-node-title">
            <a:extLst xmlns:a="http://schemas.openxmlformats.org/drawingml/2006/main">
              <a:ext uri="{FF2B5EF4-FFF2-40B4-BE49-F238E27FC236}">
                <a16:creationId xmlns:a16="http://schemas.microsoft.com/office/drawing/2014/main" id="{E80BC6C7-9AB7-46EE-A890-B27ABC8BD5A6}"/>
              </a:ext>
            </a:extLst>
          </p:cNvPr>
          <p:cNvSpPr>
            <a:spLocks xmlns:a="http://schemas.openxmlformats.org/drawingml/2006/main" noGrp="1"/>
          </p:cNvSpPr>
          <p:nvPr/>
        </p:nvSpPr>
        <p:spPr>
          <a:xfrm xmlns:a="http://schemas.openxmlformats.org/drawingml/2006/main">
            <a:off x="8572500" y="3590925"/>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75" b="1">
                <a:solidFill>
                  <a:srgbClr val="17241D"/>
                </a:solidFill>
                <a:latin typeface="Arial"/>
                <a:ea typeface="Arial"/>
                <a:cs typeface="Arial"/>
              </a:defRPr>
            </a:pPr>
            <a:r>
              <a:rPr sz="1575" b="1">
                <a:solidFill>
                  <a:srgbClr val="17241D"/>
                </a:solidFill>
                <a:latin typeface="Arial"/>
                <a:ea typeface="Arial"/>
                <a:cs typeface="Arial"/>
              </a:rPr>
              <a:t>Materials</a:t>
            </a:r>
          </a:p>
        </p:txBody>
      </p:sp>
      <p:sp>
        <p:nvSpPr>
          <p:cNvPr id="25" name="fabrication-node-box">
            <a:extLst xmlns:a="http://schemas.openxmlformats.org/drawingml/2006/main">
              <a:ext uri="{FF2B5EF4-FFF2-40B4-BE49-F238E27FC236}">
                <a16:creationId xmlns:a16="http://schemas.microsoft.com/office/drawing/2014/main" id="{F460BB17-3CF3-4685-86CA-C0C49E812B73}"/>
              </a:ext>
            </a:extLst>
          </p:cNvPr>
          <p:cNvSpPr>
            <a:spLocks xmlns:a="http://schemas.openxmlformats.org/drawingml/2006/main" noGrp="1"/>
          </p:cNvSpPr>
          <p:nvPr/>
        </p:nvSpPr>
        <p:spPr>
          <a:xfrm xmlns:a="http://schemas.openxmlformats.org/drawingml/2006/main">
            <a:off x="8401050" y="4086225"/>
            <a:ext cx="1524000" cy="781050"/>
          </a:xfrm>
          <a:prstGeom xmlns:a="http://schemas.openxmlformats.org/drawingml/2006/main" prst="rect">
            <a:avLst/>
          </a:prstGeom>
          <a:solidFill xmlns:a="http://schemas.openxmlformats.org/drawingml/2006/main">
            <a:srgbClr val="FFF8D9"/>
          </a:solidFill>
          <a:ln xmlns:a="http://schemas.openxmlformats.org/drawingml/2006/main" w="9525">
            <a:solidFill>
              <a:srgbClr val="E3B200"/>
            </a:solidFill>
            <a:prstDash val="solid"/>
          </a:ln>
        </p:spPr>
      </p:sp>
      <p:sp>
        <p:nvSpPr>
          <p:cNvPr id="26" name="fabrication-node-kicker">
            <a:extLst xmlns:a="http://schemas.openxmlformats.org/drawingml/2006/main">
              <a:ext uri="{FF2B5EF4-FFF2-40B4-BE49-F238E27FC236}">
                <a16:creationId xmlns:a16="http://schemas.microsoft.com/office/drawing/2014/main" id="{45CAF6FE-B7A4-4DDC-9CD1-332B1FA8A44E}"/>
              </a:ext>
            </a:extLst>
          </p:cNvPr>
          <p:cNvSpPr>
            <a:spLocks xmlns:a="http://schemas.openxmlformats.org/drawingml/2006/main" noGrp="1"/>
          </p:cNvSpPr>
          <p:nvPr/>
        </p:nvSpPr>
        <p:spPr>
          <a:xfrm xmlns:a="http://schemas.openxmlformats.org/drawingml/2006/main">
            <a:off x="8572500" y="4229100"/>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E3B200"/>
                </a:solidFill>
                <a:latin typeface="Arial"/>
                <a:ea typeface="Arial"/>
                <a:cs typeface="Arial"/>
              </a:defRPr>
            </a:pPr>
            <a:r>
              <a:rPr sz="975" b="1">
                <a:solidFill>
                  <a:srgbClr val="E3B200"/>
                </a:solidFill>
                <a:latin typeface="Arial"/>
                <a:ea typeface="Arial"/>
                <a:cs typeface="Arial"/>
              </a:rPr>
              <a:t>CHILD 2</a:t>
            </a:r>
          </a:p>
        </p:txBody>
      </p:sp>
      <p:sp>
        <p:nvSpPr>
          <p:cNvPr id="27" name="fabrication-node-title">
            <a:extLst xmlns:a="http://schemas.openxmlformats.org/drawingml/2006/main">
              <a:ext uri="{FF2B5EF4-FFF2-40B4-BE49-F238E27FC236}">
                <a16:creationId xmlns:a16="http://schemas.microsoft.com/office/drawing/2014/main" id="{AC02FACE-1E4F-43BC-AF40-F5FD8B8B928D}"/>
              </a:ext>
            </a:extLst>
          </p:cNvPr>
          <p:cNvSpPr>
            <a:spLocks xmlns:a="http://schemas.openxmlformats.org/drawingml/2006/main" noGrp="1"/>
          </p:cNvSpPr>
          <p:nvPr/>
        </p:nvSpPr>
        <p:spPr>
          <a:xfrm xmlns:a="http://schemas.openxmlformats.org/drawingml/2006/main">
            <a:off x="8572500" y="4448175"/>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6667"/>
          </a:bodyPr>
          <a:lstStyle xmlns:a="http://schemas.openxmlformats.org/drawingml/2006/main"/>
          <a:p xmlns:a="http://schemas.openxmlformats.org/drawingml/2006/main">
            <a:pPr algn="l">
              <a:buNone/>
              <a:defRPr sz="1500" b="1">
                <a:solidFill>
                  <a:srgbClr val="17241D"/>
                </a:solidFill>
                <a:latin typeface="Arial"/>
                <a:ea typeface="Arial"/>
                <a:cs typeface="Arial"/>
              </a:defRPr>
            </a:pPr>
            <a:r>
              <a:rPr sz="1500" b="1">
                <a:solidFill>
                  <a:srgbClr val="17241D"/>
                </a:solidFill>
                <a:latin typeface="Arial"/>
                <a:ea typeface="Arial"/>
                <a:cs typeface="Arial"/>
              </a:rPr>
              <a:t>Allocated</a:t>
            </a:r>
          </a:p>
          <a:p xmlns:a="http://schemas.openxmlformats.org/drawingml/2006/main">
            <a:pPr algn="l">
              <a:buNone/>
              <a:defRPr sz="1500" b="1">
                <a:solidFill>
                  <a:srgbClr val="17241D"/>
                </a:solidFill>
                <a:latin typeface="Arial"/>
                <a:ea typeface="Arial"/>
                <a:cs typeface="Arial"/>
              </a:defRPr>
            </a:pPr>
            <a:r>
              <a:rPr sz="1500" b="1">
                <a:solidFill>
                  <a:srgbClr val="17241D"/>
                </a:solidFill>
                <a:latin typeface="Arial"/>
                <a:ea typeface="Arial"/>
                <a:cs typeface="Arial"/>
              </a:rPr>
              <a:t>energy</a:t>
            </a:r>
          </a:p>
        </p:txBody>
      </p:sp>
      <p:sp>
        <p:nvSpPr>
          <p:cNvPr id="28" name="maintenance-node-box">
            <a:extLst xmlns:a="http://schemas.openxmlformats.org/drawingml/2006/main">
              <a:ext uri="{FF2B5EF4-FFF2-40B4-BE49-F238E27FC236}">
                <a16:creationId xmlns:a16="http://schemas.microsoft.com/office/drawing/2014/main" id="{7D19B494-6501-40AE-84CC-C4D7941DB421}"/>
              </a:ext>
            </a:extLst>
          </p:cNvPr>
          <p:cNvSpPr>
            <a:spLocks xmlns:a="http://schemas.openxmlformats.org/drawingml/2006/main" noGrp="1"/>
          </p:cNvSpPr>
          <p:nvPr/>
        </p:nvSpPr>
        <p:spPr>
          <a:xfrm xmlns:a="http://schemas.openxmlformats.org/drawingml/2006/main">
            <a:off x="8401050" y="4943475"/>
            <a:ext cx="1524000" cy="7810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9" name="maintenance-node-kicker">
            <a:extLst xmlns:a="http://schemas.openxmlformats.org/drawingml/2006/main">
              <a:ext uri="{FF2B5EF4-FFF2-40B4-BE49-F238E27FC236}">
                <a16:creationId xmlns:a16="http://schemas.microsoft.com/office/drawing/2014/main" id="{8C950209-348D-4C70-A936-9A937323C705}"/>
              </a:ext>
            </a:extLst>
          </p:cNvPr>
          <p:cNvSpPr>
            <a:spLocks xmlns:a="http://schemas.openxmlformats.org/drawingml/2006/main" noGrp="1"/>
          </p:cNvSpPr>
          <p:nvPr/>
        </p:nvSpPr>
        <p:spPr>
          <a:xfrm xmlns:a="http://schemas.openxmlformats.org/drawingml/2006/main">
            <a:off x="8572500" y="5086350"/>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67B62"/>
                </a:solidFill>
                <a:latin typeface="Arial"/>
                <a:ea typeface="Arial"/>
                <a:cs typeface="Arial"/>
              </a:defRPr>
            </a:pPr>
            <a:r>
              <a:rPr sz="975" b="1">
                <a:solidFill>
                  <a:srgbClr val="267B62"/>
                </a:solidFill>
                <a:latin typeface="Arial"/>
                <a:ea typeface="Arial"/>
                <a:cs typeface="Arial"/>
              </a:rPr>
              <a:t>CHILD 3</a:t>
            </a:r>
          </a:p>
        </p:txBody>
      </p:sp>
      <p:sp>
        <p:nvSpPr>
          <p:cNvPr id="30" name="maintenance-node-title">
            <a:extLst xmlns:a="http://schemas.openxmlformats.org/drawingml/2006/main">
              <a:ext uri="{FF2B5EF4-FFF2-40B4-BE49-F238E27FC236}">
                <a16:creationId xmlns:a16="http://schemas.microsoft.com/office/drawing/2014/main" id="{40816E0C-9561-4682-AA97-1130FD0D4D1E}"/>
              </a:ext>
            </a:extLst>
          </p:cNvPr>
          <p:cNvSpPr>
            <a:spLocks xmlns:a="http://schemas.openxmlformats.org/drawingml/2006/main" noGrp="1"/>
          </p:cNvSpPr>
          <p:nvPr/>
        </p:nvSpPr>
        <p:spPr>
          <a:xfrm xmlns:a="http://schemas.openxmlformats.org/drawingml/2006/main">
            <a:off x="8572500" y="5305425"/>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17241D"/>
                </a:solidFill>
                <a:latin typeface="Arial"/>
                <a:ea typeface="Arial"/>
                <a:cs typeface="Arial"/>
              </a:defRPr>
            </a:pPr>
            <a:r>
              <a:rPr sz="1500" b="1">
                <a:solidFill>
                  <a:srgbClr val="17241D"/>
                </a:solidFill>
                <a:latin typeface="Arial"/>
                <a:ea typeface="Arial"/>
                <a:cs typeface="Arial"/>
              </a:rPr>
              <a:t>Maintenance</a:t>
            </a:r>
          </a:p>
        </p:txBody>
      </p:sp>
      <p:sp>
        <p:nvSpPr>
          <p:cNvPr id="31" name="equation-panel">
            <a:extLst xmlns:a="http://schemas.openxmlformats.org/drawingml/2006/main">
              <a:ext uri="{FF2B5EF4-FFF2-40B4-BE49-F238E27FC236}">
                <a16:creationId xmlns:a16="http://schemas.microsoft.com/office/drawing/2014/main" id="{FFA7048B-A6F6-4D9D-B547-A7882179E1E0}"/>
              </a:ext>
            </a:extLst>
          </p:cNvPr>
          <p:cNvSpPr>
            <a:spLocks xmlns:a="http://schemas.openxmlformats.org/drawingml/2006/main" noGrp="1"/>
          </p:cNvSpPr>
          <p:nvPr/>
        </p:nvSpPr>
        <p:spPr>
          <a:xfrm xmlns:a="http://schemas.openxmlformats.org/drawingml/2006/main">
            <a:off x="10020300" y="2305050"/>
            <a:ext cx="1657350" cy="3419475"/>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32" name="equation-kicker">
            <a:extLst xmlns:a="http://schemas.openxmlformats.org/drawingml/2006/main">
              <a:ext uri="{FF2B5EF4-FFF2-40B4-BE49-F238E27FC236}">
                <a16:creationId xmlns:a16="http://schemas.microsoft.com/office/drawing/2014/main" id="{8BAC1633-7ED7-4BCD-9924-491B0B5DB8FC}"/>
              </a:ext>
            </a:extLst>
          </p:cNvPr>
          <p:cNvSpPr>
            <a:spLocks xmlns:a="http://schemas.openxmlformats.org/drawingml/2006/main" noGrp="1"/>
          </p:cNvSpPr>
          <p:nvPr/>
        </p:nvSpPr>
        <p:spPr>
          <a:xfrm xmlns:a="http://schemas.openxmlformats.org/drawingml/2006/main">
            <a:off x="10201275" y="25431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D8FF57"/>
                </a:solidFill>
                <a:latin typeface="Arial"/>
                <a:ea typeface="Arial"/>
                <a:cs typeface="Arial"/>
              </a:defRPr>
            </a:pPr>
            <a:r>
              <a:rPr sz="975" b="1">
                <a:solidFill>
                  <a:srgbClr val="D8FF57"/>
                </a:solidFill>
                <a:latin typeface="Arial"/>
                <a:ea typeface="Arial"/>
                <a:cs typeface="Arial"/>
              </a:rPr>
              <a:t>VALID IDENTITY</a:t>
            </a:r>
          </a:p>
        </p:txBody>
      </p:sp>
      <p:sp>
        <p:nvSpPr>
          <p:cNvPr id="33" name="equation-copy">
            <a:extLst xmlns:a="http://schemas.openxmlformats.org/drawingml/2006/main">
              <a:ext uri="{FF2B5EF4-FFF2-40B4-BE49-F238E27FC236}">
                <a16:creationId xmlns:a16="http://schemas.microsoft.com/office/drawing/2014/main" id="{9DF13D55-DAFB-41AE-8FF1-2C37805A92DF}"/>
              </a:ext>
            </a:extLst>
          </p:cNvPr>
          <p:cNvSpPr>
            <a:spLocks xmlns:a="http://schemas.openxmlformats.org/drawingml/2006/main" noGrp="1"/>
          </p:cNvSpPr>
          <p:nvPr/>
        </p:nvSpPr>
        <p:spPr>
          <a:xfrm xmlns:a="http://schemas.openxmlformats.org/drawingml/2006/main">
            <a:off x="10172700" y="3048000"/>
            <a:ext cx="13525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0000"/>
              </a:lnSpc>
              <a:buNone/>
              <a:defRPr sz="1800" b="1">
                <a:solidFill>
                  <a:srgbClr val="F7F5ED"/>
                </a:solidFill>
                <a:latin typeface="Arial"/>
                <a:ea typeface="Arial"/>
                <a:cs typeface="Arial"/>
              </a:defRPr>
            </a:pPr>
            <a:r>
              <a:rPr sz="1800" b="1">
                <a:solidFill>
                  <a:srgbClr val="F7F5ED"/>
                </a:solidFill>
                <a:latin typeface="Arial"/>
                <a:ea typeface="Arial"/>
                <a:cs typeface="Arial"/>
              </a:rPr>
              <a:t>Eval(n)</a:t>
            </a:r>
          </a:p>
          <a:p xmlns:a="http://schemas.openxmlformats.org/drawingml/2006/main">
            <a:pPr algn="ctr">
              <a:lnSpc>
                <a:spcPct val="90000"/>
              </a:lnSpc>
              <a:buNone/>
              <a:defRPr sz="1800" b="1">
                <a:solidFill>
                  <a:srgbClr val="F7F5ED"/>
                </a:solidFill>
                <a:latin typeface="Arial"/>
                <a:ea typeface="Arial"/>
                <a:cs typeface="Arial"/>
              </a:defRPr>
            </a:pPr>
            <a:r>
              <a:rPr sz="1800" b="1">
                <a:solidFill>
                  <a:srgbClr val="F7F5ED"/>
                </a:solidFill>
                <a:latin typeface="Arial"/>
                <a:ea typeface="Arial"/>
                <a:cs typeface="Arial"/>
              </a:rPr>
              <a:t>=</a:t>
            </a:r>
          </a:p>
          <a:p xmlns:a="http://schemas.openxmlformats.org/drawingml/2006/main">
            <a:pPr algn="ctr">
              <a:lnSpc>
                <a:spcPct val="90000"/>
              </a:lnSpc>
              <a:buNone/>
              <a:defRPr sz="1800" b="1">
                <a:solidFill>
                  <a:srgbClr val="F7F5ED"/>
                </a:solidFill>
                <a:latin typeface="Arial"/>
                <a:ea typeface="Arial"/>
                <a:cs typeface="Arial"/>
              </a:defRPr>
            </a:pPr>
            <a:r>
              <a:rPr sz="1800" b="1">
                <a:solidFill>
                  <a:srgbClr val="F7F5ED"/>
                </a:solidFill>
                <a:latin typeface="Arial"/>
                <a:ea typeface="Arial"/>
                <a:cs typeface="Arial"/>
              </a:rPr>
              <a:t>Σ Eval(cᵢ)</a:t>
            </a:r>
          </a:p>
        </p:txBody>
      </p:sp>
      <p:sp>
        <p:nvSpPr>
          <p:cNvPr id="34" name="equation-note">
            <a:extLst xmlns:a="http://schemas.openxmlformats.org/drawingml/2006/main">
              <a:ext uri="{FF2B5EF4-FFF2-40B4-BE49-F238E27FC236}">
                <a16:creationId xmlns:a16="http://schemas.microsoft.com/office/drawing/2014/main" id="{CA9D7D1E-763A-40D8-8F07-0D079CC21153}"/>
              </a:ext>
            </a:extLst>
          </p:cNvPr>
          <p:cNvSpPr>
            <a:spLocks xmlns:a="http://schemas.openxmlformats.org/drawingml/2006/main" noGrp="1"/>
          </p:cNvSpPr>
          <p:nvPr/>
        </p:nvSpPr>
        <p:spPr>
          <a:xfrm xmlns:a="http://schemas.openxmlformats.org/drawingml/2006/main">
            <a:off x="10201275" y="5191125"/>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444"/>
          </a:bodyPr>
          <a:lstStyle xmlns:a="http://schemas.openxmlformats.org/drawingml/2006/main"/>
          <a:p xmlns:a="http://schemas.openxmlformats.org/drawingml/2006/main">
            <a:pPr algn="ctr">
              <a:buNone/>
              <a:defRPr sz="1125" b="0">
                <a:solidFill>
                  <a:srgbClr val="A7B0A9"/>
                </a:solidFill>
                <a:latin typeface="Arial"/>
                <a:ea typeface="Arial"/>
                <a:cs typeface="Arial"/>
              </a:defRPr>
            </a:pPr>
            <a:r>
              <a:rPr sz="1125" b="0">
                <a:solidFill>
                  <a:srgbClr val="A7B0A9"/>
                </a:solidFill>
                <a:latin typeface="Arial"/>
                <a:ea typeface="Arial"/>
                <a:cs typeface="Arial"/>
              </a:rPr>
              <a:t>invalid: cₙ + Σ children</a:t>
            </a:r>
          </a:p>
        </p:txBody>
      </p:sp>
      <p:sp>
        <p:nvSpPr>
          <p:cNvPr id="35" name="footer-4-left">
            <a:extLst xmlns:a="http://schemas.openxmlformats.org/drawingml/2006/main">
              <a:ext uri="{FF2B5EF4-FFF2-40B4-BE49-F238E27FC236}">
                <a16:creationId xmlns:a16="http://schemas.microsoft.com/office/drawing/2014/main" id="{569E788D-47C4-4111-AF28-A8E326607EED}"/>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36" name="footer-4-number">
            <a:extLst xmlns:a="http://schemas.openxmlformats.org/drawingml/2006/main">
              <a:ext uri="{FF2B5EF4-FFF2-40B4-BE49-F238E27FC236}">
                <a16:creationId xmlns:a16="http://schemas.microsoft.com/office/drawing/2014/main" id="{EDC83924-715E-4AFE-A258-7B69C756DFD0}"/>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08</a:t>
            </a:r>
          </a:p>
        </p:txBody>
      </p:sp>
    </p:spTree>
    <p:extLst>
      <p:ext uri="{BB962C8B-B14F-4D97-AF65-F5344CB8AC3E}">
        <p14:creationId xmlns:p14="http://schemas.microsoft.com/office/powerpoint/2010/main" val="352500271"/>
      </p:ext>
    </p:extLst>
  </p:cSld>
</p:sld>
</file>

<file path=ppt/slides/slide9.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24" name="slide-5-kicker">
            <a:extLst xmlns:a="http://schemas.openxmlformats.org/drawingml/2006/main">
              <a:ext uri="{FF2B5EF4-FFF2-40B4-BE49-F238E27FC236}">
                <a16:creationId xmlns:a16="http://schemas.microsoft.com/office/drawing/2014/main" id="{136853E5-FE4E-4747-9D93-B8B889AC4779}"/>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09</a:t>
            </a:r>
          </a:p>
        </p:txBody>
      </p:sp>
      <p:sp>
        <p:nvSpPr>
          <p:cNvPr id="2" name="slide-5-title">
            <a:extLst xmlns:a="http://schemas.openxmlformats.org/drawingml/2006/main">
              <a:ext uri="{FF2B5EF4-FFF2-40B4-BE49-F238E27FC236}">
                <a16:creationId xmlns:a16="http://schemas.microsoft.com/office/drawing/2014/main" id="{5DB74E45-69FC-4E8B-8261-8A4DD85518DC}"/>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375" b="1">
                <a:solidFill>
                  <a:srgbClr val="17241D"/>
                </a:solidFill>
                <a:latin typeface="Arial"/>
                <a:ea typeface="Arial"/>
                <a:cs typeface="Arial"/>
              </a:defRPr>
            </a:pPr>
            <a:r>
              <a:rPr sz="3375" b="1">
                <a:solidFill>
                  <a:srgbClr val="17241D"/>
                </a:solidFill>
                <a:latin typeface="Arial"/>
                <a:ea typeface="Arial"/>
                <a:cs typeface="Arial"/>
              </a:rPr>
              <a:t>The two continuous controls are logarithmic.</a:t>
            </a:r>
          </a:p>
        </p:txBody>
      </p:sp>
      <p:sp>
        <p:nvSpPr>
          <p:cNvPr id="3" name="slide-5-subtitle">
            <a:extLst xmlns:a="http://schemas.openxmlformats.org/drawingml/2006/main">
              <a:ext uri="{FF2B5EF4-FFF2-40B4-BE49-F238E27FC236}">
                <a16:creationId xmlns:a16="http://schemas.microsoft.com/office/drawing/2014/main" id="{08E5D715-3CF9-491C-A14E-701C11CCDA6C}"/>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Equal slider steps represent equal ratios across three orders of magnitude.</a:t>
            </a:r>
          </a:p>
        </p:txBody>
      </p:sp>
      <p:sp>
        <p:nvSpPr>
          <p:cNvPr id="22" name="footer-5-left">
            <a:extLst xmlns:a="http://schemas.openxmlformats.org/drawingml/2006/main">
              <a:ext uri="{FF2B5EF4-FFF2-40B4-BE49-F238E27FC236}">
                <a16:creationId xmlns:a16="http://schemas.microsoft.com/office/drawing/2014/main" id="{CCF9ADDA-9A4D-4614-8D06-0B00E703E138}"/>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23" name="footer-5-number">
            <a:extLst xmlns:a="http://schemas.openxmlformats.org/drawingml/2006/main">
              <a:ext uri="{FF2B5EF4-FFF2-40B4-BE49-F238E27FC236}">
                <a16:creationId xmlns:a16="http://schemas.microsoft.com/office/drawing/2014/main" id="{95C068E5-CFAF-410F-A3FA-44710D500B2E}"/>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09</a:t>
            </a:r>
          </a:p>
        </p:txBody>
      </p:sp>
      <p:sp>
        <p:nvSpPr>
          <p:cNvPr id="25" name="log-formula-box">
            <a:extLst xmlns:a="http://schemas.openxmlformats.org/drawingml/2006/main">
              <a:ext uri="{FF2B5EF4-FFF2-40B4-BE49-F238E27FC236}">
                <a16:creationId xmlns:a16="http://schemas.microsoft.com/office/drawing/2014/main" id="{7E94A7CD-EF9E-4C00-A04F-FCB9A5FFC61D}"/>
              </a:ext>
            </a:extLst>
          </p:cNvPr>
          <p:cNvSpPr>
            <a:spLocks xmlns:a="http://schemas.openxmlformats.org/drawingml/2006/main" noGrp="1"/>
          </p:cNvSpPr>
          <p:nvPr/>
        </p:nvSpPr>
        <p:spPr>
          <a:xfrm xmlns:a="http://schemas.openxmlformats.org/drawingml/2006/main">
            <a:off x="514350" y="2505075"/>
            <a:ext cx="2667000" cy="297180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26" name="log-formula-kicker">
            <a:extLst xmlns:a="http://schemas.openxmlformats.org/drawingml/2006/main">
              <a:ext uri="{FF2B5EF4-FFF2-40B4-BE49-F238E27FC236}">
                <a16:creationId xmlns:a16="http://schemas.microsoft.com/office/drawing/2014/main" id="{734CE631-5BC8-424B-AEC3-90B45FAC6282}"/>
              </a:ext>
            </a:extLst>
          </p:cNvPr>
          <p:cNvSpPr>
            <a:spLocks xmlns:a="http://schemas.openxmlformats.org/drawingml/2006/main" noGrp="1"/>
          </p:cNvSpPr>
          <p:nvPr/>
        </p:nvSpPr>
        <p:spPr>
          <a:xfrm xmlns:a="http://schemas.openxmlformats.org/drawingml/2006/main">
            <a:off x="742950" y="27432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D8FF57"/>
                </a:solidFill>
                <a:latin typeface="Arial"/>
                <a:ea typeface="Arial"/>
                <a:cs typeface="Arial"/>
              </a:defRPr>
            </a:pPr>
            <a:r>
              <a:rPr sz="1050" b="1">
                <a:solidFill>
                  <a:srgbClr val="D8FF57"/>
                </a:solidFill>
                <a:latin typeface="Arial"/>
                <a:ea typeface="Arial"/>
                <a:cs typeface="Arial"/>
              </a:rPr>
              <a:t>CONTROL MAPPING</a:t>
            </a:r>
          </a:p>
        </p:txBody>
      </p:sp>
      <p:sp>
        <p:nvSpPr>
          <p:cNvPr id="27" name="log-formula">
            <a:extLst xmlns:a="http://schemas.openxmlformats.org/drawingml/2006/main">
              <a:ext uri="{FF2B5EF4-FFF2-40B4-BE49-F238E27FC236}">
                <a16:creationId xmlns:a16="http://schemas.microsoft.com/office/drawing/2014/main" id="{646445C1-6DC0-413A-B106-828DA56299B1}"/>
              </a:ext>
            </a:extLst>
          </p:cNvPr>
          <p:cNvSpPr>
            <a:spLocks xmlns:a="http://schemas.openxmlformats.org/drawingml/2006/main" noGrp="1"/>
          </p:cNvSpPr>
          <p:nvPr/>
        </p:nvSpPr>
        <p:spPr>
          <a:xfrm xmlns:a="http://schemas.openxmlformats.org/drawingml/2006/main">
            <a:off x="742950" y="3143250"/>
            <a:ext cx="21717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837"/>
          </a:bodyPr>
          <a:lstStyle xmlns:a="http://schemas.openxmlformats.org/drawingml/2006/main"/>
          <a:p xmlns:a="http://schemas.openxmlformats.org/drawingml/2006/main">
            <a:pPr algn="l">
              <a:lnSpc>
                <a:spcPct val="94000"/>
              </a:lnSpc>
              <a:buNone/>
              <a:defRPr sz="2100" b="1">
                <a:solidFill>
                  <a:srgbClr val="F7F5ED"/>
                </a:solidFill>
                <a:latin typeface="Arial"/>
                <a:ea typeface="Arial"/>
                <a:cs typeface="Arial"/>
              </a:defRPr>
            </a:pPr>
            <a:r>
              <a:rPr sz="2100" b="1">
                <a:solidFill>
                  <a:srgbClr val="F7F5ED"/>
                </a:solidFill>
                <a:latin typeface="Arial"/>
                <a:ea typeface="Arial"/>
                <a:cs typeface="Arial"/>
              </a:rPr>
              <a:t>x = 10^q</a:t>
            </a:r>
          </a:p>
          <a:p xmlns:a="http://schemas.openxmlformats.org/drawingml/2006/main">
            <a:r>
              <a:t/>
            </a:r>
          </a:p>
          <a:p xmlns:a="http://schemas.openxmlformats.org/drawingml/2006/main">
            <a:pPr algn="l">
              <a:lnSpc>
                <a:spcPct val="94000"/>
              </a:lnSpc>
              <a:buNone/>
              <a:defRPr sz="2100" b="1">
                <a:solidFill>
                  <a:srgbClr val="F7F5ED"/>
                </a:solidFill>
                <a:latin typeface="Arial"/>
                <a:ea typeface="Arial"/>
                <a:cs typeface="Arial"/>
              </a:defRPr>
            </a:pPr>
            <a:r>
              <a:rPr sz="2100" b="1">
                <a:solidFill>
                  <a:srgbClr val="F7F5ED"/>
                </a:solidFill>
                <a:latin typeface="Arial"/>
                <a:ea typeface="Arial"/>
                <a:cs typeface="Arial"/>
              </a:rPr>
              <a:t>Δq = 0.05</a:t>
            </a:r>
          </a:p>
          <a:p xmlns:a="http://schemas.openxmlformats.org/drawingml/2006/main">
            <a:pPr algn="l">
              <a:lnSpc>
                <a:spcPct val="94000"/>
              </a:lnSpc>
              <a:buNone/>
              <a:defRPr sz="2100" b="1">
                <a:solidFill>
                  <a:srgbClr val="F7F5ED"/>
                </a:solidFill>
                <a:latin typeface="Arial"/>
                <a:ea typeface="Arial"/>
                <a:cs typeface="Arial"/>
              </a:defRPr>
            </a:pPr>
            <a:r>
              <a:rPr sz="2100" b="1">
                <a:solidFill>
                  <a:srgbClr val="F7F5ED"/>
                </a:solidFill>
                <a:latin typeface="Arial"/>
                <a:ea typeface="Arial"/>
                <a:cs typeface="Arial"/>
              </a:rPr>
              <a:t>decades</a:t>
            </a:r>
          </a:p>
          <a:p xmlns:a="http://schemas.openxmlformats.org/drawingml/2006/main">
            <a:r>
              <a:t/>
            </a:r>
          </a:p>
          <a:p xmlns:a="http://schemas.openxmlformats.org/drawingml/2006/main">
            <a:pPr algn="l">
              <a:lnSpc>
                <a:spcPct val="94000"/>
              </a:lnSpc>
              <a:buNone/>
              <a:defRPr sz="2100" b="1">
                <a:solidFill>
                  <a:srgbClr val="F7F5ED"/>
                </a:solidFill>
                <a:latin typeface="Arial"/>
                <a:ea typeface="Arial"/>
                <a:cs typeface="Arial"/>
              </a:defRPr>
            </a:pPr>
            <a:r>
              <a:rPr sz="2100" b="1">
                <a:solidFill>
                  <a:srgbClr val="F7F5ED"/>
                </a:solidFill>
                <a:latin typeface="Arial"/>
                <a:ea typeface="Arial"/>
                <a:cs typeface="Arial"/>
              </a:rPr>
              <a:t>10^0.05</a:t>
            </a:r>
          </a:p>
          <a:p xmlns:a="http://schemas.openxmlformats.org/drawingml/2006/main">
            <a:pPr algn="l">
              <a:lnSpc>
                <a:spcPct val="94000"/>
              </a:lnSpc>
              <a:buNone/>
              <a:defRPr sz="2100" b="1">
                <a:solidFill>
                  <a:srgbClr val="F7F5ED"/>
                </a:solidFill>
                <a:latin typeface="Arial"/>
                <a:ea typeface="Arial"/>
                <a:cs typeface="Arial"/>
              </a:defRPr>
            </a:pPr>
            <a:r>
              <a:rPr sz="2100" b="1">
                <a:solidFill>
                  <a:srgbClr val="F7F5ED"/>
                </a:solidFill>
                <a:latin typeface="Arial"/>
                <a:ea typeface="Arial"/>
                <a:cs typeface="Arial"/>
              </a:rPr>
              <a:t>= 1.122×</a:t>
            </a:r>
          </a:p>
        </p:txBody>
      </p:sp>
      <p:sp>
        <p:nvSpPr>
          <p:cNvPr id="28" name="robot-label">
            <a:extLst xmlns:a="http://schemas.openxmlformats.org/drawingml/2006/main">
              <a:ext uri="{FF2B5EF4-FFF2-40B4-BE49-F238E27FC236}">
                <a16:creationId xmlns:a16="http://schemas.microsoft.com/office/drawing/2014/main" id="{69B9481B-5429-43B9-9B49-3417B0B258FE}"/>
              </a:ext>
            </a:extLst>
          </p:cNvPr>
          <p:cNvSpPr>
            <a:spLocks xmlns:a="http://schemas.openxmlformats.org/drawingml/2006/main" noGrp="1"/>
          </p:cNvSpPr>
          <p:nvPr/>
        </p:nvSpPr>
        <p:spPr>
          <a:xfrm xmlns:a="http://schemas.openxmlformats.org/drawingml/2006/main">
            <a:off x="3962400" y="2686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7241D"/>
                </a:solidFill>
                <a:latin typeface="Arial"/>
                <a:ea typeface="Arial"/>
                <a:cs typeface="Arial"/>
              </a:defRPr>
            </a:pPr>
            <a:r>
              <a:rPr sz="1200" b="1">
                <a:solidFill>
                  <a:srgbClr val="17241D"/>
                </a:solidFill>
                <a:latin typeface="Arial"/>
                <a:ea typeface="Arial"/>
                <a:cs typeface="Arial"/>
              </a:rPr>
              <a:t>ROBOT ENERGY MULTIPLIER</a:t>
            </a:r>
          </a:p>
        </p:txBody>
      </p:sp>
      <p:sp>
        <p:nvSpPr>
          <p:cNvPr id="29" name="robot-sub">
            <a:extLst xmlns:a="http://schemas.openxmlformats.org/drawingml/2006/main">
              <a:ext uri="{FF2B5EF4-FFF2-40B4-BE49-F238E27FC236}">
                <a16:creationId xmlns:a16="http://schemas.microsoft.com/office/drawing/2014/main" id="{DF74ABD8-A420-46B2-A1B8-7B687C7BC0D0}"/>
              </a:ext>
            </a:extLst>
          </p:cNvPr>
          <p:cNvSpPr>
            <a:spLocks xmlns:a="http://schemas.openxmlformats.org/drawingml/2006/main" noGrp="1"/>
          </p:cNvSpPr>
          <p:nvPr/>
        </p:nvSpPr>
        <p:spPr>
          <a:xfrm xmlns:a="http://schemas.openxmlformats.org/drawingml/2006/main">
            <a:off x="3962400" y="293370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9736C"/>
                </a:solidFill>
                <a:latin typeface="Arial"/>
                <a:ea typeface="Arial"/>
                <a:cs typeface="Arial"/>
              </a:defRPr>
            </a:pPr>
            <a:r>
              <a:rPr sz="1125" b="0">
                <a:solidFill>
                  <a:srgbClr val="69736C"/>
                </a:solidFill>
                <a:latin typeface="Arial"/>
                <a:ea typeface="Arial"/>
                <a:cs typeface="Arial"/>
              </a:rPr>
              <a:t>Scales replacement-node energy when scaleWithRobot=true</a:t>
            </a:r>
          </a:p>
        </p:txBody>
      </p:sp>
      <p:cxnSp>
        <p:nvCxnSpPr>
          <p:cNvPr id="67" name="robot-line"/>
          <p:cNvCxnSpPr/>
          <p:nvPr/>
        </p:nvCxnSpPr>
        <p:spPr>
          <a:xfrm xmlns:a="http://schemas.openxmlformats.org/drawingml/2006/main" flipH="0" flipV="0">
            <a:off x="3962400" y="3352800"/>
            <a:ext cx="7372350" cy="0"/>
          </a:xfrm>
          <a:prstGeom xmlns:a="http://schemas.openxmlformats.org/drawingml/2006/main" prst="straightConnector1">
            <a:avLst/>
          </a:prstGeom>
          <a:ln xmlns:a="http://schemas.openxmlformats.org/drawingml/2006/main" w="38100">
            <a:solidFill>
              <a:srgbClr val="B8BCC4"/>
            </a:solidFill>
            <a:prstDash val="solid"/>
          </a:ln>
        </p:spPr>
      </p:cxnSp>
      <p:cxnSp>
        <p:nvCxnSpPr>
          <p:cNvPr id="68" name="robot-tick-0"/>
          <p:cNvCxnSpPr/>
          <p:nvPr/>
        </p:nvCxnSpPr>
        <p:spPr>
          <a:xfrm xmlns:a="http://schemas.openxmlformats.org/drawingml/2006/main" flipH="0" flipV="0">
            <a:off x="3962400" y="325755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32" name="robot-tick-label-0">
            <a:extLst xmlns:a="http://schemas.openxmlformats.org/drawingml/2006/main">
              <a:ext uri="{FF2B5EF4-FFF2-40B4-BE49-F238E27FC236}">
                <a16:creationId xmlns:a16="http://schemas.microsoft.com/office/drawing/2014/main" id="{A0E8E0AB-0606-4E5C-BF65-313044A2F02A}"/>
              </a:ext>
            </a:extLst>
          </p:cNvPr>
          <p:cNvSpPr>
            <a:spLocks xmlns:a="http://schemas.openxmlformats.org/drawingml/2006/main" noGrp="1"/>
          </p:cNvSpPr>
          <p:nvPr/>
        </p:nvSpPr>
        <p:spPr>
          <a:xfrm xmlns:a="http://schemas.openxmlformats.org/drawingml/2006/main">
            <a:off x="3619500" y="35052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9736C"/>
                </a:solidFill>
                <a:latin typeface="Arial"/>
                <a:ea typeface="Arial"/>
                <a:cs typeface="Arial"/>
              </a:defRPr>
            </a:pPr>
            <a:r>
              <a:rPr sz="1125" b="0">
                <a:solidFill>
                  <a:srgbClr val="69736C"/>
                </a:solidFill>
                <a:latin typeface="Arial"/>
                <a:ea typeface="Arial"/>
                <a:cs typeface="Arial"/>
              </a:rPr>
              <a:t>0.01</a:t>
            </a:r>
          </a:p>
        </p:txBody>
      </p:sp>
      <p:cxnSp>
        <p:nvCxnSpPr>
          <p:cNvPr id="70" name="robot-tick-1"/>
          <p:cNvCxnSpPr/>
          <p:nvPr/>
        </p:nvCxnSpPr>
        <p:spPr>
          <a:xfrm xmlns:a="http://schemas.openxmlformats.org/drawingml/2006/main" flipH="0" flipV="0">
            <a:off x="6419850" y="325755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34" name="robot-tick-label-1">
            <a:extLst xmlns:a="http://schemas.openxmlformats.org/drawingml/2006/main">
              <a:ext uri="{FF2B5EF4-FFF2-40B4-BE49-F238E27FC236}">
                <a16:creationId xmlns:a16="http://schemas.microsoft.com/office/drawing/2014/main" id="{3BA70F9D-6CD3-4200-82AF-339FAB9104A6}"/>
              </a:ext>
            </a:extLst>
          </p:cNvPr>
          <p:cNvSpPr>
            <a:spLocks xmlns:a="http://schemas.openxmlformats.org/drawingml/2006/main" noGrp="1"/>
          </p:cNvSpPr>
          <p:nvPr/>
        </p:nvSpPr>
        <p:spPr>
          <a:xfrm xmlns:a="http://schemas.openxmlformats.org/drawingml/2006/main">
            <a:off x="6076950" y="35052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9736C"/>
                </a:solidFill>
                <a:latin typeface="Arial"/>
                <a:ea typeface="Arial"/>
                <a:cs typeface="Arial"/>
              </a:defRPr>
            </a:pPr>
            <a:r>
              <a:rPr sz="1125" b="0">
                <a:solidFill>
                  <a:srgbClr val="69736C"/>
                </a:solidFill>
                <a:latin typeface="Arial"/>
                <a:ea typeface="Arial"/>
                <a:cs typeface="Arial"/>
              </a:rPr>
              <a:t>0.1</a:t>
            </a:r>
          </a:p>
        </p:txBody>
      </p:sp>
      <p:cxnSp>
        <p:nvCxnSpPr>
          <p:cNvPr id="72" name="robot-tick-2"/>
          <p:cNvCxnSpPr/>
          <p:nvPr/>
        </p:nvCxnSpPr>
        <p:spPr>
          <a:xfrm xmlns:a="http://schemas.openxmlformats.org/drawingml/2006/main" flipH="0" flipV="0">
            <a:off x="8877300" y="325755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36" name="robot-tick-label-2">
            <a:extLst xmlns:a="http://schemas.openxmlformats.org/drawingml/2006/main">
              <a:ext uri="{FF2B5EF4-FFF2-40B4-BE49-F238E27FC236}">
                <a16:creationId xmlns:a16="http://schemas.microsoft.com/office/drawing/2014/main" id="{510943FA-A6E1-4F36-97C5-C9C15549AD48}"/>
              </a:ext>
            </a:extLst>
          </p:cNvPr>
          <p:cNvSpPr>
            <a:spLocks xmlns:a="http://schemas.openxmlformats.org/drawingml/2006/main" noGrp="1"/>
          </p:cNvSpPr>
          <p:nvPr/>
        </p:nvSpPr>
        <p:spPr>
          <a:xfrm xmlns:a="http://schemas.openxmlformats.org/drawingml/2006/main">
            <a:off x="8534400" y="35052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9736C"/>
                </a:solidFill>
                <a:latin typeface="Arial"/>
                <a:ea typeface="Arial"/>
                <a:cs typeface="Arial"/>
              </a:defRPr>
            </a:pPr>
            <a:r>
              <a:rPr sz="1125" b="0">
                <a:solidFill>
                  <a:srgbClr val="69736C"/>
                </a:solidFill>
                <a:latin typeface="Arial"/>
                <a:ea typeface="Arial"/>
                <a:cs typeface="Arial"/>
              </a:rPr>
              <a:t>1</a:t>
            </a:r>
          </a:p>
        </p:txBody>
      </p:sp>
      <p:cxnSp>
        <p:nvCxnSpPr>
          <p:cNvPr id="74" name="robot-tick-3"/>
          <p:cNvCxnSpPr/>
          <p:nvPr/>
        </p:nvCxnSpPr>
        <p:spPr>
          <a:xfrm xmlns:a="http://schemas.openxmlformats.org/drawingml/2006/main" flipH="0" flipV="0">
            <a:off x="11334750" y="325755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38" name="robot-tick-label-3">
            <a:extLst xmlns:a="http://schemas.openxmlformats.org/drawingml/2006/main">
              <a:ext uri="{FF2B5EF4-FFF2-40B4-BE49-F238E27FC236}">
                <a16:creationId xmlns:a16="http://schemas.microsoft.com/office/drawing/2014/main" id="{0B3253BF-59BD-4F3E-A514-20F025E4A85F}"/>
              </a:ext>
            </a:extLst>
          </p:cNvPr>
          <p:cNvSpPr>
            <a:spLocks xmlns:a="http://schemas.openxmlformats.org/drawingml/2006/main" noGrp="1"/>
          </p:cNvSpPr>
          <p:nvPr/>
        </p:nvSpPr>
        <p:spPr>
          <a:xfrm xmlns:a="http://schemas.openxmlformats.org/drawingml/2006/main">
            <a:off x="10991850" y="35052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9736C"/>
                </a:solidFill>
                <a:latin typeface="Arial"/>
                <a:ea typeface="Arial"/>
                <a:cs typeface="Arial"/>
              </a:defRPr>
            </a:pPr>
            <a:r>
              <a:rPr sz="1125" b="0">
                <a:solidFill>
                  <a:srgbClr val="69736C"/>
                </a:solidFill>
                <a:latin typeface="Arial"/>
                <a:ea typeface="Arial"/>
                <a:cs typeface="Arial"/>
              </a:rPr>
              <a:t>10</a:t>
            </a:r>
          </a:p>
        </p:txBody>
      </p:sp>
      <p:cxnSp>
        <p:nvCxnSpPr>
          <p:cNvPr id="76" name="robot-marker"/>
          <p:cNvCxnSpPr/>
          <p:nvPr/>
        </p:nvCxnSpPr>
        <p:spPr>
          <a:xfrm xmlns:a="http://schemas.openxmlformats.org/drawingml/2006/main" flipH="0" flipV="0">
            <a:off x="8877300" y="3171825"/>
            <a:ext cx="0" cy="361950"/>
          </a:xfrm>
          <a:prstGeom xmlns:a="http://schemas.openxmlformats.org/drawingml/2006/main" prst="straightConnector1">
            <a:avLst/>
          </a:prstGeom>
          <a:ln xmlns:a="http://schemas.openxmlformats.org/drawingml/2006/main" w="47625">
            <a:solidFill>
              <a:srgbClr val="FF5B35"/>
            </a:solidFill>
            <a:prstDash val="solid"/>
          </a:ln>
        </p:spPr>
      </p:cxnSp>
      <p:sp>
        <p:nvSpPr>
          <p:cNvPr id="40" name="robot-default-box">
            <a:extLst xmlns:a="http://schemas.openxmlformats.org/drawingml/2006/main">
              <a:ext uri="{FF2B5EF4-FFF2-40B4-BE49-F238E27FC236}">
                <a16:creationId xmlns:a16="http://schemas.microsoft.com/office/drawing/2014/main" id="{9A47CDCC-09A3-475E-BE32-2E0454A4A659}"/>
              </a:ext>
            </a:extLst>
          </p:cNvPr>
          <p:cNvSpPr>
            <a:spLocks xmlns:a="http://schemas.openxmlformats.org/drawingml/2006/main" noGrp="1"/>
          </p:cNvSpPr>
          <p:nvPr/>
        </p:nvSpPr>
        <p:spPr>
          <a:xfrm xmlns:a="http://schemas.openxmlformats.org/drawingml/2006/main">
            <a:off x="8286750" y="2800350"/>
            <a:ext cx="1181100" cy="295275"/>
          </a:xfrm>
          <a:prstGeom xmlns:a="http://schemas.openxmlformats.org/drawingml/2006/main" prst="roundRect">
            <a:avLst>
              <a:gd name="adj" fmla="val 25806"/>
            </a:avLst>
          </a:prstGeom>
          <a:solidFill xmlns:a="http://schemas.openxmlformats.org/drawingml/2006/main">
            <a:srgbClr val="FF5B35"/>
          </a:solidFill>
          <a:ln xmlns:a="http://schemas.openxmlformats.org/drawingml/2006/main" w="9525">
            <a:solidFill>
              <a:srgbClr val="FF5B35"/>
            </a:solidFill>
            <a:prstDash val="solid"/>
          </a:ln>
        </p:spPr>
      </p:sp>
      <p:sp>
        <p:nvSpPr>
          <p:cNvPr id="41" name="robot-default-text">
            <a:extLst xmlns:a="http://schemas.openxmlformats.org/drawingml/2006/main">
              <a:ext uri="{FF2B5EF4-FFF2-40B4-BE49-F238E27FC236}">
                <a16:creationId xmlns:a16="http://schemas.microsoft.com/office/drawing/2014/main" id="{04C18BD3-3664-4685-BDD8-334119E5F404}"/>
              </a:ext>
            </a:extLst>
          </p:cNvPr>
          <p:cNvSpPr>
            <a:spLocks xmlns:a="http://schemas.openxmlformats.org/drawingml/2006/main" noGrp="1"/>
          </p:cNvSpPr>
          <p:nvPr/>
        </p:nvSpPr>
        <p:spPr>
          <a:xfrm xmlns:a="http://schemas.openxmlformats.org/drawingml/2006/main">
            <a:off x="8286750" y="2800350"/>
            <a:ext cx="1181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rmAutofit fontScale="100000"/>
          </a:bodyPr>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DEFAULT 1×</a:t>
            </a:r>
          </a:p>
        </p:txBody>
      </p:sp>
      <p:sp>
        <p:nvSpPr>
          <p:cNvPr id="42" name="power-label">
            <a:extLst xmlns:a="http://schemas.openxmlformats.org/drawingml/2006/main">
              <a:ext uri="{FF2B5EF4-FFF2-40B4-BE49-F238E27FC236}">
                <a16:creationId xmlns:a16="http://schemas.microsoft.com/office/drawing/2014/main" id="{9250A708-5201-47B8-A1CD-269853C48EAE}"/>
              </a:ext>
            </a:extLst>
          </p:cNvPr>
          <p:cNvSpPr>
            <a:spLocks xmlns:a="http://schemas.openxmlformats.org/drawingml/2006/main" noGrp="1"/>
          </p:cNvSpPr>
          <p:nvPr/>
        </p:nvSpPr>
        <p:spPr>
          <a:xfrm xmlns:a="http://schemas.openxmlformats.org/drawingml/2006/main">
            <a:off x="3962400" y="42481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7241D"/>
                </a:solidFill>
                <a:latin typeface="Arial"/>
                <a:ea typeface="Arial"/>
                <a:cs typeface="Arial"/>
              </a:defRPr>
            </a:pPr>
            <a:r>
              <a:rPr sz="1200" b="1">
                <a:solidFill>
                  <a:srgbClr val="17241D"/>
                </a:solidFill>
                <a:latin typeface="Arial"/>
                <a:ea typeface="Arial"/>
                <a:cs typeface="Arial"/>
              </a:rPr>
              <a:t>ELECTRICITY PRICE  ($/MWh)</a:t>
            </a:r>
          </a:p>
        </p:txBody>
      </p:sp>
      <p:sp>
        <p:nvSpPr>
          <p:cNvPr id="43" name="power-sub">
            <a:extLst xmlns:a="http://schemas.openxmlformats.org/drawingml/2006/main">
              <a:ext uri="{FF2B5EF4-FFF2-40B4-BE49-F238E27FC236}">
                <a16:creationId xmlns:a16="http://schemas.microsoft.com/office/drawing/2014/main" id="{FDE54352-D8C5-4BF6-A0BC-FA4EFA6D4A3E}"/>
              </a:ext>
            </a:extLst>
          </p:cNvPr>
          <p:cNvSpPr>
            <a:spLocks xmlns:a="http://schemas.openxmlformats.org/drawingml/2006/main" noGrp="1"/>
          </p:cNvSpPr>
          <p:nvPr/>
        </p:nvSpPr>
        <p:spPr>
          <a:xfrm xmlns:a="http://schemas.openxmlformats.org/drawingml/2006/main">
            <a:off x="3962400" y="449580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9736C"/>
                </a:solidFill>
                <a:latin typeface="Arial"/>
                <a:ea typeface="Arial"/>
                <a:cs typeface="Arial"/>
              </a:defRPr>
            </a:pPr>
            <a:r>
              <a:rPr sz="1125" b="0">
                <a:solidFill>
                  <a:srgbClr val="69736C"/>
                </a:solidFill>
                <a:latin typeface="Arial"/>
                <a:ea typeface="Arial"/>
                <a:cs typeface="Arial"/>
              </a:rPr>
              <a:t>Prices every modeled kWh; robot factor touches tagged task energy only</a:t>
            </a:r>
          </a:p>
        </p:txBody>
      </p:sp>
      <p:cxnSp>
        <p:nvCxnSpPr>
          <p:cNvPr id="81" name="power-line"/>
          <p:cNvCxnSpPr/>
          <p:nvPr/>
        </p:nvCxnSpPr>
        <p:spPr>
          <a:xfrm xmlns:a="http://schemas.openxmlformats.org/drawingml/2006/main" flipH="0" flipV="0">
            <a:off x="3962400" y="4914900"/>
            <a:ext cx="7372350" cy="0"/>
          </a:xfrm>
          <a:prstGeom xmlns:a="http://schemas.openxmlformats.org/drawingml/2006/main" prst="straightConnector1">
            <a:avLst/>
          </a:prstGeom>
          <a:ln xmlns:a="http://schemas.openxmlformats.org/drawingml/2006/main" w="38100">
            <a:solidFill>
              <a:srgbClr val="B8BCC4"/>
            </a:solidFill>
            <a:prstDash val="solid"/>
          </a:ln>
        </p:spPr>
      </p:cxnSp>
      <p:cxnSp>
        <p:nvCxnSpPr>
          <p:cNvPr id="82" name="power-tick-0"/>
          <p:cNvCxnSpPr/>
          <p:nvPr/>
        </p:nvCxnSpPr>
        <p:spPr>
          <a:xfrm xmlns:a="http://schemas.openxmlformats.org/drawingml/2006/main" flipH="0" flipV="0">
            <a:off x="3962400" y="481965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46" name="power-tick-label-0">
            <a:extLst xmlns:a="http://schemas.openxmlformats.org/drawingml/2006/main">
              <a:ext uri="{FF2B5EF4-FFF2-40B4-BE49-F238E27FC236}">
                <a16:creationId xmlns:a16="http://schemas.microsoft.com/office/drawing/2014/main" id="{5DDB6A65-4E22-4947-BF4C-4CC60B77A99F}"/>
              </a:ext>
            </a:extLst>
          </p:cNvPr>
          <p:cNvSpPr>
            <a:spLocks xmlns:a="http://schemas.openxmlformats.org/drawingml/2006/main" noGrp="1"/>
          </p:cNvSpPr>
          <p:nvPr/>
        </p:nvSpPr>
        <p:spPr>
          <a:xfrm xmlns:a="http://schemas.openxmlformats.org/drawingml/2006/main">
            <a:off x="3619500" y="50673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9736C"/>
                </a:solidFill>
                <a:latin typeface="Arial"/>
                <a:ea typeface="Arial"/>
                <a:cs typeface="Arial"/>
              </a:defRPr>
            </a:pPr>
            <a:r>
              <a:rPr sz="1125" b="0">
                <a:solidFill>
                  <a:srgbClr val="69736C"/>
                </a:solidFill>
                <a:latin typeface="Arial"/>
                <a:ea typeface="Arial"/>
                <a:cs typeface="Arial"/>
              </a:rPr>
              <a:t>1</a:t>
            </a:r>
          </a:p>
        </p:txBody>
      </p:sp>
      <p:cxnSp>
        <p:nvCxnSpPr>
          <p:cNvPr id="84" name="power-tick-1"/>
          <p:cNvCxnSpPr/>
          <p:nvPr/>
        </p:nvCxnSpPr>
        <p:spPr>
          <a:xfrm xmlns:a="http://schemas.openxmlformats.org/drawingml/2006/main" flipH="0" flipV="0">
            <a:off x="6419850" y="481965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48" name="power-tick-label-1">
            <a:extLst xmlns:a="http://schemas.openxmlformats.org/drawingml/2006/main">
              <a:ext uri="{FF2B5EF4-FFF2-40B4-BE49-F238E27FC236}">
                <a16:creationId xmlns:a16="http://schemas.microsoft.com/office/drawing/2014/main" id="{7843C709-DA2A-49C2-9038-7B57B4D37AB0}"/>
              </a:ext>
            </a:extLst>
          </p:cNvPr>
          <p:cNvSpPr>
            <a:spLocks xmlns:a="http://schemas.openxmlformats.org/drawingml/2006/main" noGrp="1"/>
          </p:cNvSpPr>
          <p:nvPr/>
        </p:nvSpPr>
        <p:spPr>
          <a:xfrm xmlns:a="http://schemas.openxmlformats.org/drawingml/2006/main">
            <a:off x="6076950" y="50673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9736C"/>
                </a:solidFill>
                <a:latin typeface="Arial"/>
                <a:ea typeface="Arial"/>
                <a:cs typeface="Arial"/>
              </a:defRPr>
            </a:pPr>
            <a:r>
              <a:rPr sz="1125" b="0">
                <a:solidFill>
                  <a:srgbClr val="69736C"/>
                </a:solidFill>
                <a:latin typeface="Arial"/>
                <a:ea typeface="Arial"/>
                <a:cs typeface="Arial"/>
              </a:rPr>
              <a:t>10</a:t>
            </a:r>
          </a:p>
        </p:txBody>
      </p:sp>
      <p:cxnSp>
        <p:nvCxnSpPr>
          <p:cNvPr id="86" name="power-tick-2"/>
          <p:cNvCxnSpPr/>
          <p:nvPr/>
        </p:nvCxnSpPr>
        <p:spPr>
          <a:xfrm xmlns:a="http://schemas.openxmlformats.org/drawingml/2006/main" flipH="0" flipV="0">
            <a:off x="8877300" y="481965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50" name="power-tick-label-2">
            <a:extLst xmlns:a="http://schemas.openxmlformats.org/drawingml/2006/main">
              <a:ext uri="{FF2B5EF4-FFF2-40B4-BE49-F238E27FC236}">
                <a16:creationId xmlns:a16="http://schemas.microsoft.com/office/drawing/2014/main" id="{DC3FB6B9-4038-4215-B558-85AD11651511}"/>
              </a:ext>
            </a:extLst>
          </p:cNvPr>
          <p:cNvSpPr>
            <a:spLocks xmlns:a="http://schemas.openxmlformats.org/drawingml/2006/main" noGrp="1"/>
          </p:cNvSpPr>
          <p:nvPr/>
        </p:nvSpPr>
        <p:spPr>
          <a:xfrm xmlns:a="http://schemas.openxmlformats.org/drawingml/2006/main">
            <a:off x="8534400" y="50673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9736C"/>
                </a:solidFill>
                <a:latin typeface="Arial"/>
                <a:ea typeface="Arial"/>
                <a:cs typeface="Arial"/>
              </a:defRPr>
            </a:pPr>
            <a:r>
              <a:rPr sz="1125" b="0">
                <a:solidFill>
                  <a:srgbClr val="69736C"/>
                </a:solidFill>
                <a:latin typeface="Arial"/>
                <a:ea typeface="Arial"/>
                <a:cs typeface="Arial"/>
              </a:rPr>
              <a:t>100</a:t>
            </a:r>
          </a:p>
        </p:txBody>
      </p:sp>
      <p:cxnSp>
        <p:nvCxnSpPr>
          <p:cNvPr id="88" name="power-tick-3"/>
          <p:cNvCxnSpPr/>
          <p:nvPr/>
        </p:nvCxnSpPr>
        <p:spPr>
          <a:xfrm xmlns:a="http://schemas.openxmlformats.org/drawingml/2006/main" flipH="0" flipV="0">
            <a:off x="11334750" y="4819650"/>
            <a:ext cx="0" cy="190500"/>
          </a:xfrm>
          <a:prstGeom xmlns:a="http://schemas.openxmlformats.org/drawingml/2006/main" prst="straightConnector1">
            <a:avLst/>
          </a:prstGeom>
          <a:ln xmlns:a="http://schemas.openxmlformats.org/drawingml/2006/main" w="19050">
            <a:solidFill>
              <a:srgbClr val="B8BCC4"/>
            </a:solidFill>
            <a:prstDash val="solid"/>
          </a:ln>
        </p:spPr>
      </p:cxnSp>
      <p:sp>
        <p:nvSpPr>
          <p:cNvPr id="52" name="power-tick-label-3">
            <a:extLst xmlns:a="http://schemas.openxmlformats.org/drawingml/2006/main">
              <a:ext uri="{FF2B5EF4-FFF2-40B4-BE49-F238E27FC236}">
                <a16:creationId xmlns:a16="http://schemas.microsoft.com/office/drawing/2014/main" id="{024D3E0D-0882-4359-8923-86D1ACF25016}"/>
              </a:ext>
            </a:extLst>
          </p:cNvPr>
          <p:cNvSpPr>
            <a:spLocks xmlns:a="http://schemas.openxmlformats.org/drawingml/2006/main" noGrp="1"/>
          </p:cNvSpPr>
          <p:nvPr/>
        </p:nvSpPr>
        <p:spPr>
          <a:xfrm xmlns:a="http://schemas.openxmlformats.org/drawingml/2006/main">
            <a:off x="10991850" y="50673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9736C"/>
                </a:solidFill>
                <a:latin typeface="Arial"/>
                <a:ea typeface="Arial"/>
                <a:cs typeface="Arial"/>
              </a:defRPr>
            </a:pPr>
            <a:r>
              <a:rPr sz="1125" b="0">
                <a:solidFill>
                  <a:srgbClr val="69736C"/>
                </a:solidFill>
                <a:latin typeface="Arial"/>
                <a:ea typeface="Arial"/>
                <a:cs typeface="Arial"/>
              </a:rPr>
              <a:t>1000</a:t>
            </a:r>
          </a:p>
        </p:txBody>
      </p:sp>
      <p:cxnSp>
        <p:nvCxnSpPr>
          <p:cNvPr id="90" name="power-marker"/>
          <p:cNvCxnSpPr/>
          <p:nvPr/>
        </p:nvCxnSpPr>
        <p:spPr>
          <a:xfrm xmlns:a="http://schemas.openxmlformats.org/drawingml/2006/main" flipH="0" flipV="0">
            <a:off x="9617066" y="4733925"/>
            <a:ext cx="0" cy="361950"/>
          </a:xfrm>
          <a:prstGeom xmlns:a="http://schemas.openxmlformats.org/drawingml/2006/main" prst="straightConnector1">
            <a:avLst/>
          </a:prstGeom>
          <a:ln xmlns:a="http://schemas.openxmlformats.org/drawingml/2006/main" w="47625">
            <a:solidFill>
              <a:srgbClr val="FF5B35"/>
            </a:solidFill>
            <a:prstDash val="solid"/>
          </a:ln>
        </p:spPr>
      </p:cxnSp>
      <p:sp>
        <p:nvSpPr>
          <p:cNvPr id="54" name="power-default-box">
            <a:extLst xmlns:a="http://schemas.openxmlformats.org/drawingml/2006/main">
              <a:ext uri="{FF2B5EF4-FFF2-40B4-BE49-F238E27FC236}">
                <a16:creationId xmlns:a16="http://schemas.microsoft.com/office/drawing/2014/main" id="{0AAC5366-3C66-44BB-9EDF-C9EAFC80BCA9}"/>
              </a:ext>
            </a:extLst>
          </p:cNvPr>
          <p:cNvSpPr>
            <a:spLocks xmlns:a="http://schemas.openxmlformats.org/drawingml/2006/main" noGrp="1"/>
          </p:cNvSpPr>
          <p:nvPr/>
        </p:nvSpPr>
        <p:spPr>
          <a:xfrm xmlns:a="http://schemas.openxmlformats.org/drawingml/2006/main">
            <a:off x="9026516" y="4362450"/>
            <a:ext cx="1181100" cy="295275"/>
          </a:xfrm>
          <a:prstGeom xmlns:a="http://schemas.openxmlformats.org/drawingml/2006/main" prst="roundRect">
            <a:avLst>
              <a:gd name="adj" fmla="val 25806"/>
            </a:avLst>
          </a:prstGeom>
          <a:solidFill xmlns:a="http://schemas.openxmlformats.org/drawingml/2006/main">
            <a:srgbClr val="FF5B35"/>
          </a:solidFill>
          <a:ln xmlns:a="http://schemas.openxmlformats.org/drawingml/2006/main" w="9525">
            <a:solidFill>
              <a:srgbClr val="FF5B35"/>
            </a:solidFill>
            <a:prstDash val="solid"/>
          </a:ln>
        </p:spPr>
      </p:sp>
      <p:sp>
        <p:nvSpPr>
          <p:cNvPr id="55" name="power-default-text">
            <a:extLst xmlns:a="http://schemas.openxmlformats.org/drawingml/2006/main">
              <a:ext uri="{FF2B5EF4-FFF2-40B4-BE49-F238E27FC236}">
                <a16:creationId xmlns:a16="http://schemas.microsoft.com/office/drawing/2014/main" id="{F46C85A5-6136-4A0B-B995-E0D826C98C46}"/>
              </a:ext>
            </a:extLst>
          </p:cNvPr>
          <p:cNvSpPr>
            <a:spLocks xmlns:a="http://schemas.openxmlformats.org/drawingml/2006/main" noGrp="1"/>
          </p:cNvSpPr>
          <p:nvPr/>
        </p:nvSpPr>
        <p:spPr>
          <a:xfrm xmlns:a="http://schemas.openxmlformats.org/drawingml/2006/main">
            <a:off x="9026516" y="4362450"/>
            <a:ext cx="1181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rmAutofit fontScale="100000"/>
          </a:bodyPr>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DEFAULT 200</a:t>
            </a:r>
          </a:p>
        </p:txBody>
      </p:sp>
      <p:sp>
        <p:nvSpPr>
          <p:cNvPr id="56" name="log-footer-note">
            <a:extLst xmlns:a="http://schemas.openxmlformats.org/drawingml/2006/main">
              <a:ext uri="{FF2B5EF4-FFF2-40B4-BE49-F238E27FC236}">
                <a16:creationId xmlns:a16="http://schemas.microsoft.com/office/drawing/2014/main" id="{83C4A469-A59E-4FD8-B38A-7327BA175B58}"/>
              </a:ext>
            </a:extLst>
          </p:cNvPr>
          <p:cNvSpPr>
            <a:spLocks xmlns:a="http://schemas.openxmlformats.org/drawingml/2006/main" noGrp="1"/>
          </p:cNvSpPr>
          <p:nvPr/>
        </p:nvSpPr>
        <p:spPr>
          <a:xfrm xmlns:a="http://schemas.openxmlformats.org/drawingml/2006/main">
            <a:off x="3962400" y="5886450"/>
            <a:ext cx="737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41D"/>
                </a:solidFill>
                <a:latin typeface="Arial"/>
                <a:ea typeface="Arial"/>
                <a:cs typeface="Arial"/>
              </a:defRPr>
            </a:pPr>
            <a:r>
              <a:rPr sz="1275" b="1">
                <a:solidFill>
                  <a:srgbClr val="17241D"/>
                </a:solidFill>
                <a:latin typeface="Arial"/>
                <a:ea typeface="Arial"/>
                <a:cs typeface="Arial"/>
              </a:rPr>
              <a:t>One UI step changes either control by +12.2% (or −10.9% in reverse).</a:t>
            </a:r>
          </a:p>
        </p:txBody>
      </p:sp>
    </p:spTree>
    <p:extLst>
      <p:ext uri="{BB962C8B-B14F-4D97-AF65-F5344CB8AC3E}">
        <p14:creationId xmlns:p14="http://schemas.microsoft.com/office/powerpoint/2010/main" val="6818112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6-kicker">
            <a:extLst xmlns:a="http://schemas.openxmlformats.org/drawingml/2006/main">
              <a:ext uri="{FF2B5EF4-FFF2-40B4-BE49-F238E27FC236}">
                <a16:creationId xmlns:a16="http://schemas.microsoft.com/office/drawing/2014/main" id="{30B931A6-EBAC-4DCF-8A8E-AD56336902BA}"/>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10</a:t>
            </a:r>
          </a:p>
        </p:txBody>
      </p:sp>
      <p:sp>
        <p:nvSpPr>
          <p:cNvPr id="2" name="slide-6-title">
            <a:extLst xmlns:a="http://schemas.openxmlformats.org/drawingml/2006/main">
              <a:ext uri="{FF2B5EF4-FFF2-40B4-BE49-F238E27FC236}">
                <a16:creationId xmlns:a16="http://schemas.microsoft.com/office/drawing/2014/main" id="{B547A610-FF9B-40CE-AD7A-AEE15DF7E35F}"/>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17241D"/>
                </a:solidFill>
                <a:latin typeface="Arial"/>
                <a:ea typeface="Arial"/>
                <a:cs typeface="Arial"/>
              </a:defRPr>
            </a:pPr>
            <a:r>
              <a:rPr sz="3150" b="1">
                <a:solidFill>
                  <a:srgbClr val="17241D"/>
                </a:solidFill>
                <a:latin typeface="Arial"/>
                <a:ea typeface="Arial"/>
                <a:cs typeface="Arial"/>
              </a:rPr>
              <a:t>Scenario ranges and local sensitivity answer different questions.</a:t>
            </a:r>
          </a:p>
        </p:txBody>
      </p:sp>
      <p:sp>
        <p:nvSpPr>
          <p:cNvPr id="3" name="slide-6-subtitle">
            <a:extLst xmlns:a="http://schemas.openxmlformats.org/drawingml/2006/main">
              <a:ext uri="{FF2B5EF4-FFF2-40B4-BE49-F238E27FC236}">
                <a16:creationId xmlns:a16="http://schemas.microsoft.com/office/drawing/2014/main" id="{29492974-D281-483C-BE11-A03042BD3157}"/>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The evaluator reports deterministic intervals; it does not claim a statistical confidence distribution.</a:t>
            </a:r>
          </a:p>
        </p:txBody>
      </p:sp>
      <p:sp>
        <p:nvSpPr>
          <p:cNvPr id="14" name="footer-6-left">
            <a:extLst xmlns:a="http://schemas.openxmlformats.org/drawingml/2006/main">
              <a:ext uri="{FF2B5EF4-FFF2-40B4-BE49-F238E27FC236}">
                <a16:creationId xmlns:a16="http://schemas.microsoft.com/office/drawing/2014/main" id="{9D95D711-4C26-45D6-B908-F10BBCCAAFDA}"/>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15" name="footer-6-number">
            <a:extLst xmlns:a="http://schemas.openxmlformats.org/drawingml/2006/main">
              <a:ext uri="{FF2B5EF4-FFF2-40B4-BE49-F238E27FC236}">
                <a16:creationId xmlns:a16="http://schemas.microsoft.com/office/drawing/2014/main" id="{139E9598-BB8E-4075-AABB-9E94F106751C}"/>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10</a:t>
            </a:r>
          </a:p>
        </p:txBody>
      </p:sp>
      <p:sp>
        <p:nvSpPr>
          <p:cNvPr id="17" name="uncertainty-left">
            <a:extLst xmlns:a="http://schemas.openxmlformats.org/drawingml/2006/main">
              <a:ext uri="{FF2B5EF4-FFF2-40B4-BE49-F238E27FC236}">
                <a16:creationId xmlns:a16="http://schemas.microsoft.com/office/drawing/2014/main" id="{B9863118-0A78-4C37-A499-504985414F2D}"/>
              </a:ext>
            </a:extLst>
          </p:cNvPr>
          <p:cNvSpPr>
            <a:spLocks xmlns:a="http://schemas.openxmlformats.org/drawingml/2006/main" noGrp="1"/>
          </p:cNvSpPr>
          <p:nvPr/>
        </p:nvSpPr>
        <p:spPr>
          <a:xfrm xmlns:a="http://schemas.openxmlformats.org/drawingml/2006/main">
            <a:off x="514350" y="2476500"/>
            <a:ext cx="5124450" cy="33147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8" name="uncertainty-left-kicker">
            <a:extLst xmlns:a="http://schemas.openxmlformats.org/drawingml/2006/main">
              <a:ext uri="{FF2B5EF4-FFF2-40B4-BE49-F238E27FC236}">
                <a16:creationId xmlns:a16="http://schemas.microsoft.com/office/drawing/2014/main" id="{0EB37888-9063-47CB-80E5-920CFE5B1900}"/>
              </a:ext>
            </a:extLst>
          </p:cNvPr>
          <p:cNvSpPr>
            <a:spLocks xmlns:a="http://schemas.openxmlformats.org/drawingml/2006/main" noGrp="1"/>
          </p:cNvSpPr>
          <p:nvPr/>
        </p:nvSpPr>
        <p:spPr>
          <a:xfrm xmlns:a="http://schemas.openxmlformats.org/drawingml/2006/main">
            <a:off x="78105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INTERVAL PROPAGATION</a:t>
            </a:r>
          </a:p>
        </p:txBody>
      </p:sp>
      <p:sp>
        <p:nvSpPr>
          <p:cNvPr id="19" name="uncertainty-left-title">
            <a:extLst xmlns:a="http://schemas.openxmlformats.org/drawingml/2006/main">
              <a:ext uri="{FF2B5EF4-FFF2-40B4-BE49-F238E27FC236}">
                <a16:creationId xmlns:a16="http://schemas.microsoft.com/office/drawing/2014/main" id="{ACBEA68B-0B6D-4CFA-8E30-6EA231DBF1EE}"/>
              </a:ext>
            </a:extLst>
          </p:cNvPr>
          <p:cNvSpPr>
            <a:spLocks xmlns:a="http://schemas.openxmlformats.org/drawingml/2006/main" noGrp="1"/>
          </p:cNvSpPr>
          <p:nvPr/>
        </p:nvSpPr>
        <p:spPr>
          <a:xfrm xmlns:a="http://schemas.openxmlformats.org/drawingml/2006/main">
            <a:off x="781050" y="310515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241D"/>
                </a:solidFill>
                <a:latin typeface="Arial"/>
                <a:ea typeface="Arial"/>
                <a:cs typeface="Arial"/>
              </a:defRPr>
            </a:pPr>
            <a:r>
              <a:rPr sz="2100" b="1">
                <a:solidFill>
                  <a:srgbClr val="17241D"/>
                </a:solidFill>
                <a:latin typeface="Arial"/>
                <a:ea typeface="Arial"/>
                <a:cs typeface="Arial"/>
              </a:rPr>
              <a:t>What values are allowed?</a:t>
            </a:r>
          </a:p>
        </p:txBody>
      </p:sp>
      <p:sp>
        <p:nvSpPr>
          <p:cNvPr id="20" name="uncertainty-formula">
            <a:extLst xmlns:a="http://schemas.openxmlformats.org/drawingml/2006/main">
              <a:ext uri="{FF2B5EF4-FFF2-40B4-BE49-F238E27FC236}">
                <a16:creationId xmlns:a16="http://schemas.microsoft.com/office/drawing/2014/main" id="{BE404771-9E31-4A33-BE46-94C1F3E7FF50}"/>
              </a:ext>
            </a:extLst>
          </p:cNvPr>
          <p:cNvSpPr>
            <a:spLocks xmlns:a="http://schemas.openxmlformats.org/drawingml/2006/main" noGrp="1"/>
          </p:cNvSpPr>
          <p:nvPr/>
        </p:nvSpPr>
        <p:spPr>
          <a:xfrm xmlns:a="http://schemas.openxmlformats.org/drawingml/2006/main">
            <a:off x="781050" y="3667125"/>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500" b="1">
                <a:solidFill>
                  <a:srgbClr val="17241D"/>
                </a:solidFill>
                <a:latin typeface="Arial"/>
                <a:ea typeface="Arial"/>
                <a:cs typeface="Arial"/>
              </a:defRPr>
            </a:pPr>
            <a:r>
              <a:rPr sz="1500" b="1">
                <a:solidFill>
                  <a:srgbClr val="17241D"/>
                </a:solidFill>
                <a:latin typeface="Arial"/>
                <a:ea typeface="Arial"/>
                <a:cs typeface="Arial"/>
              </a:rPr>
              <a:t>Sum:   [Σ lowᵢ, Σ highᵢ]</a:t>
            </a:r>
          </a:p>
          <a:p xmlns:a="http://schemas.openxmlformats.org/drawingml/2006/main">
            <a:pPr algn="l">
              <a:lnSpc>
                <a:spcPct val="115000"/>
              </a:lnSpc>
              <a:buNone/>
              <a:defRPr sz="1500" b="1">
                <a:solidFill>
                  <a:srgbClr val="17241D"/>
                </a:solidFill>
                <a:latin typeface="Arial"/>
                <a:ea typeface="Arial"/>
                <a:cs typeface="Arial"/>
              </a:defRPr>
            </a:pPr>
            <a:r>
              <a:rPr sz="1500" b="1">
                <a:solidFill>
                  <a:srgbClr val="17241D"/>
                </a:solidFill>
                <a:latin typeface="Arial"/>
                <a:ea typeface="Arial"/>
                <a:cs typeface="Arial"/>
              </a:rPr>
              <a:t>Scale: [a·low, a·high]</a:t>
            </a:r>
          </a:p>
          <a:p xmlns:a="http://schemas.openxmlformats.org/drawingml/2006/main">
            <a:pPr algn="l">
              <a:lnSpc>
                <a:spcPct val="115000"/>
              </a:lnSpc>
              <a:buNone/>
              <a:defRPr sz="1500" b="1">
                <a:solidFill>
                  <a:srgbClr val="17241D"/>
                </a:solidFill>
                <a:latin typeface="Arial"/>
                <a:ea typeface="Arial"/>
                <a:cs typeface="Arial"/>
              </a:defRPr>
            </a:pPr>
            <a:r>
              <a:rPr sz="1500" b="1">
                <a:solidFill>
                  <a:srgbClr val="17241D"/>
                </a:solidFill>
                <a:latin typeface="Arial"/>
                <a:ea typeface="Arial"/>
                <a:cs typeface="Arial"/>
              </a:rPr>
              <a:t>Toggle: evaluate each boundary state</a:t>
            </a:r>
          </a:p>
        </p:txBody>
      </p:sp>
      <p:sp>
        <p:nvSpPr>
          <p:cNvPr id="21" name="uncertainty-left-note">
            <a:extLst xmlns:a="http://schemas.openxmlformats.org/drawingml/2006/main">
              <a:ext uri="{FF2B5EF4-FFF2-40B4-BE49-F238E27FC236}">
                <a16:creationId xmlns:a16="http://schemas.microsoft.com/office/drawing/2014/main" id="{EC84BE72-FF8B-4208-B7AE-5D54575765BB}"/>
              </a:ext>
            </a:extLst>
          </p:cNvPr>
          <p:cNvSpPr>
            <a:spLocks xmlns:a="http://schemas.openxmlformats.org/drawingml/2006/main" noGrp="1"/>
          </p:cNvSpPr>
          <p:nvPr/>
        </p:nvSpPr>
        <p:spPr>
          <a:xfrm xmlns:a="http://schemas.openxmlformats.org/drawingml/2006/main">
            <a:off x="781050" y="49911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69736C"/>
                </a:solidFill>
                <a:latin typeface="Arial"/>
                <a:ea typeface="Arial"/>
                <a:cs typeface="Arial"/>
              </a:defRPr>
            </a:pPr>
            <a:r>
              <a:rPr sz="1350" b="0">
                <a:solidFill>
                  <a:srgbClr val="69736C"/>
                </a:solidFill>
                <a:latin typeface="Arial"/>
                <a:ea typeface="Arial"/>
                <a:cs typeface="Arial"/>
              </a:rPr>
              <a:t>The result is a scenario envelope—</a:t>
            </a:r>
          </a:p>
          <a:p xmlns:a="http://schemas.openxmlformats.org/drawingml/2006/main">
            <a:pPr algn="l">
              <a:lnSpc>
                <a:spcPct val="104000"/>
              </a:lnSpc>
              <a:buNone/>
              <a:defRPr sz="1350" b="0">
                <a:solidFill>
                  <a:srgbClr val="69736C"/>
                </a:solidFill>
                <a:latin typeface="Arial"/>
                <a:ea typeface="Arial"/>
                <a:cs typeface="Arial"/>
              </a:defRPr>
            </a:pPr>
            <a:r>
              <a:rPr sz="1350" b="0">
                <a:solidFill>
                  <a:srgbClr val="69736C"/>
                </a:solidFill>
                <a:latin typeface="Arial"/>
                <a:ea typeface="Arial"/>
                <a:cs typeface="Arial"/>
              </a:rPr>
              <a:t>not a 95% confidence interval.</a:t>
            </a:r>
          </a:p>
        </p:txBody>
      </p:sp>
      <p:sp>
        <p:nvSpPr>
          <p:cNvPr id="22" name="sensitivity-right">
            <a:extLst xmlns:a="http://schemas.openxmlformats.org/drawingml/2006/main">
              <a:ext uri="{FF2B5EF4-FFF2-40B4-BE49-F238E27FC236}">
                <a16:creationId xmlns:a16="http://schemas.microsoft.com/office/drawing/2014/main" id="{CC0138DE-33E9-4689-882C-12BFA6670B56}"/>
              </a:ext>
            </a:extLst>
          </p:cNvPr>
          <p:cNvSpPr>
            <a:spLocks xmlns:a="http://schemas.openxmlformats.org/drawingml/2006/main" noGrp="1"/>
          </p:cNvSpPr>
          <p:nvPr/>
        </p:nvSpPr>
        <p:spPr>
          <a:xfrm xmlns:a="http://schemas.openxmlformats.org/drawingml/2006/main">
            <a:off x="5905500" y="2476500"/>
            <a:ext cx="5562600" cy="331470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23" name="sensitivity-kicker">
            <a:extLst xmlns:a="http://schemas.openxmlformats.org/drawingml/2006/main">
              <a:ext uri="{FF2B5EF4-FFF2-40B4-BE49-F238E27FC236}">
                <a16:creationId xmlns:a16="http://schemas.microsoft.com/office/drawing/2014/main" id="{6DA582E7-18F1-4C1E-A520-113D97064ED5}"/>
              </a:ext>
            </a:extLst>
          </p:cNvPr>
          <p:cNvSpPr>
            <a:spLocks xmlns:a="http://schemas.openxmlformats.org/drawingml/2006/main" noGrp="1"/>
          </p:cNvSpPr>
          <p:nvPr/>
        </p:nvSpPr>
        <p:spPr>
          <a:xfrm xmlns:a="http://schemas.openxmlformats.org/drawingml/2006/main">
            <a:off x="6172200" y="2724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D8FF57"/>
                </a:solidFill>
                <a:latin typeface="Arial"/>
                <a:ea typeface="Arial"/>
                <a:cs typeface="Arial"/>
              </a:defRPr>
            </a:pPr>
            <a:r>
              <a:rPr sz="1050" b="1">
                <a:solidFill>
                  <a:srgbClr val="D8FF57"/>
                </a:solidFill>
                <a:latin typeface="Arial"/>
                <a:ea typeface="Arial"/>
                <a:cs typeface="Arial"/>
              </a:rPr>
              <a:t>LOCAL SENSITIVITY</a:t>
            </a:r>
          </a:p>
        </p:txBody>
      </p:sp>
      <p:sp>
        <p:nvSpPr>
          <p:cNvPr id="24" name="sensitivity-title">
            <a:extLst xmlns:a="http://schemas.openxmlformats.org/drawingml/2006/main">
              <a:ext uri="{FF2B5EF4-FFF2-40B4-BE49-F238E27FC236}">
                <a16:creationId xmlns:a16="http://schemas.microsoft.com/office/drawing/2014/main" id="{90BB3696-C562-4DF8-B495-E737E2AC35B4}"/>
              </a:ext>
            </a:extLst>
          </p:cNvPr>
          <p:cNvSpPr>
            <a:spLocks xmlns:a="http://schemas.openxmlformats.org/drawingml/2006/main" noGrp="1"/>
          </p:cNvSpPr>
          <p:nvPr/>
        </p:nvSpPr>
        <p:spPr>
          <a:xfrm xmlns:a="http://schemas.openxmlformats.org/drawingml/2006/main">
            <a:off x="6172200" y="31051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7F5ED"/>
                </a:solidFill>
                <a:latin typeface="Arial"/>
                <a:ea typeface="Arial"/>
                <a:cs typeface="Arial"/>
              </a:defRPr>
            </a:pPr>
            <a:r>
              <a:rPr sz="2100" b="1">
                <a:solidFill>
                  <a:srgbClr val="F7F5ED"/>
                </a:solidFill>
                <a:latin typeface="Arial"/>
                <a:ea typeface="Arial"/>
                <a:cs typeface="Arial"/>
              </a:rPr>
              <a:t>Which assumption moves the base?</a:t>
            </a:r>
          </a:p>
        </p:txBody>
      </p:sp>
      <p:cxnSp>
        <p:nvCxnSpPr>
          <p:cNvPr id="54" name="sens-line-0"/>
          <p:cNvCxnSpPr/>
          <p:nvPr/>
        </p:nvCxnSpPr>
        <p:spPr>
          <a:xfrm xmlns:a="http://schemas.openxmlformats.org/drawingml/2006/main" flipH="0" flipV="0">
            <a:off x="6172200" y="4038600"/>
            <a:ext cx="4914900" cy="0"/>
          </a:xfrm>
          <a:prstGeom xmlns:a="http://schemas.openxmlformats.org/drawingml/2006/main" prst="straightConnector1">
            <a:avLst/>
          </a:prstGeom>
          <a:ln xmlns:a="http://schemas.openxmlformats.org/drawingml/2006/main" w="9525">
            <a:solidFill>
              <a:srgbClr val="536057"/>
            </a:solidFill>
            <a:prstDash val="solid"/>
          </a:ln>
        </p:spPr>
      </p:cxnSp>
      <p:sp>
        <p:nvSpPr>
          <p:cNvPr id="26" name="sens-factor-0">
            <a:extLst xmlns:a="http://schemas.openxmlformats.org/drawingml/2006/main">
              <a:ext uri="{FF2B5EF4-FFF2-40B4-BE49-F238E27FC236}">
                <a16:creationId xmlns:a16="http://schemas.microsoft.com/office/drawing/2014/main" id="{001CB4C7-1742-46E2-99F7-7AA9A3CB6CB3}"/>
              </a:ext>
            </a:extLst>
          </p:cNvPr>
          <p:cNvSpPr>
            <a:spLocks xmlns:a="http://schemas.openxmlformats.org/drawingml/2006/main" noGrp="1"/>
          </p:cNvSpPr>
          <p:nvPr/>
        </p:nvSpPr>
        <p:spPr>
          <a:xfrm xmlns:a="http://schemas.openxmlformats.org/drawingml/2006/main">
            <a:off x="6172200" y="3714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7F5ED"/>
                </a:solidFill>
                <a:latin typeface="Arial"/>
                <a:ea typeface="Arial"/>
                <a:cs typeface="Arial"/>
              </a:defRPr>
            </a:pPr>
            <a:r>
              <a:rPr sz="1200" b="1">
                <a:solidFill>
                  <a:srgbClr val="F7F5ED"/>
                </a:solidFill>
                <a:latin typeface="Arial"/>
                <a:ea typeface="Arial"/>
                <a:cs typeface="Arial"/>
              </a:rPr>
              <a:t>Electricity price</a:t>
            </a:r>
          </a:p>
        </p:txBody>
      </p:sp>
      <p:sp>
        <p:nvSpPr>
          <p:cNvPr id="27" name="sens-perturb-0">
            <a:extLst xmlns:a="http://schemas.openxmlformats.org/drawingml/2006/main">
              <a:ext uri="{FF2B5EF4-FFF2-40B4-BE49-F238E27FC236}">
                <a16:creationId xmlns:a16="http://schemas.microsoft.com/office/drawing/2014/main" id="{60BC281F-459F-4946-929E-82E92DBB4A51}"/>
              </a:ext>
            </a:extLst>
          </p:cNvPr>
          <p:cNvSpPr>
            <a:spLocks xmlns:a="http://schemas.openxmlformats.org/drawingml/2006/main" noGrp="1"/>
          </p:cNvSpPr>
          <p:nvPr/>
        </p:nvSpPr>
        <p:spPr>
          <a:xfrm xmlns:a="http://schemas.openxmlformats.org/drawingml/2006/main">
            <a:off x="8020050" y="37147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5B35"/>
                </a:solidFill>
                <a:latin typeface="Arial"/>
                <a:ea typeface="Arial"/>
                <a:cs typeface="Arial"/>
              </a:defRPr>
            </a:pPr>
            <a:r>
              <a:rPr sz="1125" b="1">
                <a:solidFill>
                  <a:srgbClr val="FF5B35"/>
                </a:solidFill>
                <a:latin typeface="Arial"/>
                <a:ea typeface="Arial"/>
                <a:cs typeface="Arial"/>
              </a:rPr>
              <a:t>×1.10</a:t>
            </a:r>
          </a:p>
        </p:txBody>
      </p:sp>
      <p:sp>
        <p:nvSpPr>
          <p:cNvPr id="28" name="sens-action-0">
            <a:extLst xmlns:a="http://schemas.openxmlformats.org/drawingml/2006/main">
              <a:ext uri="{FF2B5EF4-FFF2-40B4-BE49-F238E27FC236}">
                <a16:creationId xmlns:a16="http://schemas.microsoft.com/office/drawing/2014/main" id="{13995CF9-1430-4639-A28B-2272B7CE44FB}"/>
              </a:ext>
            </a:extLst>
          </p:cNvPr>
          <p:cNvSpPr>
            <a:spLocks xmlns:a="http://schemas.openxmlformats.org/drawingml/2006/main" noGrp="1"/>
          </p:cNvSpPr>
          <p:nvPr/>
        </p:nvSpPr>
        <p:spPr>
          <a:xfrm xmlns:a="http://schemas.openxmlformats.org/drawingml/2006/main">
            <a:off x="9372600" y="37147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A7B0A9"/>
                </a:solidFill>
                <a:latin typeface="Arial"/>
                <a:ea typeface="Arial"/>
                <a:cs typeface="Arial"/>
              </a:defRPr>
            </a:pPr>
            <a:r>
              <a:rPr sz="1050" b="0">
                <a:solidFill>
                  <a:srgbClr val="A7B0A9"/>
                </a:solidFill>
                <a:latin typeface="Arial"/>
                <a:ea typeface="Arial"/>
                <a:cs typeface="Arial"/>
              </a:rPr>
              <a:t>re-evaluate pₑ only</a:t>
            </a:r>
          </a:p>
        </p:txBody>
      </p:sp>
      <p:cxnSp>
        <p:nvCxnSpPr>
          <p:cNvPr id="58" name="sens-line-1"/>
          <p:cNvCxnSpPr/>
          <p:nvPr/>
        </p:nvCxnSpPr>
        <p:spPr>
          <a:xfrm xmlns:a="http://schemas.openxmlformats.org/drawingml/2006/main" flipH="0" flipV="0">
            <a:off x="6172200" y="4514850"/>
            <a:ext cx="4914900" cy="0"/>
          </a:xfrm>
          <a:prstGeom xmlns:a="http://schemas.openxmlformats.org/drawingml/2006/main" prst="straightConnector1">
            <a:avLst/>
          </a:prstGeom>
          <a:ln xmlns:a="http://schemas.openxmlformats.org/drawingml/2006/main" w="9525">
            <a:solidFill>
              <a:srgbClr val="536057"/>
            </a:solidFill>
            <a:prstDash val="solid"/>
          </a:ln>
        </p:spPr>
      </p:cxnSp>
      <p:sp>
        <p:nvSpPr>
          <p:cNvPr id="30" name="sens-factor-1">
            <a:extLst xmlns:a="http://schemas.openxmlformats.org/drawingml/2006/main">
              <a:ext uri="{FF2B5EF4-FFF2-40B4-BE49-F238E27FC236}">
                <a16:creationId xmlns:a16="http://schemas.microsoft.com/office/drawing/2014/main" id="{519BECD4-C239-40CC-BF19-F0B1DEE12313}"/>
              </a:ext>
            </a:extLst>
          </p:cNvPr>
          <p:cNvSpPr>
            <a:spLocks xmlns:a="http://schemas.openxmlformats.org/drawingml/2006/main" noGrp="1"/>
          </p:cNvSpPr>
          <p:nvPr/>
        </p:nvSpPr>
        <p:spPr>
          <a:xfrm xmlns:a="http://schemas.openxmlformats.org/drawingml/2006/main">
            <a:off x="6172200" y="41910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7F5ED"/>
                </a:solidFill>
                <a:latin typeface="Arial"/>
                <a:ea typeface="Arial"/>
                <a:cs typeface="Arial"/>
              </a:defRPr>
            </a:pPr>
            <a:r>
              <a:rPr sz="1200" b="1">
                <a:solidFill>
                  <a:srgbClr val="F7F5ED"/>
                </a:solidFill>
                <a:latin typeface="Arial"/>
                <a:ea typeface="Arial"/>
                <a:cs typeface="Arial"/>
              </a:rPr>
              <a:t>Robot multiplier</a:t>
            </a:r>
          </a:p>
        </p:txBody>
      </p:sp>
      <p:sp>
        <p:nvSpPr>
          <p:cNvPr id="31" name="sens-perturb-1">
            <a:extLst xmlns:a="http://schemas.openxmlformats.org/drawingml/2006/main">
              <a:ext uri="{FF2B5EF4-FFF2-40B4-BE49-F238E27FC236}">
                <a16:creationId xmlns:a16="http://schemas.microsoft.com/office/drawing/2014/main" id="{BF6CB115-C0D2-40B5-BF5A-EBBF2D0904E0}"/>
              </a:ext>
            </a:extLst>
          </p:cNvPr>
          <p:cNvSpPr>
            <a:spLocks xmlns:a="http://schemas.openxmlformats.org/drawingml/2006/main" noGrp="1"/>
          </p:cNvSpPr>
          <p:nvPr/>
        </p:nvSpPr>
        <p:spPr>
          <a:xfrm xmlns:a="http://schemas.openxmlformats.org/drawingml/2006/main">
            <a:off x="8020050" y="41910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5B35"/>
                </a:solidFill>
                <a:latin typeface="Arial"/>
                <a:ea typeface="Arial"/>
                <a:cs typeface="Arial"/>
              </a:defRPr>
            </a:pPr>
            <a:r>
              <a:rPr sz="1125" b="1">
                <a:solidFill>
                  <a:srgbClr val="FF5B35"/>
                </a:solidFill>
                <a:latin typeface="Arial"/>
                <a:ea typeface="Arial"/>
                <a:cs typeface="Arial"/>
              </a:rPr>
              <a:t>×1.10</a:t>
            </a:r>
          </a:p>
        </p:txBody>
      </p:sp>
      <p:sp>
        <p:nvSpPr>
          <p:cNvPr id="32" name="sens-action-1">
            <a:extLst xmlns:a="http://schemas.openxmlformats.org/drawingml/2006/main">
              <a:ext uri="{FF2B5EF4-FFF2-40B4-BE49-F238E27FC236}">
                <a16:creationId xmlns:a16="http://schemas.microsoft.com/office/drawing/2014/main" id="{24A804F6-E15C-4E47-912D-4B0E4FAAD994}"/>
              </a:ext>
            </a:extLst>
          </p:cNvPr>
          <p:cNvSpPr>
            <a:spLocks xmlns:a="http://schemas.openxmlformats.org/drawingml/2006/main" noGrp="1"/>
          </p:cNvSpPr>
          <p:nvPr/>
        </p:nvSpPr>
        <p:spPr>
          <a:xfrm xmlns:a="http://schemas.openxmlformats.org/drawingml/2006/main">
            <a:off x="9372600" y="41910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A7B0A9"/>
                </a:solidFill>
                <a:latin typeface="Arial"/>
                <a:ea typeface="Arial"/>
                <a:cs typeface="Arial"/>
              </a:defRPr>
            </a:pPr>
            <a:r>
              <a:rPr sz="1050" b="0">
                <a:solidFill>
                  <a:srgbClr val="A7B0A9"/>
                </a:solidFill>
                <a:latin typeface="Arial"/>
                <a:ea typeface="Arial"/>
                <a:cs typeface="Arial"/>
              </a:rPr>
              <a:t>re-evaluate mᵣ only</a:t>
            </a:r>
          </a:p>
        </p:txBody>
      </p:sp>
      <p:cxnSp>
        <p:nvCxnSpPr>
          <p:cNvPr id="62" name="sens-line-2"/>
          <p:cNvCxnSpPr/>
          <p:nvPr/>
        </p:nvCxnSpPr>
        <p:spPr>
          <a:xfrm xmlns:a="http://schemas.openxmlformats.org/drawingml/2006/main" flipH="0" flipV="0">
            <a:off x="6172200" y="4991100"/>
            <a:ext cx="4914900" cy="0"/>
          </a:xfrm>
          <a:prstGeom xmlns:a="http://schemas.openxmlformats.org/drawingml/2006/main" prst="straightConnector1">
            <a:avLst/>
          </a:prstGeom>
          <a:ln xmlns:a="http://schemas.openxmlformats.org/drawingml/2006/main" w="9525">
            <a:solidFill>
              <a:srgbClr val="536057"/>
            </a:solidFill>
            <a:prstDash val="solid"/>
          </a:ln>
        </p:spPr>
      </p:cxnSp>
      <p:sp>
        <p:nvSpPr>
          <p:cNvPr id="34" name="sens-factor-2">
            <a:extLst xmlns:a="http://schemas.openxmlformats.org/drawingml/2006/main">
              <a:ext uri="{FF2B5EF4-FFF2-40B4-BE49-F238E27FC236}">
                <a16:creationId xmlns:a16="http://schemas.microsoft.com/office/drawing/2014/main" id="{4042B456-8B16-4208-A46C-F52FAEA16999}"/>
              </a:ext>
            </a:extLst>
          </p:cNvPr>
          <p:cNvSpPr>
            <a:spLocks xmlns:a="http://schemas.openxmlformats.org/drawingml/2006/main" noGrp="1"/>
          </p:cNvSpPr>
          <p:nvPr/>
        </p:nvSpPr>
        <p:spPr>
          <a:xfrm xmlns:a="http://schemas.openxmlformats.org/drawingml/2006/main">
            <a:off x="6172200" y="46672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7F5ED"/>
                </a:solidFill>
                <a:latin typeface="Arial"/>
                <a:ea typeface="Arial"/>
                <a:cs typeface="Arial"/>
              </a:defRPr>
            </a:pPr>
            <a:r>
              <a:rPr sz="1200" b="1">
                <a:solidFill>
                  <a:srgbClr val="F7F5ED"/>
                </a:solidFill>
                <a:latin typeface="Arial"/>
                <a:ea typeface="Arial"/>
                <a:cs typeface="Arial"/>
              </a:rPr>
              <a:t>Scarcity</a:t>
            </a:r>
          </a:p>
        </p:txBody>
      </p:sp>
      <p:sp>
        <p:nvSpPr>
          <p:cNvPr id="35" name="sens-perturb-2">
            <a:extLst xmlns:a="http://schemas.openxmlformats.org/drawingml/2006/main">
              <a:ext uri="{FF2B5EF4-FFF2-40B4-BE49-F238E27FC236}">
                <a16:creationId xmlns:a16="http://schemas.microsoft.com/office/drawing/2014/main" id="{EC8B126C-0686-4B5F-89C3-13FF624FD9BB}"/>
              </a:ext>
            </a:extLst>
          </p:cNvPr>
          <p:cNvSpPr>
            <a:spLocks xmlns:a="http://schemas.openxmlformats.org/drawingml/2006/main" noGrp="1"/>
          </p:cNvSpPr>
          <p:nvPr/>
        </p:nvSpPr>
        <p:spPr>
          <a:xfrm xmlns:a="http://schemas.openxmlformats.org/drawingml/2006/main">
            <a:off x="8020050" y="46672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5B35"/>
                </a:solidFill>
                <a:latin typeface="Arial"/>
                <a:ea typeface="Arial"/>
                <a:cs typeface="Arial"/>
              </a:defRPr>
            </a:pPr>
            <a:r>
              <a:rPr sz="1125" b="1">
                <a:solidFill>
                  <a:srgbClr val="FF5B35"/>
                </a:solidFill>
                <a:latin typeface="Arial"/>
                <a:ea typeface="Arial"/>
                <a:cs typeface="Arial"/>
              </a:rPr>
              <a:t>ON ↔ OFF</a:t>
            </a:r>
          </a:p>
        </p:txBody>
      </p:sp>
      <p:sp>
        <p:nvSpPr>
          <p:cNvPr id="36" name="sens-action-2">
            <a:extLst xmlns:a="http://schemas.openxmlformats.org/drawingml/2006/main">
              <a:ext uri="{FF2B5EF4-FFF2-40B4-BE49-F238E27FC236}">
                <a16:creationId xmlns:a16="http://schemas.microsoft.com/office/drawing/2014/main" id="{97C3A5B2-64C3-4013-93D9-E0283CDFF0DC}"/>
              </a:ext>
            </a:extLst>
          </p:cNvPr>
          <p:cNvSpPr>
            <a:spLocks xmlns:a="http://schemas.openxmlformats.org/drawingml/2006/main" noGrp="1"/>
          </p:cNvSpPr>
          <p:nvPr/>
        </p:nvSpPr>
        <p:spPr>
          <a:xfrm xmlns:a="http://schemas.openxmlformats.org/drawingml/2006/main">
            <a:off x="9372600" y="4667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A7B0A9"/>
                </a:solidFill>
                <a:latin typeface="Arial"/>
                <a:ea typeface="Arial"/>
                <a:cs typeface="Arial"/>
              </a:defRPr>
            </a:pPr>
            <a:r>
              <a:rPr sz="1050" b="0">
                <a:solidFill>
                  <a:srgbClr val="A7B0A9"/>
                </a:solidFill>
                <a:latin typeface="Arial"/>
                <a:ea typeface="Arial"/>
                <a:cs typeface="Arial"/>
              </a:rPr>
              <a:t>re-evaluate boundary</a:t>
            </a:r>
          </a:p>
        </p:txBody>
      </p:sp>
      <p:cxnSp>
        <p:nvCxnSpPr>
          <p:cNvPr id="66" name="sens-line-3"/>
          <p:cNvCxnSpPr/>
          <p:nvPr/>
        </p:nvCxnSpPr>
        <p:spPr>
          <a:xfrm xmlns:a="http://schemas.openxmlformats.org/drawingml/2006/main" flipH="0" flipV="0">
            <a:off x="6172200" y="5467350"/>
            <a:ext cx="4914900" cy="0"/>
          </a:xfrm>
          <a:prstGeom xmlns:a="http://schemas.openxmlformats.org/drawingml/2006/main" prst="straightConnector1">
            <a:avLst/>
          </a:prstGeom>
          <a:ln xmlns:a="http://schemas.openxmlformats.org/drawingml/2006/main" w="9525">
            <a:solidFill>
              <a:srgbClr val="536057"/>
            </a:solidFill>
            <a:prstDash val="solid"/>
          </a:ln>
        </p:spPr>
      </p:cxnSp>
      <p:sp>
        <p:nvSpPr>
          <p:cNvPr id="38" name="sens-factor-3">
            <a:extLst xmlns:a="http://schemas.openxmlformats.org/drawingml/2006/main">
              <a:ext uri="{FF2B5EF4-FFF2-40B4-BE49-F238E27FC236}">
                <a16:creationId xmlns:a16="http://schemas.microsoft.com/office/drawing/2014/main" id="{597268B0-1968-4DBE-9840-E5D717F22755}"/>
              </a:ext>
            </a:extLst>
          </p:cNvPr>
          <p:cNvSpPr>
            <a:spLocks xmlns:a="http://schemas.openxmlformats.org/drawingml/2006/main" noGrp="1"/>
          </p:cNvSpPr>
          <p:nvPr/>
        </p:nvSpPr>
        <p:spPr>
          <a:xfrm xmlns:a="http://schemas.openxmlformats.org/drawingml/2006/main">
            <a:off x="6172200" y="51435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7F5ED"/>
                </a:solidFill>
                <a:latin typeface="Arial"/>
                <a:ea typeface="Arial"/>
                <a:cs typeface="Arial"/>
              </a:defRPr>
            </a:pPr>
            <a:r>
              <a:rPr sz="1200" b="1">
                <a:solidFill>
                  <a:srgbClr val="F7F5ED"/>
                </a:solidFill>
                <a:latin typeface="Arial"/>
                <a:ea typeface="Arial"/>
                <a:cs typeface="Arial"/>
              </a:rPr>
              <a:t>Depth</a:t>
            </a:r>
          </a:p>
        </p:txBody>
      </p:sp>
      <p:sp>
        <p:nvSpPr>
          <p:cNvPr id="39" name="sens-perturb-3">
            <a:extLst xmlns:a="http://schemas.openxmlformats.org/drawingml/2006/main">
              <a:ext uri="{FF2B5EF4-FFF2-40B4-BE49-F238E27FC236}">
                <a16:creationId xmlns:a16="http://schemas.microsoft.com/office/drawing/2014/main" id="{1D4F271A-1AF2-4241-9E91-DDFA30FCA785}"/>
              </a:ext>
            </a:extLst>
          </p:cNvPr>
          <p:cNvSpPr>
            <a:spLocks xmlns:a="http://schemas.openxmlformats.org/drawingml/2006/main" noGrp="1"/>
          </p:cNvSpPr>
          <p:nvPr/>
        </p:nvSpPr>
        <p:spPr>
          <a:xfrm xmlns:a="http://schemas.openxmlformats.org/drawingml/2006/main">
            <a:off x="8020050" y="51435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5B35"/>
                </a:solidFill>
                <a:latin typeface="Arial"/>
                <a:ea typeface="Arial"/>
                <a:cs typeface="Arial"/>
              </a:defRPr>
            </a:pPr>
            <a:r>
              <a:rPr sz="1125" b="1">
                <a:solidFill>
                  <a:srgbClr val="FF5B35"/>
                </a:solidFill>
                <a:latin typeface="Arial"/>
                <a:ea typeface="Arial"/>
                <a:cs typeface="Arial"/>
              </a:rPr>
              <a:t>d → d−1</a:t>
            </a:r>
          </a:p>
        </p:txBody>
      </p:sp>
      <p:sp>
        <p:nvSpPr>
          <p:cNvPr id="40" name="sens-action-3">
            <a:extLst xmlns:a="http://schemas.openxmlformats.org/drawingml/2006/main">
              <a:ext uri="{FF2B5EF4-FFF2-40B4-BE49-F238E27FC236}">
                <a16:creationId xmlns:a16="http://schemas.microsoft.com/office/drawing/2014/main" id="{9EBA190D-5BBA-453D-9CD0-27C2FAC2B2B9}"/>
              </a:ext>
            </a:extLst>
          </p:cNvPr>
          <p:cNvSpPr>
            <a:spLocks xmlns:a="http://schemas.openxmlformats.org/drawingml/2006/main" noGrp="1"/>
          </p:cNvSpPr>
          <p:nvPr/>
        </p:nvSpPr>
        <p:spPr>
          <a:xfrm xmlns:a="http://schemas.openxmlformats.org/drawingml/2006/main">
            <a:off x="9372600" y="51435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A7B0A9"/>
                </a:solidFill>
                <a:latin typeface="Arial"/>
                <a:ea typeface="Arial"/>
                <a:cs typeface="Arial"/>
              </a:defRPr>
            </a:pPr>
            <a:r>
              <a:rPr sz="1050" b="0">
                <a:solidFill>
                  <a:srgbClr val="A7B0A9"/>
                </a:solidFill>
                <a:latin typeface="Arial"/>
                <a:ea typeface="Arial"/>
                <a:cs typeface="Arial"/>
              </a:rPr>
              <a:t>compare cutoff ledger</a:t>
            </a:r>
          </a:p>
        </p:txBody>
      </p:sp>
    </p:spTree>
    <p:extLst>
      <p:ext uri="{BB962C8B-B14F-4D97-AF65-F5344CB8AC3E}">
        <p14:creationId xmlns:p14="http://schemas.microsoft.com/office/powerpoint/2010/main" val="1313671911"/>
      </p:ext>
    </p:extLst>
  </p:cSld>
</p:sld>
</file>

<file path=ppt/slides/slide11.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24" name="slide-5-kicker">
            <a:extLst xmlns:a="http://schemas.openxmlformats.org/drawingml/2006/main">
              <a:ext uri="{FF2B5EF4-FFF2-40B4-BE49-F238E27FC236}">
                <a16:creationId xmlns:a16="http://schemas.microsoft.com/office/drawing/2014/main" id="{136853E5-FE4E-4747-9D93-B8B889AC4779}"/>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11</a:t>
            </a:r>
          </a:p>
        </p:txBody>
      </p:sp>
      <p:sp>
        <p:nvSpPr>
          <p:cNvPr id="2" name="slide-5-title">
            <a:extLst xmlns:a="http://schemas.openxmlformats.org/drawingml/2006/main">
              <a:ext uri="{FF2B5EF4-FFF2-40B4-BE49-F238E27FC236}">
                <a16:creationId xmlns:a16="http://schemas.microsoft.com/office/drawing/2014/main" id="{5DB74E45-69FC-4E8B-8261-8A4DD85518DC}"/>
              </a:ext>
            </a:extLst>
          </p:cNvPr>
          <p:cNvSpPr>
            <a:spLocks xmlns:a="http://schemas.openxmlformats.org/drawingml/2006/main" noGrp="1"/>
          </p:cNvSpPr>
          <p:nvPr/>
        </p:nvSpPr>
        <p:spPr>
          <a:xfrm xmlns:a="http://schemas.openxmlformats.org/drawingml/2006/main">
            <a:off x="495300" y="704850"/>
            <a:ext cx="7810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17241D"/>
                </a:solidFill>
                <a:latin typeface="Arial"/>
                <a:ea typeface="Arial"/>
                <a:cs typeface="Arial"/>
              </a:defRPr>
            </a:pPr>
            <a:r>
              <a:rPr sz="3150" b="1">
                <a:solidFill>
                  <a:srgbClr val="17241D"/>
                </a:solidFill>
                <a:latin typeface="Arial"/>
                <a:ea typeface="Arial"/>
                <a:cs typeface="Arial"/>
              </a:rPr>
              <a:t>Boiling water provides a physics-anchored validation case.</a:t>
            </a:r>
          </a:p>
        </p:txBody>
      </p:sp>
      <p:sp>
        <p:nvSpPr>
          <p:cNvPr id="3" name="slide-5-subtitle">
            <a:extLst xmlns:a="http://schemas.openxmlformats.org/drawingml/2006/main">
              <a:ext uri="{FF2B5EF4-FFF2-40B4-BE49-F238E27FC236}">
                <a16:creationId xmlns:a16="http://schemas.microsoft.com/office/drawing/2014/main" id="{08E5D715-3CF9-491C-A14E-701C11CCDA6C}"/>
              </a:ext>
            </a:extLst>
          </p:cNvPr>
          <p:cNvSpPr>
            <a:spLocks xmlns:a="http://schemas.openxmlformats.org/drawingml/2006/main" noGrp="1"/>
          </p:cNvSpPr>
          <p:nvPr/>
        </p:nvSpPr>
        <p:spPr>
          <a:xfrm xmlns:a="http://schemas.openxmlformats.org/drawingml/2006/main">
            <a:off x="514350" y="17526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One litre from 21°C to 100°C; Q = mcₚΔT / η provides an analytically checkable lower bound.</a:t>
            </a:r>
          </a:p>
        </p:txBody>
      </p:sp>
      <p:sp>
        <p:nvSpPr>
          <p:cNvPr id="4" name="demo-big-number">
            <a:extLst xmlns:a="http://schemas.openxmlformats.org/drawingml/2006/main">
              <a:ext uri="{FF2B5EF4-FFF2-40B4-BE49-F238E27FC236}">
                <a16:creationId xmlns:a16="http://schemas.microsoft.com/office/drawing/2014/main" id="{358AAD68-1F46-49C8-9AFF-CC297EB4CD2C}"/>
              </a:ext>
            </a:extLst>
          </p:cNvPr>
          <p:cNvSpPr>
            <a:spLocks xmlns:a="http://schemas.openxmlformats.org/drawingml/2006/main" noGrp="1"/>
          </p:cNvSpPr>
          <p:nvPr/>
        </p:nvSpPr>
        <p:spPr>
          <a:xfrm xmlns:a="http://schemas.openxmlformats.org/drawingml/2006/main">
            <a:off x="8972550" y="1323975"/>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4050" b="1">
                <a:solidFill>
                  <a:srgbClr val="FF5B35"/>
                </a:solidFill>
                <a:latin typeface="Arial"/>
                <a:ea typeface="Arial"/>
                <a:cs typeface="Arial"/>
              </a:defRPr>
            </a:pPr>
            <a:r>
              <a:rPr sz="4050" b="1">
                <a:solidFill>
                  <a:srgbClr val="FF5B35"/>
                </a:solidFill>
                <a:latin typeface="Arial"/>
                <a:ea typeface="Arial"/>
                <a:cs typeface="Arial"/>
              </a:rPr>
              <a:t>6.7%</a:t>
            </a:r>
          </a:p>
        </p:txBody>
      </p:sp>
      <p:sp>
        <p:nvSpPr>
          <p:cNvPr id="5" name="demo-big-label">
            <a:extLst xmlns:a="http://schemas.openxmlformats.org/drawingml/2006/main">
              <a:ext uri="{FF2B5EF4-FFF2-40B4-BE49-F238E27FC236}">
                <a16:creationId xmlns:a16="http://schemas.microsoft.com/office/drawing/2014/main" id="{8971BCEF-5157-4779-B4CB-CFF34BD4BB95}"/>
              </a:ext>
            </a:extLst>
          </p:cNvPr>
          <p:cNvSpPr>
            <a:spLocks xmlns:a="http://schemas.openxmlformats.org/drawingml/2006/main" noGrp="1"/>
          </p:cNvSpPr>
          <p:nvPr/>
        </p:nvSpPr>
        <p:spPr>
          <a:xfrm xmlns:a="http://schemas.openxmlformats.org/drawingml/2006/main">
            <a:off x="8839200" y="22098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1">
                <a:solidFill>
                  <a:srgbClr val="17241D"/>
                </a:solidFill>
                <a:latin typeface="Arial"/>
                <a:ea typeface="Arial"/>
                <a:cs typeface="Arial"/>
              </a:defRPr>
            </a:pPr>
            <a:r>
              <a:rPr sz="1350" b="1">
                <a:solidFill>
                  <a:srgbClr val="17241D"/>
                </a:solidFill>
                <a:latin typeface="Arial"/>
                <a:ea typeface="Arial"/>
                <a:cs typeface="Arial"/>
              </a:rPr>
              <a:t>base cost compression</a:t>
            </a:r>
          </a:p>
        </p:txBody>
      </p:sp>
      <p:sp>
        <p:nvSpPr>
          <p:cNvPr id="6" name="today-bar-label">
            <a:extLst xmlns:a="http://schemas.openxmlformats.org/drawingml/2006/main">
              <a:ext uri="{FF2B5EF4-FFF2-40B4-BE49-F238E27FC236}">
                <a16:creationId xmlns:a16="http://schemas.microsoft.com/office/drawing/2014/main" id="{72EDAFA4-E3ED-4F48-9B4B-FFBD8F5CF312}"/>
              </a:ext>
            </a:extLst>
          </p:cNvPr>
          <p:cNvSpPr>
            <a:spLocks xmlns:a="http://schemas.openxmlformats.org/drawingml/2006/main" noGrp="1"/>
          </p:cNvSpPr>
          <p:nvPr/>
        </p:nvSpPr>
        <p:spPr>
          <a:xfrm xmlns:a="http://schemas.openxmlformats.org/drawingml/2006/main">
            <a:off x="866775" y="27146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41D"/>
                </a:solidFill>
                <a:latin typeface="Arial"/>
                <a:ea typeface="Arial"/>
                <a:cs typeface="Arial"/>
              </a:defRPr>
            </a:pPr>
            <a:r>
              <a:rPr sz="1125" b="1">
                <a:solidFill>
                  <a:srgbClr val="17241D"/>
                </a:solidFill>
                <a:latin typeface="Arial"/>
                <a:ea typeface="Arial"/>
                <a:cs typeface="Arial"/>
              </a:rPr>
              <a:t>CURRENT</a:t>
            </a:r>
          </a:p>
        </p:txBody>
      </p:sp>
      <p:sp>
        <p:nvSpPr>
          <p:cNvPr id="7" name="today-bar">
            <a:extLst xmlns:a="http://schemas.openxmlformats.org/drawingml/2006/main">
              <a:ext uri="{FF2B5EF4-FFF2-40B4-BE49-F238E27FC236}">
                <a16:creationId xmlns:a16="http://schemas.microsoft.com/office/drawing/2014/main" id="{35810AE3-9582-4CD8-9C0B-37D958557FCC}"/>
              </a:ext>
            </a:extLst>
          </p:cNvPr>
          <p:cNvSpPr>
            <a:spLocks xmlns:a="http://schemas.openxmlformats.org/drawingml/2006/main" noGrp="1"/>
          </p:cNvSpPr>
          <p:nvPr/>
        </p:nvSpPr>
        <p:spPr>
          <a:xfrm xmlns:a="http://schemas.openxmlformats.org/drawingml/2006/main">
            <a:off x="1866900" y="2676525"/>
            <a:ext cx="9144000" cy="51435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8" name="today-bar-value">
            <a:extLst xmlns:a="http://schemas.openxmlformats.org/drawingml/2006/main">
              <a:ext uri="{FF2B5EF4-FFF2-40B4-BE49-F238E27FC236}">
                <a16:creationId xmlns:a16="http://schemas.microsoft.com/office/drawing/2014/main" id="{53BC2BBA-7D87-4545-B83F-B2C1C407A2AC}"/>
              </a:ext>
            </a:extLst>
          </p:cNvPr>
          <p:cNvSpPr>
            <a:spLocks xmlns:a="http://schemas.openxmlformats.org/drawingml/2006/main" noGrp="1"/>
          </p:cNvSpPr>
          <p:nvPr/>
        </p:nvSpPr>
        <p:spPr>
          <a:xfrm xmlns:a="http://schemas.openxmlformats.org/drawingml/2006/main">
            <a:off x="9715500"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1">
                <a:solidFill>
                  <a:srgbClr val="FFFFFF"/>
                </a:solidFill>
                <a:latin typeface="Arial"/>
                <a:ea typeface="Arial"/>
                <a:cs typeface="Arial"/>
              </a:defRPr>
            </a:pPr>
            <a:r>
              <a:rPr sz="1350" b="1">
                <a:solidFill>
                  <a:srgbClr val="FFFFFF"/>
                </a:solidFill>
                <a:latin typeface="Arial"/>
                <a:ea typeface="Arial"/>
                <a:cs typeface="Arial"/>
              </a:rPr>
              <a:t>2.660¢</a:t>
            </a:r>
          </a:p>
        </p:txBody>
      </p:sp>
      <p:sp>
        <p:nvSpPr>
          <p:cNvPr id="9" name="floor-bar-label">
            <a:extLst xmlns:a="http://schemas.openxmlformats.org/drawingml/2006/main">
              <a:ext uri="{FF2B5EF4-FFF2-40B4-BE49-F238E27FC236}">
                <a16:creationId xmlns:a16="http://schemas.microsoft.com/office/drawing/2014/main" id="{63D2CF5A-30B9-4DDB-95D2-26D9C63D37A5}"/>
              </a:ext>
            </a:extLst>
          </p:cNvPr>
          <p:cNvSpPr>
            <a:spLocks xmlns:a="http://schemas.openxmlformats.org/drawingml/2006/main" noGrp="1"/>
          </p:cNvSpPr>
          <p:nvPr/>
        </p:nvSpPr>
        <p:spPr>
          <a:xfrm xmlns:a="http://schemas.openxmlformats.org/drawingml/2006/main">
            <a:off x="866775" y="3619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41D"/>
                </a:solidFill>
                <a:latin typeface="Arial"/>
                <a:ea typeface="Arial"/>
                <a:cs typeface="Arial"/>
              </a:defRPr>
            </a:pPr>
            <a:r>
              <a:rPr sz="1125" b="1">
                <a:solidFill>
                  <a:srgbClr val="17241D"/>
                </a:solidFill>
                <a:latin typeface="Arial"/>
                <a:ea typeface="Arial"/>
                <a:cs typeface="Arial"/>
              </a:rPr>
              <a:t>BASE</a:t>
            </a:r>
          </a:p>
        </p:txBody>
      </p:sp>
      <p:sp>
        <p:nvSpPr>
          <p:cNvPr id="10" name="floor-bar">
            <a:extLst xmlns:a="http://schemas.openxmlformats.org/drawingml/2006/main">
              <a:ext uri="{FF2B5EF4-FFF2-40B4-BE49-F238E27FC236}">
                <a16:creationId xmlns:a16="http://schemas.microsoft.com/office/drawing/2014/main" id="{0DB57404-EE52-4275-9881-DD180D689646}"/>
              </a:ext>
            </a:extLst>
          </p:cNvPr>
          <p:cNvSpPr>
            <a:spLocks xmlns:a="http://schemas.openxmlformats.org/drawingml/2006/main" noGrp="1"/>
          </p:cNvSpPr>
          <p:nvPr/>
        </p:nvSpPr>
        <p:spPr>
          <a:xfrm xmlns:a="http://schemas.openxmlformats.org/drawingml/2006/main">
            <a:off x="1866900" y="3581400"/>
            <a:ext cx="8534400" cy="514350"/>
          </a:xfrm>
          <a:prstGeom xmlns:a="http://schemas.openxmlformats.org/drawingml/2006/main" prst="rect">
            <a:avLst/>
          </a:prstGeom>
          <a:solidFill xmlns:a="http://schemas.openxmlformats.org/drawingml/2006/main">
            <a:srgbClr val="FF5B35"/>
          </a:solidFill>
          <a:ln xmlns:a="http://schemas.openxmlformats.org/drawingml/2006/main" w="0">
            <a:solidFill>
              <a:srgbClr val="FF5B35"/>
            </a:solidFill>
            <a:prstDash val="solid"/>
          </a:ln>
        </p:spPr>
      </p:sp>
      <p:sp>
        <p:nvSpPr>
          <p:cNvPr id="11" name="floor-bar-value">
            <a:extLst xmlns:a="http://schemas.openxmlformats.org/drawingml/2006/main">
              <a:ext uri="{FF2B5EF4-FFF2-40B4-BE49-F238E27FC236}">
                <a16:creationId xmlns:a16="http://schemas.microsoft.com/office/drawing/2014/main" id="{0722ABE8-1163-4B44-95C8-81D9E320FC52}"/>
              </a:ext>
            </a:extLst>
          </p:cNvPr>
          <p:cNvSpPr>
            <a:spLocks xmlns:a="http://schemas.openxmlformats.org/drawingml/2006/main" noGrp="1"/>
          </p:cNvSpPr>
          <p:nvPr/>
        </p:nvSpPr>
        <p:spPr>
          <a:xfrm xmlns:a="http://schemas.openxmlformats.org/drawingml/2006/main">
            <a:off x="9201150" y="37052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1">
                <a:solidFill>
                  <a:srgbClr val="FFFFFF"/>
                </a:solidFill>
                <a:latin typeface="Arial"/>
                <a:ea typeface="Arial"/>
                <a:cs typeface="Arial"/>
              </a:defRPr>
            </a:pPr>
            <a:r>
              <a:rPr sz="1350" b="1">
                <a:solidFill>
                  <a:srgbClr val="FFFFFF"/>
                </a:solidFill>
                <a:latin typeface="Arial"/>
                <a:ea typeface="Arial"/>
                <a:cs typeface="Arial"/>
              </a:rPr>
              <a:t>2.482¢</a:t>
            </a:r>
          </a:p>
        </p:txBody>
      </p:sp>
      <p:sp>
        <p:nvSpPr>
          <p:cNvPr id="12" name="range-label">
            <a:extLst xmlns:a="http://schemas.openxmlformats.org/drawingml/2006/main">
              <a:ext uri="{FF2B5EF4-FFF2-40B4-BE49-F238E27FC236}">
                <a16:creationId xmlns:a16="http://schemas.microsoft.com/office/drawing/2014/main" id="{1488AB93-9BFA-4BB4-BC9F-F6B2EED60D5B}"/>
              </a:ext>
            </a:extLst>
          </p:cNvPr>
          <p:cNvSpPr>
            <a:spLocks xmlns:a="http://schemas.openxmlformats.org/drawingml/2006/main" noGrp="1"/>
          </p:cNvSpPr>
          <p:nvPr/>
        </p:nvSpPr>
        <p:spPr>
          <a:xfrm xmlns:a="http://schemas.openxmlformats.org/drawingml/2006/main">
            <a:off x="866775" y="46005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69736C"/>
                </a:solidFill>
                <a:latin typeface="Arial"/>
                <a:ea typeface="Arial"/>
                <a:cs typeface="Arial"/>
              </a:defRPr>
            </a:pPr>
            <a:r>
              <a:rPr sz="1125" b="1">
                <a:solidFill>
                  <a:srgbClr val="69736C"/>
                </a:solidFill>
                <a:latin typeface="Arial"/>
                <a:ea typeface="Arial"/>
                <a:cs typeface="Arial"/>
              </a:rPr>
              <a:t>SCENARIO RANGE</a:t>
            </a:r>
          </a:p>
        </p:txBody>
      </p:sp>
      <p:cxnSp>
        <p:nvCxnSpPr>
          <p:cNvPr id="62" name="range-line"/>
          <p:cNvCxnSpPr/>
          <p:nvPr/>
        </p:nvCxnSpPr>
        <p:spPr>
          <a:xfrm xmlns:a="http://schemas.openxmlformats.org/drawingml/2006/main" flipH="0" flipV="0">
            <a:off x="2428875" y="4819650"/>
            <a:ext cx="2552700" cy="0"/>
          </a:xfrm>
          <a:prstGeom xmlns:a="http://schemas.openxmlformats.org/drawingml/2006/main" prst="straightConnector1">
            <a:avLst/>
          </a:prstGeom>
          <a:ln xmlns:a="http://schemas.openxmlformats.org/drawingml/2006/main" w="38100">
            <a:solidFill>
              <a:srgbClr val="B8BCC4"/>
            </a:solidFill>
            <a:prstDash val="solid"/>
          </a:ln>
        </p:spPr>
      </p:cxnSp>
      <p:sp>
        <p:nvSpPr>
          <p:cNvPr id="14" name="range-low">
            <a:extLst xmlns:a="http://schemas.openxmlformats.org/drawingml/2006/main">
              <a:ext uri="{FF2B5EF4-FFF2-40B4-BE49-F238E27FC236}">
                <a16:creationId xmlns:a16="http://schemas.microsoft.com/office/drawing/2014/main" id="{F9678A61-F834-41E6-9FF8-9BAC837B1A08}"/>
              </a:ext>
            </a:extLst>
          </p:cNvPr>
          <p:cNvSpPr>
            <a:spLocks xmlns:a="http://schemas.openxmlformats.org/drawingml/2006/main" noGrp="1"/>
          </p:cNvSpPr>
          <p:nvPr/>
        </p:nvSpPr>
        <p:spPr>
          <a:xfrm xmlns:a="http://schemas.openxmlformats.org/drawingml/2006/main">
            <a:off x="2371725" y="4743450"/>
            <a:ext cx="152400" cy="152400"/>
          </a:xfrm>
          <a:prstGeom xmlns:a="http://schemas.openxmlformats.org/drawingml/2006/main" prst="ellipse">
            <a:avLst/>
          </a:prstGeom>
          <a:solidFill xmlns:a="http://schemas.openxmlformats.org/drawingml/2006/main">
            <a:srgbClr val="17241D"/>
          </a:solidFill>
          <a:ln xmlns:a="http://schemas.openxmlformats.org/drawingml/2006/main" w="0">
            <a:solidFill>
              <a:srgbClr val="17241D"/>
            </a:solidFill>
            <a:prstDash val="solid"/>
          </a:ln>
        </p:spPr>
      </p:sp>
      <p:sp>
        <p:nvSpPr>
          <p:cNvPr id="15" name="range-base">
            <a:extLst xmlns:a="http://schemas.openxmlformats.org/drawingml/2006/main">
              <a:ext uri="{FF2B5EF4-FFF2-40B4-BE49-F238E27FC236}">
                <a16:creationId xmlns:a16="http://schemas.microsoft.com/office/drawing/2014/main" id="{0692BE0A-3587-4BC5-AE61-4D91A80F94C4}"/>
              </a:ext>
            </a:extLst>
          </p:cNvPr>
          <p:cNvSpPr>
            <a:spLocks xmlns:a="http://schemas.openxmlformats.org/drawingml/2006/main" noGrp="1"/>
          </p:cNvSpPr>
          <p:nvPr/>
        </p:nvSpPr>
        <p:spPr>
          <a:xfrm xmlns:a="http://schemas.openxmlformats.org/drawingml/2006/main">
            <a:off x="3171825" y="4705350"/>
            <a:ext cx="228600" cy="228600"/>
          </a:xfrm>
          <a:prstGeom xmlns:a="http://schemas.openxmlformats.org/drawingml/2006/main" prst="ellipse">
            <a:avLst/>
          </a:prstGeom>
          <a:solidFill xmlns:a="http://schemas.openxmlformats.org/drawingml/2006/main">
            <a:srgbClr val="FF5B35"/>
          </a:solidFill>
          <a:ln xmlns:a="http://schemas.openxmlformats.org/drawingml/2006/main" w="0">
            <a:solidFill>
              <a:srgbClr val="FF5B35"/>
            </a:solidFill>
            <a:prstDash val="solid"/>
          </a:ln>
        </p:spPr>
      </p:sp>
      <p:sp>
        <p:nvSpPr>
          <p:cNvPr id="16" name="range-high">
            <a:extLst xmlns:a="http://schemas.openxmlformats.org/drawingml/2006/main">
              <a:ext uri="{FF2B5EF4-FFF2-40B4-BE49-F238E27FC236}">
                <a16:creationId xmlns:a16="http://schemas.microsoft.com/office/drawing/2014/main" id="{DA9BAD68-D2A6-4427-A06D-08DA226DED38}"/>
              </a:ext>
            </a:extLst>
          </p:cNvPr>
          <p:cNvSpPr>
            <a:spLocks xmlns:a="http://schemas.openxmlformats.org/drawingml/2006/main" noGrp="1"/>
          </p:cNvSpPr>
          <p:nvPr/>
        </p:nvSpPr>
        <p:spPr>
          <a:xfrm xmlns:a="http://schemas.openxmlformats.org/drawingml/2006/main">
            <a:off x="4905375" y="4743450"/>
            <a:ext cx="152400" cy="152400"/>
          </a:xfrm>
          <a:prstGeom xmlns:a="http://schemas.openxmlformats.org/drawingml/2006/main" prst="ellipse">
            <a:avLst/>
          </a:prstGeom>
          <a:solidFill xmlns:a="http://schemas.openxmlformats.org/drawingml/2006/main">
            <a:srgbClr val="17241D"/>
          </a:solidFill>
          <a:ln xmlns:a="http://schemas.openxmlformats.org/drawingml/2006/main" w="0">
            <a:solidFill>
              <a:srgbClr val="17241D"/>
            </a:solidFill>
            <a:prstDash val="solid"/>
          </a:ln>
        </p:spPr>
      </p:sp>
      <p:sp>
        <p:nvSpPr>
          <p:cNvPr id="17" name="range-values">
            <a:extLst xmlns:a="http://schemas.openxmlformats.org/drawingml/2006/main">
              <a:ext uri="{FF2B5EF4-FFF2-40B4-BE49-F238E27FC236}">
                <a16:creationId xmlns:a16="http://schemas.microsoft.com/office/drawing/2014/main" id="{68CCDD89-D5FA-4FD2-83F9-F3FC49A757E4}"/>
              </a:ext>
            </a:extLst>
          </p:cNvPr>
          <p:cNvSpPr>
            <a:spLocks xmlns:a="http://schemas.openxmlformats.org/drawingml/2006/main" noGrp="1"/>
          </p:cNvSpPr>
          <p:nvPr/>
        </p:nvSpPr>
        <p:spPr>
          <a:xfrm xmlns:a="http://schemas.openxmlformats.org/drawingml/2006/main">
            <a:off x="2238375" y="504825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41D"/>
                </a:solidFill>
                <a:latin typeface="Arial"/>
                <a:ea typeface="Arial"/>
                <a:cs typeface="Arial"/>
              </a:defRPr>
            </a:pPr>
            <a:r>
              <a:rPr sz="1125" b="1">
                <a:solidFill>
                  <a:srgbClr val="17241D"/>
                </a:solidFill>
                <a:latin typeface="Arial"/>
                <a:ea typeface="Arial"/>
                <a:cs typeface="Arial"/>
              </a:rPr>
              <a:t>2.135¢ low       2.482¢ base                         3.460¢ high</a:t>
            </a:r>
          </a:p>
        </p:txBody>
      </p:sp>
      <p:sp>
        <p:nvSpPr>
          <p:cNvPr id="18" name="demo-energy-number">
            <a:extLst xmlns:a="http://schemas.openxmlformats.org/drawingml/2006/main">
              <a:ext uri="{FF2B5EF4-FFF2-40B4-BE49-F238E27FC236}">
                <a16:creationId xmlns:a16="http://schemas.microsoft.com/office/drawing/2014/main" id="{C17563EA-0418-4B95-AFF2-1D2F9C014FF8}"/>
              </a:ext>
            </a:extLst>
          </p:cNvPr>
          <p:cNvSpPr>
            <a:spLocks xmlns:a="http://schemas.openxmlformats.org/drawingml/2006/main" noGrp="1"/>
          </p:cNvSpPr>
          <p:nvPr/>
        </p:nvSpPr>
        <p:spPr>
          <a:xfrm xmlns:a="http://schemas.openxmlformats.org/drawingml/2006/main">
            <a:off x="6400800" y="42862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750" b="1">
                <a:solidFill>
                  <a:srgbClr val="FF5B35"/>
                </a:solidFill>
                <a:latin typeface="Arial"/>
                <a:ea typeface="Arial"/>
                <a:cs typeface="Arial"/>
              </a:defRPr>
            </a:pPr>
            <a:r>
              <a:rPr sz="3750" b="1">
                <a:solidFill>
                  <a:srgbClr val="FF5B35"/>
                </a:solidFill>
                <a:latin typeface="Arial"/>
                <a:ea typeface="Arial"/>
                <a:cs typeface="Arial"/>
              </a:rPr>
              <a:t>0.113</a:t>
            </a:r>
          </a:p>
        </p:txBody>
      </p:sp>
      <p:sp>
        <p:nvSpPr>
          <p:cNvPr id="19" name="demo-energy-label">
            <a:extLst xmlns:a="http://schemas.openxmlformats.org/drawingml/2006/main">
              <a:ext uri="{FF2B5EF4-FFF2-40B4-BE49-F238E27FC236}">
                <a16:creationId xmlns:a16="http://schemas.microsoft.com/office/drawing/2014/main" id="{3CBACCE8-5708-478E-8547-0E4DF6F357F0}"/>
              </a:ext>
            </a:extLst>
          </p:cNvPr>
          <p:cNvSpPr>
            <a:spLocks xmlns:a="http://schemas.openxmlformats.org/drawingml/2006/main" noGrp="1"/>
          </p:cNvSpPr>
          <p:nvPr/>
        </p:nvSpPr>
        <p:spPr>
          <a:xfrm xmlns:a="http://schemas.openxmlformats.org/drawingml/2006/main">
            <a:off x="6400800" y="49720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17241D"/>
                </a:solidFill>
                <a:latin typeface="Arial"/>
                <a:ea typeface="Arial"/>
                <a:cs typeface="Arial"/>
              </a:defRPr>
            </a:pPr>
            <a:r>
              <a:rPr sz="1350" b="1">
                <a:solidFill>
                  <a:srgbClr val="17241D"/>
                </a:solidFill>
                <a:latin typeface="Arial"/>
                <a:ea typeface="Arial"/>
                <a:cs typeface="Arial"/>
              </a:rPr>
              <a:t>modeled base energy / kWh</a:t>
            </a:r>
          </a:p>
        </p:txBody>
      </p:sp>
      <p:sp>
        <p:nvSpPr>
          <p:cNvPr id="20" name="demo-depth-number">
            <a:extLst xmlns:a="http://schemas.openxmlformats.org/drawingml/2006/main">
              <a:ext uri="{FF2B5EF4-FFF2-40B4-BE49-F238E27FC236}">
                <a16:creationId xmlns:a16="http://schemas.microsoft.com/office/drawing/2014/main" id="{97B3FB49-B007-497B-9FA4-77245894C3BB}"/>
              </a:ext>
            </a:extLst>
          </p:cNvPr>
          <p:cNvSpPr>
            <a:spLocks xmlns:a="http://schemas.openxmlformats.org/drawingml/2006/main" noGrp="1"/>
          </p:cNvSpPr>
          <p:nvPr/>
        </p:nvSpPr>
        <p:spPr>
          <a:xfrm xmlns:a="http://schemas.openxmlformats.org/drawingml/2006/main">
            <a:off x="9191625" y="42862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750" b="1">
                <a:solidFill>
                  <a:srgbClr val="FF5B35"/>
                </a:solidFill>
                <a:latin typeface="Arial"/>
                <a:ea typeface="Arial"/>
                <a:cs typeface="Arial"/>
              </a:defRPr>
            </a:pPr>
            <a:r>
              <a:rPr sz="3750" b="1">
                <a:solidFill>
                  <a:srgbClr val="FF5B35"/>
                </a:solidFill>
                <a:latin typeface="Arial"/>
                <a:ea typeface="Arial"/>
                <a:cs typeface="Arial"/>
              </a:rPr>
              <a:t>$200</a:t>
            </a:r>
          </a:p>
        </p:txBody>
      </p:sp>
      <p:sp>
        <p:nvSpPr>
          <p:cNvPr id="21" name="demo-depth-label">
            <a:extLst xmlns:a="http://schemas.openxmlformats.org/drawingml/2006/main">
              <a:ext uri="{FF2B5EF4-FFF2-40B4-BE49-F238E27FC236}">
                <a16:creationId xmlns:a16="http://schemas.microsoft.com/office/drawing/2014/main" id="{C6597313-D3DD-4FB2-AD44-23259934A664}"/>
              </a:ext>
            </a:extLst>
          </p:cNvPr>
          <p:cNvSpPr>
            <a:spLocks xmlns:a="http://schemas.openxmlformats.org/drawingml/2006/main" noGrp="1"/>
          </p:cNvSpPr>
          <p:nvPr/>
        </p:nvSpPr>
        <p:spPr>
          <a:xfrm xmlns:a="http://schemas.openxmlformats.org/drawingml/2006/main">
            <a:off x="9191625" y="49720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17241D"/>
                </a:solidFill>
                <a:latin typeface="Arial"/>
                <a:ea typeface="Arial"/>
                <a:cs typeface="Arial"/>
              </a:defRPr>
            </a:pPr>
            <a:r>
              <a:rPr sz="1350" b="1">
                <a:solidFill>
                  <a:srgbClr val="17241D"/>
                </a:solidFill>
                <a:latin typeface="Arial"/>
                <a:ea typeface="Arial"/>
                <a:cs typeface="Arial"/>
              </a:rPr>
              <a:t>electricity price / MWh</a:t>
            </a:r>
          </a:p>
        </p:txBody>
      </p:sp>
      <p:sp>
        <p:nvSpPr>
          <p:cNvPr id="22" name="footer-5-left">
            <a:extLst xmlns:a="http://schemas.openxmlformats.org/drawingml/2006/main">
              <a:ext uri="{FF2B5EF4-FFF2-40B4-BE49-F238E27FC236}">
                <a16:creationId xmlns:a16="http://schemas.microsoft.com/office/drawing/2014/main" id="{CCF9ADDA-9A4D-4614-8D06-0B00E703E138}"/>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23" name="footer-5-number">
            <a:extLst xmlns:a="http://schemas.openxmlformats.org/drawingml/2006/main">
              <a:ext uri="{FF2B5EF4-FFF2-40B4-BE49-F238E27FC236}">
                <a16:creationId xmlns:a16="http://schemas.microsoft.com/office/drawing/2014/main" id="{95C068E5-CFAF-410F-A3FA-44710D500B2E}"/>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11</a:t>
            </a:r>
          </a:p>
        </p:txBody>
      </p:sp>
    </p:spTree>
    <p:extLst>
      <p:ext uri="{BB962C8B-B14F-4D97-AF65-F5344CB8AC3E}">
        <p14:creationId xmlns:p14="http://schemas.microsoft.com/office/powerpoint/2010/main" val="681811260"/>
      </p:ext>
    </p:extLst>
  </p:cSld>
</p:sld>
</file>

<file path=ppt/slides/slide12.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24" name="slide-5-kicker">
            <a:extLst xmlns:a="http://schemas.openxmlformats.org/drawingml/2006/main">
              <a:ext uri="{FF2B5EF4-FFF2-40B4-BE49-F238E27FC236}">
                <a16:creationId xmlns:a16="http://schemas.microsoft.com/office/drawing/2014/main" id="{136853E5-FE4E-4747-9D93-B8B889AC4779}"/>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12</a:t>
            </a:r>
          </a:p>
        </p:txBody>
      </p:sp>
      <p:sp>
        <p:nvSpPr>
          <p:cNvPr id="2" name="slide-5-title">
            <a:extLst xmlns:a="http://schemas.openxmlformats.org/drawingml/2006/main">
              <a:ext uri="{FF2B5EF4-FFF2-40B4-BE49-F238E27FC236}">
                <a16:creationId xmlns:a16="http://schemas.microsoft.com/office/drawing/2014/main" id="{5DB74E45-69FC-4E8B-8261-8A4DD85518DC}"/>
              </a:ext>
            </a:extLst>
          </p:cNvPr>
          <p:cNvSpPr>
            <a:spLocks xmlns:a="http://schemas.openxmlformats.org/drawingml/2006/main" noGrp="1"/>
          </p:cNvSpPr>
          <p:nvPr/>
        </p:nvSpPr>
        <p:spPr>
          <a:xfrm xmlns:a="http://schemas.openxmlformats.org/drawingml/2006/main">
            <a:off x="495300" y="704850"/>
            <a:ext cx="7810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17241D"/>
                </a:solidFill>
                <a:latin typeface="Arial"/>
                <a:ea typeface="Arial"/>
                <a:cs typeface="Arial"/>
              </a:defRPr>
            </a:pPr>
            <a:r>
              <a:rPr sz="3150" b="1">
                <a:solidFill>
                  <a:srgbClr val="17241D"/>
                </a:solidFill>
                <a:latin typeface="Arial"/>
                <a:ea typeface="Arial"/>
                <a:cs typeface="Arial"/>
              </a:rPr>
              <a:t>Premium tea exercises every major rule in one tree.</a:t>
            </a:r>
          </a:p>
        </p:txBody>
      </p:sp>
      <p:sp>
        <p:nvSpPr>
          <p:cNvPr id="3" name="slide-5-subtitle">
            <a:extLst xmlns:a="http://schemas.openxmlformats.org/drawingml/2006/main">
              <a:ext uri="{FF2B5EF4-FFF2-40B4-BE49-F238E27FC236}">
                <a16:creationId xmlns:a16="http://schemas.microsoft.com/office/drawing/2014/main" id="{08E5D715-3CF9-491C-A14E-701C11CCDA6C}"/>
              </a:ext>
            </a:extLst>
          </p:cNvPr>
          <p:cNvSpPr>
            <a:spLocks xmlns:a="http://schemas.openxmlformats.org/drawingml/2006/main" noGrp="1"/>
          </p:cNvSpPr>
          <p:nvPr/>
        </p:nvSpPr>
        <p:spPr>
          <a:xfrm xmlns:a="http://schemas.openxmlformats.org/drawingml/2006/main">
            <a:off x="514350" y="17526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9736C"/>
                </a:solidFill>
                <a:latin typeface="Arial"/>
                <a:ea typeface="Arial"/>
                <a:cs typeface="Arial"/>
              </a:defRPr>
            </a:pPr>
            <a:r>
              <a:rPr sz="1425" b="0">
                <a:solidFill>
                  <a:srgbClr val="69736C"/>
                </a:solidFill>
                <a:latin typeface="Arial"/>
                <a:ea typeface="Arial"/>
                <a:cs typeface="Arial"/>
              </a:rPr>
              <a:t>The reconciled fixture includes labor replacement, allocated capital, energy, matter, scarcity, margin, and tax.</a:t>
            </a:r>
          </a:p>
        </p:txBody>
      </p:sp>
      <p:sp>
        <p:nvSpPr>
          <p:cNvPr id="4" name="demo-big-number">
            <a:extLst xmlns:a="http://schemas.openxmlformats.org/drawingml/2006/main">
              <a:ext uri="{FF2B5EF4-FFF2-40B4-BE49-F238E27FC236}">
                <a16:creationId xmlns:a16="http://schemas.microsoft.com/office/drawing/2014/main" id="{358AAD68-1F46-49C8-9AFF-CC297EB4CD2C}"/>
              </a:ext>
            </a:extLst>
          </p:cNvPr>
          <p:cNvSpPr>
            <a:spLocks xmlns:a="http://schemas.openxmlformats.org/drawingml/2006/main" noGrp="1"/>
          </p:cNvSpPr>
          <p:nvPr/>
        </p:nvSpPr>
        <p:spPr>
          <a:xfrm xmlns:a="http://schemas.openxmlformats.org/drawingml/2006/main">
            <a:off x="8972550" y="1323975"/>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4050" b="1">
                <a:solidFill>
                  <a:srgbClr val="FF5B35"/>
                </a:solidFill>
                <a:latin typeface="Arial"/>
                <a:ea typeface="Arial"/>
                <a:cs typeface="Arial"/>
              </a:defRPr>
            </a:pPr>
            <a:r>
              <a:rPr sz="4050" b="1">
                <a:solidFill>
                  <a:srgbClr val="FF5B35"/>
                </a:solidFill>
                <a:latin typeface="Arial"/>
                <a:ea typeface="Arial"/>
                <a:cs typeface="Arial"/>
              </a:rPr>
              <a:t>85.4%</a:t>
            </a:r>
          </a:p>
        </p:txBody>
      </p:sp>
      <p:sp>
        <p:nvSpPr>
          <p:cNvPr id="5" name="demo-big-label">
            <a:extLst xmlns:a="http://schemas.openxmlformats.org/drawingml/2006/main">
              <a:ext uri="{FF2B5EF4-FFF2-40B4-BE49-F238E27FC236}">
                <a16:creationId xmlns:a16="http://schemas.microsoft.com/office/drawing/2014/main" id="{8971BCEF-5157-4779-B4CB-CFF34BD4BB95}"/>
              </a:ext>
            </a:extLst>
          </p:cNvPr>
          <p:cNvSpPr>
            <a:spLocks xmlns:a="http://schemas.openxmlformats.org/drawingml/2006/main" noGrp="1"/>
          </p:cNvSpPr>
          <p:nvPr/>
        </p:nvSpPr>
        <p:spPr>
          <a:xfrm xmlns:a="http://schemas.openxmlformats.org/drawingml/2006/main">
            <a:off x="8839200" y="22098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1">
                <a:solidFill>
                  <a:srgbClr val="17241D"/>
                </a:solidFill>
                <a:latin typeface="Arial"/>
                <a:ea typeface="Arial"/>
                <a:cs typeface="Arial"/>
              </a:defRPr>
            </a:pPr>
            <a:r>
              <a:rPr sz="1350" b="1">
                <a:solidFill>
                  <a:srgbClr val="17241D"/>
                </a:solidFill>
                <a:latin typeface="Arial"/>
                <a:ea typeface="Arial"/>
                <a:cs typeface="Arial"/>
              </a:rPr>
              <a:t>base cost compression</a:t>
            </a:r>
          </a:p>
        </p:txBody>
      </p:sp>
      <p:sp>
        <p:nvSpPr>
          <p:cNvPr id="6" name="today-bar-label">
            <a:extLst xmlns:a="http://schemas.openxmlformats.org/drawingml/2006/main">
              <a:ext uri="{FF2B5EF4-FFF2-40B4-BE49-F238E27FC236}">
                <a16:creationId xmlns:a16="http://schemas.microsoft.com/office/drawing/2014/main" id="{72EDAFA4-E3ED-4F48-9B4B-FFBD8F5CF312}"/>
              </a:ext>
            </a:extLst>
          </p:cNvPr>
          <p:cNvSpPr>
            <a:spLocks xmlns:a="http://schemas.openxmlformats.org/drawingml/2006/main" noGrp="1"/>
          </p:cNvSpPr>
          <p:nvPr/>
        </p:nvSpPr>
        <p:spPr>
          <a:xfrm xmlns:a="http://schemas.openxmlformats.org/drawingml/2006/main">
            <a:off x="866775" y="27146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41D"/>
                </a:solidFill>
                <a:latin typeface="Arial"/>
                <a:ea typeface="Arial"/>
                <a:cs typeface="Arial"/>
              </a:defRPr>
            </a:pPr>
            <a:r>
              <a:rPr sz="1125" b="1">
                <a:solidFill>
                  <a:srgbClr val="17241D"/>
                </a:solidFill>
                <a:latin typeface="Arial"/>
                <a:ea typeface="Arial"/>
                <a:cs typeface="Arial"/>
              </a:rPr>
              <a:t>CURRENT</a:t>
            </a:r>
          </a:p>
        </p:txBody>
      </p:sp>
      <p:sp>
        <p:nvSpPr>
          <p:cNvPr id="7" name="today-bar">
            <a:extLst xmlns:a="http://schemas.openxmlformats.org/drawingml/2006/main">
              <a:ext uri="{FF2B5EF4-FFF2-40B4-BE49-F238E27FC236}">
                <a16:creationId xmlns:a16="http://schemas.microsoft.com/office/drawing/2014/main" id="{35810AE3-9582-4CD8-9C0B-37D958557FCC}"/>
              </a:ext>
            </a:extLst>
          </p:cNvPr>
          <p:cNvSpPr>
            <a:spLocks xmlns:a="http://schemas.openxmlformats.org/drawingml/2006/main" noGrp="1"/>
          </p:cNvSpPr>
          <p:nvPr/>
        </p:nvSpPr>
        <p:spPr>
          <a:xfrm xmlns:a="http://schemas.openxmlformats.org/drawingml/2006/main">
            <a:off x="1866900" y="2676525"/>
            <a:ext cx="9144000" cy="514350"/>
          </a:xfrm>
          <a:prstGeom xmlns:a="http://schemas.openxmlformats.org/drawingml/2006/main" prst="rect">
            <a:avLst/>
          </a:prstGeom>
          <a:solidFill xmlns:a="http://schemas.openxmlformats.org/drawingml/2006/main">
            <a:srgbClr val="17241D"/>
          </a:solidFill>
          <a:ln xmlns:a="http://schemas.openxmlformats.org/drawingml/2006/main" w="0">
            <a:solidFill>
              <a:srgbClr val="17241D"/>
            </a:solidFill>
            <a:prstDash val="solid"/>
          </a:ln>
        </p:spPr>
      </p:sp>
      <p:sp>
        <p:nvSpPr>
          <p:cNvPr id="8" name="today-bar-value">
            <a:extLst xmlns:a="http://schemas.openxmlformats.org/drawingml/2006/main">
              <a:ext uri="{FF2B5EF4-FFF2-40B4-BE49-F238E27FC236}">
                <a16:creationId xmlns:a16="http://schemas.microsoft.com/office/drawing/2014/main" id="{53BC2BBA-7D87-4545-B83F-B2C1C407A2AC}"/>
              </a:ext>
            </a:extLst>
          </p:cNvPr>
          <p:cNvSpPr>
            <a:spLocks xmlns:a="http://schemas.openxmlformats.org/drawingml/2006/main" noGrp="1"/>
          </p:cNvSpPr>
          <p:nvPr/>
        </p:nvSpPr>
        <p:spPr>
          <a:xfrm xmlns:a="http://schemas.openxmlformats.org/drawingml/2006/main">
            <a:off x="9715500"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1">
                <a:solidFill>
                  <a:srgbClr val="FFFFFF"/>
                </a:solidFill>
                <a:latin typeface="Arial"/>
                <a:ea typeface="Arial"/>
                <a:cs typeface="Arial"/>
              </a:defRPr>
            </a:pPr>
            <a:r>
              <a:rPr sz="1350" b="1">
                <a:solidFill>
                  <a:srgbClr val="FFFFFF"/>
                </a:solidFill>
                <a:latin typeface="Arial"/>
                <a:ea typeface="Arial"/>
                <a:cs typeface="Arial"/>
              </a:rPr>
              <a:t>$18.00</a:t>
            </a:r>
          </a:p>
        </p:txBody>
      </p:sp>
      <p:sp>
        <p:nvSpPr>
          <p:cNvPr id="9" name="floor-bar-label">
            <a:extLst xmlns:a="http://schemas.openxmlformats.org/drawingml/2006/main">
              <a:ext uri="{FF2B5EF4-FFF2-40B4-BE49-F238E27FC236}">
                <a16:creationId xmlns:a16="http://schemas.microsoft.com/office/drawing/2014/main" id="{63D2CF5A-30B9-4DDB-95D2-26D9C63D37A5}"/>
              </a:ext>
            </a:extLst>
          </p:cNvPr>
          <p:cNvSpPr>
            <a:spLocks xmlns:a="http://schemas.openxmlformats.org/drawingml/2006/main" noGrp="1"/>
          </p:cNvSpPr>
          <p:nvPr/>
        </p:nvSpPr>
        <p:spPr>
          <a:xfrm xmlns:a="http://schemas.openxmlformats.org/drawingml/2006/main">
            <a:off x="866775" y="3619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41D"/>
                </a:solidFill>
                <a:latin typeface="Arial"/>
                <a:ea typeface="Arial"/>
                <a:cs typeface="Arial"/>
              </a:defRPr>
            </a:pPr>
            <a:r>
              <a:rPr sz="1125" b="1">
                <a:solidFill>
                  <a:srgbClr val="17241D"/>
                </a:solidFill>
                <a:latin typeface="Arial"/>
                <a:ea typeface="Arial"/>
                <a:cs typeface="Arial"/>
              </a:rPr>
              <a:t>BASE</a:t>
            </a:r>
          </a:p>
        </p:txBody>
      </p:sp>
      <p:sp>
        <p:nvSpPr>
          <p:cNvPr id="10" name="floor-bar">
            <a:extLst xmlns:a="http://schemas.openxmlformats.org/drawingml/2006/main">
              <a:ext uri="{FF2B5EF4-FFF2-40B4-BE49-F238E27FC236}">
                <a16:creationId xmlns:a16="http://schemas.microsoft.com/office/drawing/2014/main" id="{0DB57404-EE52-4275-9881-DD180D689646}"/>
              </a:ext>
            </a:extLst>
          </p:cNvPr>
          <p:cNvSpPr>
            <a:spLocks xmlns:a="http://schemas.openxmlformats.org/drawingml/2006/main" noGrp="1"/>
          </p:cNvSpPr>
          <p:nvPr/>
        </p:nvSpPr>
        <p:spPr>
          <a:xfrm xmlns:a="http://schemas.openxmlformats.org/drawingml/2006/main">
            <a:off x="1866900" y="3581400"/>
            <a:ext cx="1333500" cy="514350"/>
          </a:xfrm>
          <a:prstGeom xmlns:a="http://schemas.openxmlformats.org/drawingml/2006/main" prst="rect">
            <a:avLst/>
          </a:prstGeom>
          <a:solidFill xmlns:a="http://schemas.openxmlformats.org/drawingml/2006/main">
            <a:srgbClr val="FF5B35"/>
          </a:solidFill>
          <a:ln xmlns:a="http://schemas.openxmlformats.org/drawingml/2006/main" w="0">
            <a:solidFill>
              <a:srgbClr val="FF5B35"/>
            </a:solidFill>
            <a:prstDash val="solid"/>
          </a:ln>
        </p:spPr>
      </p:sp>
      <p:sp>
        <p:nvSpPr>
          <p:cNvPr id="11" name="floor-bar-value">
            <a:extLst xmlns:a="http://schemas.openxmlformats.org/drawingml/2006/main">
              <a:ext uri="{FF2B5EF4-FFF2-40B4-BE49-F238E27FC236}">
                <a16:creationId xmlns:a16="http://schemas.microsoft.com/office/drawing/2014/main" id="{0722ABE8-1163-4B44-95C8-81D9E320FC52}"/>
              </a:ext>
            </a:extLst>
          </p:cNvPr>
          <p:cNvSpPr>
            <a:spLocks xmlns:a="http://schemas.openxmlformats.org/drawingml/2006/main" noGrp="1"/>
          </p:cNvSpPr>
          <p:nvPr/>
        </p:nvSpPr>
        <p:spPr>
          <a:xfrm xmlns:a="http://schemas.openxmlformats.org/drawingml/2006/main">
            <a:off x="1981200" y="37052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$2.62</a:t>
            </a:r>
          </a:p>
        </p:txBody>
      </p:sp>
      <p:sp>
        <p:nvSpPr>
          <p:cNvPr id="12" name="range-label">
            <a:extLst xmlns:a="http://schemas.openxmlformats.org/drawingml/2006/main">
              <a:ext uri="{FF2B5EF4-FFF2-40B4-BE49-F238E27FC236}">
                <a16:creationId xmlns:a16="http://schemas.microsoft.com/office/drawing/2014/main" id="{1488AB93-9BFA-4BB4-BC9F-F6B2EED60D5B}"/>
              </a:ext>
            </a:extLst>
          </p:cNvPr>
          <p:cNvSpPr>
            <a:spLocks xmlns:a="http://schemas.openxmlformats.org/drawingml/2006/main" noGrp="1"/>
          </p:cNvSpPr>
          <p:nvPr/>
        </p:nvSpPr>
        <p:spPr>
          <a:xfrm xmlns:a="http://schemas.openxmlformats.org/drawingml/2006/main">
            <a:off x="866775" y="46005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69736C"/>
                </a:solidFill>
                <a:latin typeface="Arial"/>
                <a:ea typeface="Arial"/>
                <a:cs typeface="Arial"/>
              </a:defRPr>
            </a:pPr>
            <a:r>
              <a:rPr sz="1125" b="1">
                <a:solidFill>
                  <a:srgbClr val="69736C"/>
                </a:solidFill>
                <a:latin typeface="Arial"/>
                <a:ea typeface="Arial"/>
                <a:cs typeface="Arial"/>
              </a:rPr>
              <a:t>SCENARIO RANGE</a:t>
            </a:r>
          </a:p>
        </p:txBody>
      </p:sp>
      <p:cxnSp>
        <p:nvCxnSpPr>
          <p:cNvPr id="62" name="range-line"/>
          <p:cNvCxnSpPr/>
          <p:nvPr/>
        </p:nvCxnSpPr>
        <p:spPr>
          <a:xfrm xmlns:a="http://schemas.openxmlformats.org/drawingml/2006/main" flipH="0" flipV="0">
            <a:off x="2428875" y="4819650"/>
            <a:ext cx="2552700" cy="0"/>
          </a:xfrm>
          <a:prstGeom xmlns:a="http://schemas.openxmlformats.org/drawingml/2006/main" prst="straightConnector1">
            <a:avLst/>
          </a:prstGeom>
          <a:ln xmlns:a="http://schemas.openxmlformats.org/drawingml/2006/main" w="38100">
            <a:solidFill>
              <a:srgbClr val="B8BCC4"/>
            </a:solidFill>
            <a:prstDash val="solid"/>
          </a:ln>
        </p:spPr>
      </p:cxnSp>
      <p:sp>
        <p:nvSpPr>
          <p:cNvPr id="14" name="range-low">
            <a:extLst xmlns:a="http://schemas.openxmlformats.org/drawingml/2006/main">
              <a:ext uri="{FF2B5EF4-FFF2-40B4-BE49-F238E27FC236}">
                <a16:creationId xmlns:a16="http://schemas.microsoft.com/office/drawing/2014/main" id="{F9678A61-F834-41E6-9FF8-9BAC837B1A08}"/>
              </a:ext>
            </a:extLst>
          </p:cNvPr>
          <p:cNvSpPr>
            <a:spLocks xmlns:a="http://schemas.openxmlformats.org/drawingml/2006/main" noGrp="1"/>
          </p:cNvSpPr>
          <p:nvPr/>
        </p:nvSpPr>
        <p:spPr>
          <a:xfrm xmlns:a="http://schemas.openxmlformats.org/drawingml/2006/main">
            <a:off x="2371725" y="4743450"/>
            <a:ext cx="152400" cy="152400"/>
          </a:xfrm>
          <a:prstGeom xmlns:a="http://schemas.openxmlformats.org/drawingml/2006/main" prst="ellipse">
            <a:avLst/>
          </a:prstGeom>
          <a:solidFill xmlns:a="http://schemas.openxmlformats.org/drawingml/2006/main">
            <a:srgbClr val="17241D"/>
          </a:solidFill>
          <a:ln xmlns:a="http://schemas.openxmlformats.org/drawingml/2006/main" w="0">
            <a:solidFill>
              <a:srgbClr val="17241D"/>
            </a:solidFill>
            <a:prstDash val="solid"/>
          </a:ln>
        </p:spPr>
      </p:sp>
      <p:sp>
        <p:nvSpPr>
          <p:cNvPr id="15" name="range-base">
            <a:extLst xmlns:a="http://schemas.openxmlformats.org/drawingml/2006/main">
              <a:ext uri="{FF2B5EF4-FFF2-40B4-BE49-F238E27FC236}">
                <a16:creationId xmlns:a16="http://schemas.microsoft.com/office/drawing/2014/main" id="{0692BE0A-3587-4BC5-AE61-4D91A80F94C4}"/>
              </a:ext>
            </a:extLst>
          </p:cNvPr>
          <p:cNvSpPr>
            <a:spLocks xmlns:a="http://schemas.openxmlformats.org/drawingml/2006/main" noGrp="1"/>
          </p:cNvSpPr>
          <p:nvPr/>
        </p:nvSpPr>
        <p:spPr>
          <a:xfrm xmlns:a="http://schemas.openxmlformats.org/drawingml/2006/main">
            <a:off x="3171825" y="4705350"/>
            <a:ext cx="228600" cy="228600"/>
          </a:xfrm>
          <a:prstGeom xmlns:a="http://schemas.openxmlformats.org/drawingml/2006/main" prst="ellipse">
            <a:avLst/>
          </a:prstGeom>
          <a:solidFill xmlns:a="http://schemas.openxmlformats.org/drawingml/2006/main">
            <a:srgbClr val="FF5B35"/>
          </a:solidFill>
          <a:ln xmlns:a="http://schemas.openxmlformats.org/drawingml/2006/main" w="0">
            <a:solidFill>
              <a:srgbClr val="FF5B35"/>
            </a:solidFill>
            <a:prstDash val="solid"/>
          </a:ln>
        </p:spPr>
      </p:sp>
      <p:sp>
        <p:nvSpPr>
          <p:cNvPr id="16" name="range-high">
            <a:extLst xmlns:a="http://schemas.openxmlformats.org/drawingml/2006/main">
              <a:ext uri="{FF2B5EF4-FFF2-40B4-BE49-F238E27FC236}">
                <a16:creationId xmlns:a16="http://schemas.microsoft.com/office/drawing/2014/main" id="{DA9BAD68-D2A6-4427-A06D-08DA226DED38}"/>
              </a:ext>
            </a:extLst>
          </p:cNvPr>
          <p:cNvSpPr>
            <a:spLocks xmlns:a="http://schemas.openxmlformats.org/drawingml/2006/main" noGrp="1"/>
          </p:cNvSpPr>
          <p:nvPr/>
        </p:nvSpPr>
        <p:spPr>
          <a:xfrm xmlns:a="http://schemas.openxmlformats.org/drawingml/2006/main">
            <a:off x="4905375" y="4743450"/>
            <a:ext cx="152400" cy="152400"/>
          </a:xfrm>
          <a:prstGeom xmlns:a="http://schemas.openxmlformats.org/drawingml/2006/main" prst="ellipse">
            <a:avLst/>
          </a:prstGeom>
          <a:solidFill xmlns:a="http://schemas.openxmlformats.org/drawingml/2006/main">
            <a:srgbClr val="17241D"/>
          </a:solidFill>
          <a:ln xmlns:a="http://schemas.openxmlformats.org/drawingml/2006/main" w="0">
            <a:solidFill>
              <a:srgbClr val="17241D"/>
            </a:solidFill>
            <a:prstDash val="solid"/>
          </a:ln>
        </p:spPr>
      </p:sp>
      <p:sp>
        <p:nvSpPr>
          <p:cNvPr id="17" name="range-values">
            <a:extLst xmlns:a="http://schemas.openxmlformats.org/drawingml/2006/main">
              <a:ext uri="{FF2B5EF4-FFF2-40B4-BE49-F238E27FC236}">
                <a16:creationId xmlns:a16="http://schemas.microsoft.com/office/drawing/2014/main" id="{68CCDD89-D5FA-4FD2-83F9-F3FC49A757E4}"/>
              </a:ext>
            </a:extLst>
          </p:cNvPr>
          <p:cNvSpPr>
            <a:spLocks xmlns:a="http://schemas.openxmlformats.org/drawingml/2006/main" noGrp="1"/>
          </p:cNvSpPr>
          <p:nvPr/>
        </p:nvSpPr>
        <p:spPr>
          <a:xfrm xmlns:a="http://schemas.openxmlformats.org/drawingml/2006/main">
            <a:off x="2238375" y="5048250"/>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41D"/>
                </a:solidFill>
                <a:latin typeface="Arial"/>
                <a:ea typeface="Arial"/>
                <a:cs typeface="Arial"/>
              </a:defRPr>
            </a:pPr>
            <a:r>
              <a:rPr sz="1125" b="1">
                <a:solidFill>
                  <a:srgbClr val="17241D"/>
                </a:solidFill>
                <a:latin typeface="Arial"/>
                <a:ea typeface="Arial"/>
                <a:cs typeface="Arial"/>
              </a:rPr>
              <a:t>$1.10 low       $2.62 base                         $5.89 high</a:t>
            </a:r>
          </a:p>
        </p:txBody>
      </p:sp>
      <p:sp>
        <p:nvSpPr>
          <p:cNvPr id="18" name="demo-energy-number">
            <a:extLst xmlns:a="http://schemas.openxmlformats.org/drawingml/2006/main">
              <a:ext uri="{FF2B5EF4-FFF2-40B4-BE49-F238E27FC236}">
                <a16:creationId xmlns:a16="http://schemas.microsoft.com/office/drawing/2014/main" id="{C17563EA-0418-4B95-AFF2-1D2F9C014FF8}"/>
              </a:ext>
            </a:extLst>
          </p:cNvPr>
          <p:cNvSpPr>
            <a:spLocks xmlns:a="http://schemas.openxmlformats.org/drawingml/2006/main" noGrp="1"/>
          </p:cNvSpPr>
          <p:nvPr/>
        </p:nvSpPr>
        <p:spPr>
          <a:xfrm xmlns:a="http://schemas.openxmlformats.org/drawingml/2006/main">
            <a:off x="6400800" y="42862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750" b="1">
                <a:solidFill>
                  <a:srgbClr val="FF5B35"/>
                </a:solidFill>
                <a:latin typeface="Arial"/>
                <a:ea typeface="Arial"/>
                <a:cs typeface="Arial"/>
              </a:defRPr>
            </a:pPr>
            <a:r>
              <a:rPr sz="3750" b="1">
                <a:solidFill>
                  <a:srgbClr val="FF5B35"/>
                </a:solidFill>
                <a:latin typeface="Arial"/>
                <a:ea typeface="Arial"/>
                <a:cs typeface="Arial"/>
              </a:rPr>
              <a:t>$200</a:t>
            </a:r>
          </a:p>
        </p:txBody>
      </p:sp>
      <p:sp>
        <p:nvSpPr>
          <p:cNvPr id="19" name="demo-energy-label">
            <a:extLst xmlns:a="http://schemas.openxmlformats.org/drawingml/2006/main">
              <a:ext uri="{FF2B5EF4-FFF2-40B4-BE49-F238E27FC236}">
                <a16:creationId xmlns:a16="http://schemas.microsoft.com/office/drawing/2014/main" id="{3CBACCE8-5708-478E-8547-0E4DF6F357F0}"/>
              </a:ext>
            </a:extLst>
          </p:cNvPr>
          <p:cNvSpPr>
            <a:spLocks xmlns:a="http://schemas.openxmlformats.org/drawingml/2006/main" noGrp="1"/>
          </p:cNvSpPr>
          <p:nvPr/>
        </p:nvSpPr>
        <p:spPr>
          <a:xfrm xmlns:a="http://schemas.openxmlformats.org/drawingml/2006/main">
            <a:off x="6400800" y="49720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17241D"/>
                </a:solidFill>
                <a:latin typeface="Arial"/>
                <a:ea typeface="Arial"/>
                <a:cs typeface="Arial"/>
              </a:defRPr>
            </a:pPr>
            <a:r>
              <a:rPr sz="1350" b="1">
                <a:solidFill>
                  <a:srgbClr val="17241D"/>
                </a:solidFill>
                <a:latin typeface="Arial"/>
                <a:ea typeface="Arial"/>
                <a:cs typeface="Arial"/>
              </a:rPr>
              <a:t>electricity price / MWh</a:t>
            </a:r>
          </a:p>
        </p:txBody>
      </p:sp>
      <p:sp>
        <p:nvSpPr>
          <p:cNvPr id="20" name="demo-depth-number">
            <a:extLst xmlns:a="http://schemas.openxmlformats.org/drawingml/2006/main">
              <a:ext uri="{FF2B5EF4-FFF2-40B4-BE49-F238E27FC236}">
                <a16:creationId xmlns:a16="http://schemas.microsoft.com/office/drawing/2014/main" id="{97B3FB49-B007-497B-9FA4-77245894C3BB}"/>
              </a:ext>
            </a:extLst>
          </p:cNvPr>
          <p:cNvSpPr>
            <a:spLocks xmlns:a="http://schemas.openxmlformats.org/drawingml/2006/main" noGrp="1"/>
          </p:cNvSpPr>
          <p:nvPr/>
        </p:nvSpPr>
        <p:spPr>
          <a:xfrm xmlns:a="http://schemas.openxmlformats.org/drawingml/2006/main">
            <a:off x="9191625" y="42862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750" b="1">
                <a:solidFill>
                  <a:srgbClr val="FF5B35"/>
                </a:solidFill>
                <a:latin typeface="Arial"/>
                <a:ea typeface="Arial"/>
                <a:cs typeface="Arial"/>
              </a:defRPr>
            </a:pPr>
            <a:r>
              <a:rPr sz="3750" b="1">
                <a:solidFill>
                  <a:srgbClr val="FF5B35"/>
                </a:solidFill>
                <a:latin typeface="Arial"/>
                <a:ea typeface="Arial"/>
                <a:cs typeface="Arial"/>
              </a:rPr>
              <a:t>5</a:t>
            </a:r>
          </a:p>
        </p:txBody>
      </p:sp>
      <p:sp>
        <p:nvSpPr>
          <p:cNvPr id="21" name="demo-depth-label">
            <a:extLst xmlns:a="http://schemas.openxmlformats.org/drawingml/2006/main">
              <a:ext uri="{FF2B5EF4-FFF2-40B4-BE49-F238E27FC236}">
                <a16:creationId xmlns:a16="http://schemas.microsoft.com/office/drawing/2014/main" id="{C6597313-D3DD-4FB2-AD44-23259934A664}"/>
              </a:ext>
            </a:extLst>
          </p:cNvPr>
          <p:cNvSpPr>
            <a:spLocks xmlns:a="http://schemas.openxmlformats.org/drawingml/2006/main" noGrp="1"/>
          </p:cNvSpPr>
          <p:nvPr/>
        </p:nvSpPr>
        <p:spPr>
          <a:xfrm xmlns:a="http://schemas.openxmlformats.org/drawingml/2006/main">
            <a:off x="9191625" y="49720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17241D"/>
                </a:solidFill>
                <a:latin typeface="Arial"/>
                <a:ea typeface="Arial"/>
                <a:cs typeface="Arial"/>
              </a:defRPr>
            </a:pPr>
            <a:r>
              <a:rPr sz="1350" b="1">
                <a:solidFill>
                  <a:srgbClr val="17241D"/>
                </a:solidFill>
                <a:latin typeface="Arial"/>
                <a:ea typeface="Arial"/>
                <a:cs typeface="Arial"/>
              </a:rPr>
              <a:t>recursive depth · 10 cutoffs</a:t>
            </a:r>
          </a:p>
        </p:txBody>
      </p:sp>
      <p:sp>
        <p:nvSpPr>
          <p:cNvPr id="22" name="footer-5-left">
            <a:extLst xmlns:a="http://schemas.openxmlformats.org/drawingml/2006/main">
              <a:ext uri="{FF2B5EF4-FFF2-40B4-BE49-F238E27FC236}">
                <a16:creationId xmlns:a16="http://schemas.microsoft.com/office/drawing/2014/main" id="{CCF9ADDA-9A4D-4614-8D06-0B00E703E138}"/>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23" name="footer-5-number">
            <a:extLst xmlns:a="http://schemas.openxmlformats.org/drawingml/2006/main">
              <a:ext uri="{FF2B5EF4-FFF2-40B4-BE49-F238E27FC236}">
                <a16:creationId xmlns:a16="http://schemas.microsoft.com/office/drawing/2014/main" id="{95C068E5-CFAF-410F-A3FA-44710D500B2E}"/>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12</a:t>
            </a:r>
          </a:p>
        </p:txBody>
      </p:sp>
    </p:spTree>
    <p:extLst>
      <p:ext uri="{BB962C8B-B14F-4D97-AF65-F5344CB8AC3E}">
        <p14:creationId xmlns:p14="http://schemas.microsoft.com/office/powerpoint/2010/main" val="6818112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6-kicker">
            <a:extLst xmlns:a="http://schemas.openxmlformats.org/drawingml/2006/main">
              <a:ext uri="{FF2B5EF4-FFF2-40B4-BE49-F238E27FC236}">
                <a16:creationId xmlns:a16="http://schemas.microsoft.com/office/drawing/2014/main" id="{30B931A6-EBAC-4DCF-8A8E-AD56336902BA}"/>
              </a:ext>
            </a:extLst>
          </p:cNvPr>
          <p:cNvSpPr>
            <a:spLocks xmlns:a="http://schemas.openxmlformats.org/drawingml/2006/main" noGrp="1"/>
          </p:cNvSpPr>
          <p:nvPr/>
        </p:nvSpPr>
        <p:spPr>
          <a:xfrm xmlns:a="http://schemas.openxmlformats.org/drawingml/2006/main">
            <a:off x="495300" y="3238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5B35"/>
                </a:solidFill>
                <a:latin typeface="Arial"/>
                <a:ea typeface="Arial"/>
                <a:cs typeface="Arial"/>
              </a:defRPr>
            </a:pPr>
            <a:r>
              <a:rPr sz="1050" b="1">
                <a:solidFill>
                  <a:srgbClr val="FF5B35"/>
                </a:solidFill>
                <a:latin typeface="Arial"/>
                <a:ea typeface="Arial"/>
                <a:cs typeface="Arial"/>
              </a:rPr>
              <a:t>COSTFLOOR  /  13</a:t>
            </a:r>
          </a:p>
        </p:txBody>
      </p:sp>
      <p:sp>
        <p:nvSpPr>
          <p:cNvPr id="2" name="slide-6-title">
            <a:extLst xmlns:a="http://schemas.openxmlformats.org/drawingml/2006/main">
              <a:ext uri="{FF2B5EF4-FFF2-40B4-BE49-F238E27FC236}">
                <a16:creationId xmlns:a16="http://schemas.microsoft.com/office/drawing/2014/main" id="{B547A610-FF9B-40CE-AD7A-AEE15DF7E35F}"/>
              </a:ext>
            </a:extLst>
          </p:cNvPr>
          <p:cNvSpPr>
            <a:spLocks xmlns:a="http://schemas.openxmlformats.org/drawingml/2006/main" noGrp="1"/>
          </p:cNvSpPr>
          <p:nvPr/>
        </p:nvSpPr>
        <p:spPr>
          <a:xfrm xmlns:a="http://schemas.openxmlformats.org/drawingml/2006/main">
            <a:off x="495300" y="704850"/>
            <a:ext cx="11125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17241D"/>
                </a:solidFill>
                <a:latin typeface="Arial"/>
                <a:ea typeface="Arial"/>
                <a:cs typeface="Arial"/>
              </a:defRPr>
            </a:pPr>
            <a:r>
              <a:rPr sz="3000" b="1">
                <a:solidFill>
                  <a:srgbClr val="17241D"/>
                </a:solidFill>
                <a:latin typeface="Arial"/>
                <a:ea typeface="Arial"/>
                <a:cs typeface="Arial"/>
              </a:rPr>
              <a:t>The baseline retains 8.6%–93.3% of current input, depending on the good.</a:t>
            </a:r>
          </a:p>
        </p:txBody>
      </p:sp>
      <p:sp>
        <p:nvSpPr>
          <p:cNvPr id="3" name="slide-6-subtitle">
            <a:extLst xmlns:a="http://schemas.openxmlformats.org/drawingml/2006/main">
              <a:ext uri="{FF2B5EF4-FFF2-40B4-BE49-F238E27FC236}">
                <a16:creationId xmlns:a16="http://schemas.microsoft.com/office/drawing/2014/main" id="{29492974-D281-483C-BE11-A03042BD3157}"/>
              </a:ext>
            </a:extLst>
          </p:cNvPr>
          <p:cNvSpPr>
            <a:spLocks xmlns:a="http://schemas.openxmlformats.org/drawingml/2006/main" noGrp="1"/>
          </p:cNvSpPr>
          <p:nvPr/>
        </p:nvSpPr>
        <p:spPr>
          <a:xfrm xmlns:a="http://schemas.openxmlformats.org/drawingml/2006/main">
            <a:off x="514350" y="1752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9736C"/>
                </a:solidFill>
                <a:latin typeface="Arial"/>
                <a:ea typeface="Arial"/>
                <a:cs typeface="Arial"/>
              </a:defRPr>
            </a:pPr>
            <a:r>
              <a:rPr sz="1350" b="0">
                <a:solidFill>
                  <a:srgbClr val="69736C"/>
                </a:solidFill>
                <a:latin typeface="Arial"/>
                <a:ea typeface="Arial"/>
                <a:cs typeface="Arial"/>
              </a:rPr>
              <a:t>Each row shows low–high floor/current; the orange marker is the base scenario and the dashed line is current input.</a:t>
            </a:r>
          </a:p>
        </p:txBody>
      </p:sp>
      <p:sp>
        <p:nvSpPr>
          <p:cNvPr id="14" name="footer-6-left">
            <a:extLst xmlns:a="http://schemas.openxmlformats.org/drawingml/2006/main">
              <a:ext uri="{FF2B5EF4-FFF2-40B4-BE49-F238E27FC236}">
                <a16:creationId xmlns:a16="http://schemas.microsoft.com/office/drawing/2014/main" id="{9D95D711-4C26-45D6-B908-F10BBCCAAFDA}"/>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9736C"/>
                </a:solidFill>
                <a:latin typeface="Arial"/>
                <a:ea typeface="Arial"/>
                <a:cs typeface="Arial"/>
              </a:defRPr>
            </a:pPr>
            <a:r>
              <a:rPr sz="900" b="1">
                <a:solidFill>
                  <a:srgbClr val="69736C"/>
                </a:solidFill>
                <a:latin typeface="Arial"/>
                <a:ea typeface="Arial"/>
                <a:cs typeface="Arial"/>
              </a:rPr>
              <a:t>AGI HOUSE HACKATHON  ·  AUG 2026</a:t>
            </a:r>
          </a:p>
        </p:txBody>
      </p:sp>
      <p:sp>
        <p:nvSpPr>
          <p:cNvPr id="15" name="footer-6-number">
            <a:extLst xmlns:a="http://schemas.openxmlformats.org/drawingml/2006/main">
              <a:ext uri="{FF2B5EF4-FFF2-40B4-BE49-F238E27FC236}">
                <a16:creationId xmlns:a16="http://schemas.microsoft.com/office/drawing/2014/main" id="{139E9598-BB8E-4075-AABB-9E94F106751C}"/>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69736C"/>
                </a:solidFill>
                <a:latin typeface="Arial"/>
                <a:ea typeface="Arial"/>
                <a:cs typeface="Arial"/>
              </a:defRPr>
            </a:pPr>
            <a:r>
              <a:rPr sz="900" b="1">
                <a:solidFill>
                  <a:srgbClr val="69736C"/>
                </a:solidFill>
                <a:latin typeface="Arial"/>
                <a:ea typeface="Arial"/>
                <a:cs typeface="Arial"/>
              </a:rPr>
              <a:t>13</a:t>
            </a:r>
          </a:p>
        </p:txBody>
      </p:sp>
      <p:sp>
        <p:nvSpPr>
          <p:cNvPr id="17" name="comparison-axis-label">
            <a:extLst xmlns:a="http://schemas.openxmlformats.org/drawingml/2006/main">
              <a:ext uri="{FF2B5EF4-FFF2-40B4-BE49-F238E27FC236}">
                <a16:creationId xmlns:a16="http://schemas.microsoft.com/office/drawing/2014/main" id="{1821F54B-93A2-4A7F-8B92-E19ABF22FF9B}"/>
              </a:ext>
            </a:extLst>
          </p:cNvPr>
          <p:cNvSpPr>
            <a:spLocks xmlns:a="http://schemas.openxmlformats.org/drawingml/2006/main" noGrp="1"/>
          </p:cNvSpPr>
          <p:nvPr/>
        </p:nvSpPr>
        <p:spPr>
          <a:xfrm xmlns:a="http://schemas.openxmlformats.org/drawingml/2006/main">
            <a:off x="2762250" y="2324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35"/>
                </a:solidFill>
                <a:latin typeface="Arial"/>
                <a:ea typeface="Arial"/>
                <a:cs typeface="Arial"/>
              </a:defRPr>
            </a:pPr>
            <a:r>
              <a:rPr sz="1050" b="1">
                <a:solidFill>
                  <a:srgbClr val="FF5B35"/>
                </a:solidFill>
                <a:latin typeface="Arial"/>
                <a:ea typeface="Arial"/>
                <a:cs typeface="Arial"/>
              </a:rPr>
              <a:t>FLOOR / CURRENT INPUT</a:t>
            </a:r>
          </a:p>
        </p:txBody>
      </p:sp>
      <p:cxnSp>
        <p:nvCxnSpPr>
          <p:cNvPr id="81" name="comparison-grid-0"/>
          <p:cNvCxnSpPr/>
          <p:nvPr/>
        </p:nvCxnSpPr>
        <p:spPr>
          <a:xfrm xmlns:a="http://schemas.openxmlformats.org/drawingml/2006/main" flipH="0" flipV="0">
            <a:off x="2762250" y="2628900"/>
            <a:ext cx="0" cy="3114675"/>
          </a:xfrm>
          <a:prstGeom xmlns:a="http://schemas.openxmlformats.org/drawingml/2006/main" prst="straightConnector1">
            <a:avLst/>
          </a:prstGeom>
          <a:ln xmlns:a="http://schemas.openxmlformats.org/drawingml/2006/main" w="9525">
            <a:solidFill>
              <a:srgbClr val="B8BCC4"/>
            </a:solidFill>
            <a:prstDash val="solid"/>
          </a:ln>
        </p:spPr>
      </p:cxnSp>
      <p:sp>
        <p:nvSpPr>
          <p:cNvPr id="19" name="comparison-tick-0">
            <a:extLst xmlns:a="http://schemas.openxmlformats.org/drawingml/2006/main">
              <a:ext uri="{FF2B5EF4-FFF2-40B4-BE49-F238E27FC236}">
                <a16:creationId xmlns:a16="http://schemas.microsoft.com/office/drawing/2014/main" id="{914C08B5-2A96-423E-ABE8-7084D531C033}"/>
              </a:ext>
            </a:extLst>
          </p:cNvPr>
          <p:cNvSpPr>
            <a:spLocks xmlns:a="http://schemas.openxmlformats.org/drawingml/2006/main" noGrp="1"/>
          </p:cNvSpPr>
          <p:nvPr/>
        </p:nvSpPr>
        <p:spPr>
          <a:xfrm xmlns:a="http://schemas.openxmlformats.org/drawingml/2006/main">
            <a:off x="2476500" y="58293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9736C"/>
                </a:solidFill>
                <a:latin typeface="Arial"/>
                <a:ea typeface="Arial"/>
                <a:cs typeface="Arial"/>
              </a:defRPr>
            </a:pPr>
            <a:r>
              <a:rPr sz="975" b="0">
                <a:solidFill>
                  <a:srgbClr val="69736C"/>
                </a:solidFill>
                <a:latin typeface="Arial"/>
                <a:ea typeface="Arial"/>
                <a:cs typeface="Arial"/>
              </a:rPr>
              <a:t>0%</a:t>
            </a:r>
          </a:p>
        </p:txBody>
      </p:sp>
      <p:cxnSp>
        <p:nvCxnSpPr>
          <p:cNvPr id="83" name="comparison-grid-25"/>
          <p:cNvCxnSpPr/>
          <p:nvPr/>
        </p:nvCxnSpPr>
        <p:spPr>
          <a:xfrm xmlns:a="http://schemas.openxmlformats.org/drawingml/2006/main" flipH="0" flipV="0">
            <a:off x="4191000" y="2628900"/>
            <a:ext cx="0" cy="3114675"/>
          </a:xfrm>
          <a:prstGeom xmlns:a="http://schemas.openxmlformats.org/drawingml/2006/main" prst="straightConnector1">
            <a:avLst/>
          </a:prstGeom>
          <a:ln xmlns:a="http://schemas.openxmlformats.org/drawingml/2006/main" w="9525">
            <a:solidFill>
              <a:srgbClr val="B8BCC4"/>
            </a:solidFill>
            <a:prstDash val="solid"/>
          </a:ln>
        </p:spPr>
      </p:cxnSp>
      <p:sp>
        <p:nvSpPr>
          <p:cNvPr id="21" name="comparison-tick-25">
            <a:extLst xmlns:a="http://schemas.openxmlformats.org/drawingml/2006/main">
              <a:ext uri="{FF2B5EF4-FFF2-40B4-BE49-F238E27FC236}">
                <a16:creationId xmlns:a16="http://schemas.microsoft.com/office/drawing/2014/main" id="{7BC19318-AD09-4DC5-86F7-8C6DF200A91B}"/>
              </a:ext>
            </a:extLst>
          </p:cNvPr>
          <p:cNvSpPr>
            <a:spLocks xmlns:a="http://schemas.openxmlformats.org/drawingml/2006/main" noGrp="1"/>
          </p:cNvSpPr>
          <p:nvPr/>
        </p:nvSpPr>
        <p:spPr>
          <a:xfrm xmlns:a="http://schemas.openxmlformats.org/drawingml/2006/main">
            <a:off x="3905250" y="58293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9736C"/>
                </a:solidFill>
                <a:latin typeface="Arial"/>
                <a:ea typeface="Arial"/>
                <a:cs typeface="Arial"/>
              </a:defRPr>
            </a:pPr>
            <a:r>
              <a:rPr sz="975" b="0">
                <a:solidFill>
                  <a:srgbClr val="69736C"/>
                </a:solidFill>
                <a:latin typeface="Arial"/>
                <a:ea typeface="Arial"/>
                <a:cs typeface="Arial"/>
              </a:rPr>
              <a:t>25%</a:t>
            </a:r>
          </a:p>
        </p:txBody>
      </p:sp>
      <p:cxnSp>
        <p:nvCxnSpPr>
          <p:cNvPr id="85" name="comparison-grid-50"/>
          <p:cNvCxnSpPr/>
          <p:nvPr/>
        </p:nvCxnSpPr>
        <p:spPr>
          <a:xfrm xmlns:a="http://schemas.openxmlformats.org/drawingml/2006/main" flipH="0" flipV="0">
            <a:off x="5619750" y="2628900"/>
            <a:ext cx="0" cy="3114675"/>
          </a:xfrm>
          <a:prstGeom xmlns:a="http://schemas.openxmlformats.org/drawingml/2006/main" prst="straightConnector1">
            <a:avLst/>
          </a:prstGeom>
          <a:ln xmlns:a="http://schemas.openxmlformats.org/drawingml/2006/main" w="9525">
            <a:solidFill>
              <a:srgbClr val="B8BCC4"/>
            </a:solidFill>
            <a:prstDash val="solid"/>
          </a:ln>
        </p:spPr>
      </p:cxnSp>
      <p:sp>
        <p:nvSpPr>
          <p:cNvPr id="23" name="comparison-tick-50">
            <a:extLst xmlns:a="http://schemas.openxmlformats.org/drawingml/2006/main">
              <a:ext uri="{FF2B5EF4-FFF2-40B4-BE49-F238E27FC236}">
                <a16:creationId xmlns:a16="http://schemas.microsoft.com/office/drawing/2014/main" id="{00416C83-1210-48F5-8E95-0A9E47AF088E}"/>
              </a:ext>
            </a:extLst>
          </p:cNvPr>
          <p:cNvSpPr>
            <a:spLocks xmlns:a="http://schemas.openxmlformats.org/drawingml/2006/main" noGrp="1"/>
          </p:cNvSpPr>
          <p:nvPr/>
        </p:nvSpPr>
        <p:spPr>
          <a:xfrm xmlns:a="http://schemas.openxmlformats.org/drawingml/2006/main">
            <a:off x="5334000" y="58293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9736C"/>
                </a:solidFill>
                <a:latin typeface="Arial"/>
                <a:ea typeface="Arial"/>
                <a:cs typeface="Arial"/>
              </a:defRPr>
            </a:pPr>
            <a:r>
              <a:rPr sz="975" b="0">
                <a:solidFill>
                  <a:srgbClr val="69736C"/>
                </a:solidFill>
                <a:latin typeface="Arial"/>
                <a:ea typeface="Arial"/>
                <a:cs typeface="Arial"/>
              </a:rPr>
              <a:t>50%</a:t>
            </a:r>
          </a:p>
        </p:txBody>
      </p:sp>
      <p:cxnSp>
        <p:nvCxnSpPr>
          <p:cNvPr id="87" name="comparison-grid-75"/>
          <p:cNvCxnSpPr/>
          <p:nvPr/>
        </p:nvCxnSpPr>
        <p:spPr>
          <a:xfrm xmlns:a="http://schemas.openxmlformats.org/drawingml/2006/main" flipH="0" flipV="0">
            <a:off x="7048500" y="2628900"/>
            <a:ext cx="0" cy="3114675"/>
          </a:xfrm>
          <a:prstGeom xmlns:a="http://schemas.openxmlformats.org/drawingml/2006/main" prst="straightConnector1">
            <a:avLst/>
          </a:prstGeom>
          <a:ln xmlns:a="http://schemas.openxmlformats.org/drawingml/2006/main" w="9525">
            <a:solidFill>
              <a:srgbClr val="B8BCC4"/>
            </a:solidFill>
            <a:prstDash val="solid"/>
          </a:ln>
        </p:spPr>
      </p:cxnSp>
      <p:sp>
        <p:nvSpPr>
          <p:cNvPr id="25" name="comparison-tick-75">
            <a:extLst xmlns:a="http://schemas.openxmlformats.org/drawingml/2006/main">
              <a:ext uri="{FF2B5EF4-FFF2-40B4-BE49-F238E27FC236}">
                <a16:creationId xmlns:a16="http://schemas.microsoft.com/office/drawing/2014/main" id="{3FC0AF61-651E-4FC1-9E66-EC533BE3E04C}"/>
              </a:ext>
            </a:extLst>
          </p:cNvPr>
          <p:cNvSpPr>
            <a:spLocks xmlns:a="http://schemas.openxmlformats.org/drawingml/2006/main" noGrp="1"/>
          </p:cNvSpPr>
          <p:nvPr/>
        </p:nvSpPr>
        <p:spPr>
          <a:xfrm xmlns:a="http://schemas.openxmlformats.org/drawingml/2006/main">
            <a:off x="6762750" y="58293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9736C"/>
                </a:solidFill>
                <a:latin typeface="Arial"/>
                <a:ea typeface="Arial"/>
                <a:cs typeface="Arial"/>
              </a:defRPr>
            </a:pPr>
            <a:r>
              <a:rPr sz="975" b="0">
                <a:solidFill>
                  <a:srgbClr val="69736C"/>
                </a:solidFill>
                <a:latin typeface="Arial"/>
                <a:ea typeface="Arial"/>
                <a:cs typeface="Arial"/>
              </a:rPr>
              <a:t>75%</a:t>
            </a:r>
          </a:p>
        </p:txBody>
      </p:sp>
      <p:cxnSp>
        <p:nvCxnSpPr>
          <p:cNvPr id="89" name="comparison-grid-100"/>
          <p:cNvCxnSpPr/>
          <p:nvPr/>
        </p:nvCxnSpPr>
        <p:spPr>
          <a:xfrm xmlns:a="http://schemas.openxmlformats.org/drawingml/2006/main" flipH="0" flipV="0">
            <a:off x="8477250" y="2628900"/>
            <a:ext cx="0" cy="3114675"/>
          </a:xfrm>
          <a:prstGeom xmlns:a="http://schemas.openxmlformats.org/drawingml/2006/main" prst="straightConnector1">
            <a:avLst/>
          </a:prstGeom>
          <a:ln xmlns:a="http://schemas.openxmlformats.org/drawingml/2006/main" w="19050">
            <a:solidFill>
              <a:srgbClr val="17241D"/>
            </a:solidFill>
            <a:prstDash val="dash"/>
          </a:ln>
        </p:spPr>
      </p:cxnSp>
      <p:sp>
        <p:nvSpPr>
          <p:cNvPr id="27" name="comparison-tick-100">
            <a:extLst xmlns:a="http://schemas.openxmlformats.org/drawingml/2006/main">
              <a:ext uri="{FF2B5EF4-FFF2-40B4-BE49-F238E27FC236}">
                <a16:creationId xmlns:a16="http://schemas.microsoft.com/office/drawing/2014/main" id="{8553F874-56B1-436F-9B83-CBA6F9EC1CD9}"/>
              </a:ext>
            </a:extLst>
          </p:cNvPr>
          <p:cNvSpPr>
            <a:spLocks xmlns:a="http://schemas.openxmlformats.org/drawingml/2006/main" noGrp="1"/>
          </p:cNvSpPr>
          <p:nvPr/>
        </p:nvSpPr>
        <p:spPr>
          <a:xfrm xmlns:a="http://schemas.openxmlformats.org/drawingml/2006/main">
            <a:off x="8191500" y="58293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7241D"/>
                </a:solidFill>
                <a:latin typeface="Arial"/>
                <a:ea typeface="Arial"/>
                <a:cs typeface="Arial"/>
              </a:defRPr>
            </a:pPr>
            <a:r>
              <a:rPr sz="975" b="1">
                <a:solidFill>
                  <a:srgbClr val="17241D"/>
                </a:solidFill>
                <a:latin typeface="Arial"/>
                <a:ea typeface="Arial"/>
                <a:cs typeface="Arial"/>
              </a:rPr>
              <a:t>100%</a:t>
            </a:r>
          </a:p>
        </p:txBody>
      </p:sp>
      <p:cxnSp>
        <p:nvCxnSpPr>
          <p:cNvPr id="91" name="comparison-grid-125"/>
          <p:cNvCxnSpPr/>
          <p:nvPr/>
        </p:nvCxnSpPr>
        <p:spPr>
          <a:xfrm xmlns:a="http://schemas.openxmlformats.org/drawingml/2006/main" flipH="0" flipV="0">
            <a:off x="9906000" y="2628900"/>
            <a:ext cx="0" cy="3114675"/>
          </a:xfrm>
          <a:prstGeom xmlns:a="http://schemas.openxmlformats.org/drawingml/2006/main" prst="straightConnector1">
            <a:avLst/>
          </a:prstGeom>
          <a:ln xmlns:a="http://schemas.openxmlformats.org/drawingml/2006/main" w="9525">
            <a:solidFill>
              <a:srgbClr val="B8BCC4"/>
            </a:solidFill>
            <a:prstDash val="solid"/>
          </a:ln>
        </p:spPr>
      </p:cxnSp>
      <p:sp>
        <p:nvSpPr>
          <p:cNvPr id="29" name="comparison-tick-125">
            <a:extLst xmlns:a="http://schemas.openxmlformats.org/drawingml/2006/main">
              <a:ext uri="{FF2B5EF4-FFF2-40B4-BE49-F238E27FC236}">
                <a16:creationId xmlns:a16="http://schemas.microsoft.com/office/drawing/2014/main" id="{2B3A2060-CE2C-4B83-9ED8-D63FBF6E0745}"/>
              </a:ext>
            </a:extLst>
          </p:cNvPr>
          <p:cNvSpPr>
            <a:spLocks xmlns:a="http://schemas.openxmlformats.org/drawingml/2006/main" noGrp="1"/>
          </p:cNvSpPr>
          <p:nvPr/>
        </p:nvSpPr>
        <p:spPr>
          <a:xfrm xmlns:a="http://schemas.openxmlformats.org/drawingml/2006/main">
            <a:off x="9620250" y="58293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9736C"/>
                </a:solidFill>
                <a:latin typeface="Arial"/>
                <a:ea typeface="Arial"/>
                <a:cs typeface="Arial"/>
              </a:defRPr>
            </a:pPr>
            <a:r>
              <a:rPr sz="975" b="0">
                <a:solidFill>
                  <a:srgbClr val="69736C"/>
                </a:solidFill>
                <a:latin typeface="Arial"/>
                <a:ea typeface="Arial"/>
                <a:cs typeface="Arial"/>
              </a:rPr>
              <a:t>125%</a:t>
            </a:r>
          </a:p>
        </p:txBody>
      </p:sp>
      <p:cxnSp>
        <p:nvCxnSpPr>
          <p:cNvPr id="93" name="comparison-grid-140"/>
          <p:cNvCxnSpPr/>
          <p:nvPr/>
        </p:nvCxnSpPr>
        <p:spPr>
          <a:xfrm xmlns:a="http://schemas.openxmlformats.org/drawingml/2006/main" flipH="0" flipV="0">
            <a:off x="10763250" y="2628900"/>
            <a:ext cx="0" cy="3114675"/>
          </a:xfrm>
          <a:prstGeom xmlns:a="http://schemas.openxmlformats.org/drawingml/2006/main" prst="straightConnector1">
            <a:avLst/>
          </a:prstGeom>
          <a:ln xmlns:a="http://schemas.openxmlformats.org/drawingml/2006/main" w="9525">
            <a:solidFill>
              <a:srgbClr val="B8BCC4"/>
            </a:solidFill>
            <a:prstDash val="solid"/>
          </a:ln>
        </p:spPr>
      </p:cxnSp>
      <p:sp>
        <p:nvSpPr>
          <p:cNvPr id="31" name="comparison-tick-140">
            <a:extLst xmlns:a="http://schemas.openxmlformats.org/drawingml/2006/main">
              <a:ext uri="{FF2B5EF4-FFF2-40B4-BE49-F238E27FC236}">
                <a16:creationId xmlns:a16="http://schemas.microsoft.com/office/drawing/2014/main" id="{34772C3F-83EB-4747-85DB-1001EEDEE652}"/>
              </a:ext>
            </a:extLst>
          </p:cNvPr>
          <p:cNvSpPr>
            <a:spLocks xmlns:a="http://schemas.openxmlformats.org/drawingml/2006/main" noGrp="1"/>
          </p:cNvSpPr>
          <p:nvPr/>
        </p:nvSpPr>
        <p:spPr>
          <a:xfrm xmlns:a="http://schemas.openxmlformats.org/drawingml/2006/main">
            <a:off x="10477500" y="58293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69736C"/>
                </a:solidFill>
                <a:latin typeface="Arial"/>
                <a:ea typeface="Arial"/>
                <a:cs typeface="Arial"/>
              </a:defRPr>
            </a:pPr>
            <a:r>
              <a:rPr sz="975" b="0">
                <a:solidFill>
                  <a:srgbClr val="69736C"/>
                </a:solidFill>
                <a:latin typeface="Arial"/>
                <a:ea typeface="Arial"/>
                <a:cs typeface="Arial"/>
              </a:rPr>
              <a:t>140%</a:t>
            </a:r>
          </a:p>
        </p:txBody>
      </p:sp>
      <p:sp>
        <p:nvSpPr>
          <p:cNvPr id="32" name="comparison-current-label">
            <a:extLst xmlns:a="http://schemas.openxmlformats.org/drawingml/2006/main">
              <a:ext uri="{FF2B5EF4-FFF2-40B4-BE49-F238E27FC236}">
                <a16:creationId xmlns:a16="http://schemas.microsoft.com/office/drawing/2014/main" id="{CCF560F3-1284-4ACE-BE1D-FA8707988705}"/>
              </a:ext>
            </a:extLst>
          </p:cNvPr>
          <p:cNvSpPr>
            <a:spLocks xmlns:a="http://schemas.openxmlformats.org/drawingml/2006/main" noGrp="1"/>
          </p:cNvSpPr>
          <p:nvPr/>
        </p:nvSpPr>
        <p:spPr>
          <a:xfrm xmlns:a="http://schemas.openxmlformats.org/drawingml/2006/main">
            <a:off x="8077200" y="23241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7241D"/>
                </a:solidFill>
                <a:latin typeface="Arial"/>
                <a:ea typeface="Arial"/>
                <a:cs typeface="Arial"/>
              </a:defRPr>
            </a:pPr>
            <a:r>
              <a:rPr sz="975" b="1">
                <a:solidFill>
                  <a:srgbClr val="17241D"/>
                </a:solidFill>
                <a:latin typeface="Arial"/>
                <a:ea typeface="Arial"/>
                <a:cs typeface="Arial"/>
              </a:rPr>
              <a:t>CURRENT</a:t>
            </a:r>
          </a:p>
        </p:txBody>
      </p:sp>
      <p:sp>
        <p:nvSpPr>
          <p:cNvPr id="33" name="comparison-name-0">
            <a:extLst xmlns:a="http://schemas.openxmlformats.org/drawingml/2006/main">
              <a:ext uri="{FF2B5EF4-FFF2-40B4-BE49-F238E27FC236}">
                <a16:creationId xmlns:a16="http://schemas.microsoft.com/office/drawing/2014/main" id="{CD75A4D3-96E9-4128-A7DE-DAC627E6FCE3}"/>
              </a:ext>
            </a:extLst>
          </p:cNvPr>
          <p:cNvSpPr>
            <a:spLocks xmlns:a="http://schemas.openxmlformats.org/drawingml/2006/main" noGrp="1"/>
          </p:cNvSpPr>
          <p:nvPr/>
        </p:nvSpPr>
        <p:spPr>
          <a:xfrm xmlns:a="http://schemas.openxmlformats.org/drawingml/2006/main">
            <a:off x="514350" y="2714625"/>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41D"/>
                </a:solidFill>
                <a:latin typeface="Arial"/>
                <a:ea typeface="Arial"/>
                <a:cs typeface="Arial"/>
              </a:defRPr>
            </a:pPr>
            <a:r>
              <a:rPr sz="1275" b="1">
                <a:solidFill>
                  <a:srgbClr val="17241D"/>
                </a:solidFill>
                <a:latin typeface="Arial"/>
                <a:ea typeface="Arial"/>
                <a:cs typeface="Arial"/>
              </a:rPr>
              <a:t>Laptop</a:t>
            </a:r>
          </a:p>
        </p:txBody>
      </p:sp>
      <p:sp>
        <p:nvSpPr>
          <p:cNvPr id="34" name="comparison-detail-0">
            <a:extLst xmlns:a="http://schemas.openxmlformats.org/drawingml/2006/main">
              <a:ext uri="{FF2B5EF4-FFF2-40B4-BE49-F238E27FC236}">
                <a16:creationId xmlns:a16="http://schemas.microsoft.com/office/drawing/2014/main" id="{DBC890DC-4D92-4EAA-8A7C-61C07527904E}"/>
              </a:ext>
            </a:extLst>
          </p:cNvPr>
          <p:cNvSpPr>
            <a:spLocks xmlns:a="http://schemas.openxmlformats.org/drawingml/2006/main" noGrp="1"/>
          </p:cNvSpPr>
          <p:nvPr/>
        </p:nvSpPr>
        <p:spPr>
          <a:xfrm xmlns:a="http://schemas.openxmlformats.org/drawingml/2006/main">
            <a:off x="514350" y="2952750"/>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9736C"/>
                </a:solidFill>
                <a:latin typeface="Arial"/>
                <a:ea typeface="Arial"/>
                <a:cs typeface="Arial"/>
              </a:defRPr>
            </a:pPr>
            <a:r>
              <a:rPr sz="975" b="0">
                <a:solidFill>
                  <a:srgbClr val="69736C"/>
                </a:solidFill>
                <a:latin typeface="Arial"/>
                <a:ea typeface="Arial"/>
                <a:cs typeface="Arial"/>
              </a:rPr>
              <a:t>$94.70 / $1,099</a:t>
            </a:r>
          </a:p>
        </p:txBody>
      </p:sp>
      <p:cxnSp>
        <p:nvCxnSpPr>
          <p:cNvPr id="98" name="comparison-range-0"/>
          <p:cNvCxnSpPr/>
          <p:nvPr/>
        </p:nvCxnSpPr>
        <p:spPr>
          <a:xfrm xmlns:a="http://schemas.openxmlformats.org/drawingml/2006/main" flipH="0" flipV="0">
            <a:off x="2986850" y="2857500"/>
            <a:ext cx="1164146" cy="0"/>
          </a:xfrm>
          <a:prstGeom xmlns:a="http://schemas.openxmlformats.org/drawingml/2006/main" prst="straightConnector1">
            <a:avLst/>
          </a:prstGeom>
          <a:ln xmlns:a="http://schemas.openxmlformats.org/drawingml/2006/main" w="28575">
            <a:solidFill>
              <a:srgbClr val="17241D"/>
            </a:solidFill>
            <a:prstDash val="solid"/>
          </a:ln>
        </p:spPr>
      </p:cxnSp>
      <p:sp>
        <p:nvSpPr>
          <p:cNvPr id="36" name="comparison-low-0">
            <a:extLst xmlns:a="http://schemas.openxmlformats.org/drawingml/2006/main">
              <a:ext uri="{FF2B5EF4-FFF2-40B4-BE49-F238E27FC236}">
                <a16:creationId xmlns:a16="http://schemas.microsoft.com/office/drawing/2014/main" id="{97CAB47A-67D4-4243-B053-531CA747A90C}"/>
              </a:ext>
            </a:extLst>
          </p:cNvPr>
          <p:cNvSpPr>
            <a:spLocks xmlns:a="http://schemas.openxmlformats.org/drawingml/2006/main" noGrp="1"/>
          </p:cNvSpPr>
          <p:nvPr/>
        </p:nvSpPr>
        <p:spPr>
          <a:xfrm xmlns:a="http://schemas.openxmlformats.org/drawingml/2006/main">
            <a:off x="2939225" y="2809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37" name="comparison-high-0">
            <a:extLst xmlns:a="http://schemas.openxmlformats.org/drawingml/2006/main">
              <a:ext uri="{FF2B5EF4-FFF2-40B4-BE49-F238E27FC236}">
                <a16:creationId xmlns:a16="http://schemas.microsoft.com/office/drawing/2014/main" id="{B38237A6-B0F8-4C46-9AAE-234A5B45395B}"/>
              </a:ext>
            </a:extLst>
          </p:cNvPr>
          <p:cNvSpPr>
            <a:spLocks xmlns:a="http://schemas.openxmlformats.org/drawingml/2006/main" noGrp="1"/>
          </p:cNvSpPr>
          <p:nvPr/>
        </p:nvSpPr>
        <p:spPr>
          <a:xfrm xmlns:a="http://schemas.openxmlformats.org/drawingml/2006/main">
            <a:off x="4103370" y="2809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38" name="comparison-base-0">
            <a:extLst xmlns:a="http://schemas.openxmlformats.org/drawingml/2006/main">
              <a:ext uri="{FF2B5EF4-FFF2-40B4-BE49-F238E27FC236}">
                <a16:creationId xmlns:a16="http://schemas.microsoft.com/office/drawing/2014/main" id="{F6861517-C7A2-4FD4-AF9F-A25E935A4AF3}"/>
              </a:ext>
            </a:extLst>
          </p:cNvPr>
          <p:cNvSpPr>
            <a:spLocks xmlns:a="http://schemas.openxmlformats.org/drawingml/2006/main" noGrp="1"/>
          </p:cNvSpPr>
          <p:nvPr/>
        </p:nvSpPr>
        <p:spPr>
          <a:xfrm xmlns:a="http://schemas.openxmlformats.org/drawingml/2006/main">
            <a:off x="3178683" y="2781300"/>
            <a:ext cx="152400" cy="152400"/>
          </a:xfrm>
          <a:prstGeom xmlns:a="http://schemas.openxmlformats.org/drawingml/2006/main" prst="ellipse">
            <a:avLst/>
          </a:prstGeom>
          <a:solidFill xmlns:a="http://schemas.openxmlformats.org/drawingml/2006/main">
            <a:srgbClr val="FF5B35"/>
          </a:solidFill>
          <a:ln xmlns:a="http://schemas.openxmlformats.org/drawingml/2006/main" w="9525">
            <a:solidFill>
              <a:srgbClr val="FF5B35"/>
            </a:solidFill>
            <a:prstDash val="solid"/>
          </a:ln>
        </p:spPr>
      </p:sp>
      <p:sp>
        <p:nvSpPr>
          <p:cNvPr id="39" name="comparison-value-0">
            <a:extLst xmlns:a="http://schemas.openxmlformats.org/drawingml/2006/main">
              <a:ext uri="{FF2B5EF4-FFF2-40B4-BE49-F238E27FC236}">
                <a16:creationId xmlns:a16="http://schemas.microsoft.com/office/drawing/2014/main" id="{F03C3AEB-49CC-4AF4-B5F7-BC0E1BA8FF10}"/>
              </a:ext>
            </a:extLst>
          </p:cNvPr>
          <p:cNvSpPr>
            <a:spLocks xmlns:a="http://schemas.openxmlformats.org/drawingml/2006/main" noGrp="1"/>
          </p:cNvSpPr>
          <p:nvPr/>
        </p:nvSpPr>
        <p:spPr>
          <a:xfrm xmlns:a="http://schemas.openxmlformats.org/drawingml/2006/main">
            <a:off x="10896600" y="273367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F5B35"/>
                </a:solidFill>
                <a:latin typeface="Arial"/>
                <a:ea typeface="Arial"/>
                <a:cs typeface="Arial"/>
              </a:defRPr>
            </a:pPr>
            <a:r>
              <a:rPr sz="1200" b="1">
                <a:solidFill>
                  <a:srgbClr val="FF5B35"/>
                </a:solidFill>
                <a:latin typeface="Arial"/>
                <a:ea typeface="Arial"/>
                <a:cs typeface="Arial"/>
              </a:rPr>
              <a:t>8.6%</a:t>
            </a:r>
          </a:p>
        </p:txBody>
      </p:sp>
      <p:sp>
        <p:nvSpPr>
          <p:cNvPr id="40" name="comparison-name-1">
            <a:extLst xmlns:a="http://schemas.openxmlformats.org/drawingml/2006/main">
              <a:ext uri="{FF2B5EF4-FFF2-40B4-BE49-F238E27FC236}">
                <a16:creationId xmlns:a16="http://schemas.microsoft.com/office/drawing/2014/main" id="{279849C9-9B8D-42F4-B2C8-69BC1D094365}"/>
              </a:ext>
            </a:extLst>
          </p:cNvPr>
          <p:cNvSpPr>
            <a:spLocks xmlns:a="http://schemas.openxmlformats.org/drawingml/2006/main" noGrp="1"/>
          </p:cNvSpPr>
          <p:nvPr/>
        </p:nvSpPr>
        <p:spPr>
          <a:xfrm xmlns:a="http://schemas.openxmlformats.org/drawingml/2006/main">
            <a:off x="514350" y="3228975"/>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41D"/>
                </a:solidFill>
                <a:latin typeface="Arial"/>
                <a:ea typeface="Arial"/>
                <a:cs typeface="Arial"/>
              </a:defRPr>
            </a:pPr>
            <a:r>
              <a:rPr sz="1275" b="1">
                <a:solidFill>
                  <a:srgbClr val="17241D"/>
                </a:solidFill>
                <a:latin typeface="Arial"/>
                <a:ea typeface="Arial"/>
                <a:cs typeface="Arial"/>
              </a:rPr>
              <a:t>Premium tea</a:t>
            </a:r>
          </a:p>
        </p:txBody>
      </p:sp>
      <p:sp>
        <p:nvSpPr>
          <p:cNvPr id="41" name="comparison-detail-1">
            <a:extLst xmlns:a="http://schemas.openxmlformats.org/drawingml/2006/main">
              <a:ext uri="{FF2B5EF4-FFF2-40B4-BE49-F238E27FC236}">
                <a16:creationId xmlns:a16="http://schemas.microsoft.com/office/drawing/2014/main" id="{2AC46CF3-8A1D-4CDF-8F9E-9993ABC7661A}"/>
              </a:ext>
            </a:extLst>
          </p:cNvPr>
          <p:cNvSpPr>
            <a:spLocks xmlns:a="http://schemas.openxmlformats.org/drawingml/2006/main" noGrp="1"/>
          </p:cNvSpPr>
          <p:nvPr/>
        </p:nvSpPr>
        <p:spPr>
          <a:xfrm xmlns:a="http://schemas.openxmlformats.org/drawingml/2006/main">
            <a:off x="514350" y="3467100"/>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9736C"/>
                </a:solidFill>
                <a:latin typeface="Arial"/>
                <a:ea typeface="Arial"/>
                <a:cs typeface="Arial"/>
              </a:defRPr>
            </a:pPr>
            <a:r>
              <a:rPr sz="975" b="0">
                <a:solidFill>
                  <a:srgbClr val="69736C"/>
                </a:solidFill>
                <a:latin typeface="Arial"/>
                <a:ea typeface="Arial"/>
                <a:cs typeface="Arial"/>
              </a:rPr>
              <a:t>$2.62 / $18</a:t>
            </a:r>
          </a:p>
        </p:txBody>
      </p:sp>
      <p:cxnSp>
        <p:nvCxnSpPr>
          <p:cNvPr id="105" name="comparison-range-1"/>
          <p:cNvCxnSpPr/>
          <p:nvPr/>
        </p:nvCxnSpPr>
        <p:spPr>
          <a:xfrm xmlns:a="http://schemas.openxmlformats.org/drawingml/2006/main" flipH="0" flipV="0">
            <a:off x="3111436" y="3371850"/>
            <a:ext cx="1519619" cy="0"/>
          </a:xfrm>
          <a:prstGeom xmlns:a="http://schemas.openxmlformats.org/drawingml/2006/main" prst="straightConnector1">
            <a:avLst/>
          </a:prstGeom>
          <a:ln xmlns:a="http://schemas.openxmlformats.org/drawingml/2006/main" w="28575">
            <a:solidFill>
              <a:srgbClr val="17241D"/>
            </a:solidFill>
            <a:prstDash val="solid"/>
          </a:ln>
        </p:spPr>
      </p:cxnSp>
      <p:sp>
        <p:nvSpPr>
          <p:cNvPr id="43" name="comparison-low-1">
            <a:extLst xmlns:a="http://schemas.openxmlformats.org/drawingml/2006/main">
              <a:ext uri="{FF2B5EF4-FFF2-40B4-BE49-F238E27FC236}">
                <a16:creationId xmlns:a16="http://schemas.microsoft.com/office/drawing/2014/main" id="{544B7A2B-B73C-4D58-B410-F6B8F546565B}"/>
              </a:ext>
            </a:extLst>
          </p:cNvPr>
          <p:cNvSpPr>
            <a:spLocks xmlns:a="http://schemas.openxmlformats.org/drawingml/2006/main" noGrp="1"/>
          </p:cNvSpPr>
          <p:nvPr/>
        </p:nvSpPr>
        <p:spPr>
          <a:xfrm xmlns:a="http://schemas.openxmlformats.org/drawingml/2006/main">
            <a:off x="3063811" y="33242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44" name="comparison-high-1">
            <a:extLst xmlns:a="http://schemas.openxmlformats.org/drawingml/2006/main">
              <a:ext uri="{FF2B5EF4-FFF2-40B4-BE49-F238E27FC236}">
                <a16:creationId xmlns:a16="http://schemas.microsoft.com/office/drawing/2014/main" id="{13572A70-8CD1-4650-BA87-F1420D37EFA7}"/>
              </a:ext>
            </a:extLst>
          </p:cNvPr>
          <p:cNvSpPr>
            <a:spLocks xmlns:a="http://schemas.openxmlformats.org/drawingml/2006/main" noGrp="1"/>
          </p:cNvSpPr>
          <p:nvPr/>
        </p:nvSpPr>
        <p:spPr>
          <a:xfrm xmlns:a="http://schemas.openxmlformats.org/drawingml/2006/main">
            <a:off x="4583430" y="33242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45" name="comparison-base-1">
            <a:extLst xmlns:a="http://schemas.openxmlformats.org/drawingml/2006/main">
              <a:ext uri="{FF2B5EF4-FFF2-40B4-BE49-F238E27FC236}">
                <a16:creationId xmlns:a16="http://schemas.microsoft.com/office/drawing/2014/main" id="{89BAC4CD-C5CE-4BAF-9FBE-497931A17A11}"/>
              </a:ext>
            </a:extLst>
          </p:cNvPr>
          <p:cNvSpPr>
            <a:spLocks xmlns:a="http://schemas.openxmlformats.org/drawingml/2006/main" noGrp="1"/>
          </p:cNvSpPr>
          <p:nvPr/>
        </p:nvSpPr>
        <p:spPr>
          <a:xfrm xmlns:a="http://schemas.openxmlformats.org/drawingml/2006/main">
            <a:off x="3518154" y="3295650"/>
            <a:ext cx="152400" cy="152400"/>
          </a:xfrm>
          <a:prstGeom xmlns:a="http://schemas.openxmlformats.org/drawingml/2006/main" prst="ellipse">
            <a:avLst/>
          </a:prstGeom>
          <a:solidFill xmlns:a="http://schemas.openxmlformats.org/drawingml/2006/main">
            <a:srgbClr val="FF5B35"/>
          </a:solidFill>
          <a:ln xmlns:a="http://schemas.openxmlformats.org/drawingml/2006/main" w="9525">
            <a:solidFill>
              <a:srgbClr val="FF5B35"/>
            </a:solidFill>
            <a:prstDash val="solid"/>
          </a:ln>
        </p:spPr>
      </p:sp>
      <p:sp>
        <p:nvSpPr>
          <p:cNvPr id="46" name="comparison-value-1">
            <a:extLst xmlns:a="http://schemas.openxmlformats.org/drawingml/2006/main">
              <a:ext uri="{FF2B5EF4-FFF2-40B4-BE49-F238E27FC236}">
                <a16:creationId xmlns:a16="http://schemas.microsoft.com/office/drawing/2014/main" id="{D80FFBE1-CEC0-4D5F-A199-C59BDF7D1B2C}"/>
              </a:ext>
            </a:extLst>
          </p:cNvPr>
          <p:cNvSpPr>
            <a:spLocks xmlns:a="http://schemas.openxmlformats.org/drawingml/2006/main" noGrp="1"/>
          </p:cNvSpPr>
          <p:nvPr/>
        </p:nvSpPr>
        <p:spPr>
          <a:xfrm xmlns:a="http://schemas.openxmlformats.org/drawingml/2006/main">
            <a:off x="10896600" y="324802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F5B35"/>
                </a:solidFill>
                <a:latin typeface="Arial"/>
                <a:ea typeface="Arial"/>
                <a:cs typeface="Arial"/>
              </a:defRPr>
            </a:pPr>
            <a:r>
              <a:rPr sz="1200" b="1">
                <a:solidFill>
                  <a:srgbClr val="FF5B35"/>
                </a:solidFill>
                <a:latin typeface="Arial"/>
                <a:ea typeface="Arial"/>
                <a:cs typeface="Arial"/>
              </a:rPr>
              <a:t>14.6%</a:t>
            </a:r>
          </a:p>
        </p:txBody>
      </p:sp>
      <p:sp>
        <p:nvSpPr>
          <p:cNvPr id="47" name="comparison-name-2">
            <a:extLst xmlns:a="http://schemas.openxmlformats.org/drawingml/2006/main">
              <a:ext uri="{FF2B5EF4-FFF2-40B4-BE49-F238E27FC236}">
                <a16:creationId xmlns:a16="http://schemas.microsoft.com/office/drawing/2014/main" id="{05CBBE29-13FA-4FE0-98CA-C5BC5C23983B}"/>
              </a:ext>
            </a:extLst>
          </p:cNvPr>
          <p:cNvSpPr>
            <a:spLocks xmlns:a="http://schemas.openxmlformats.org/drawingml/2006/main" noGrp="1"/>
          </p:cNvSpPr>
          <p:nvPr/>
        </p:nvSpPr>
        <p:spPr>
          <a:xfrm xmlns:a="http://schemas.openxmlformats.org/drawingml/2006/main">
            <a:off x="514350" y="3743325"/>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41D"/>
                </a:solidFill>
                <a:latin typeface="Arial"/>
                <a:ea typeface="Arial"/>
                <a:cs typeface="Arial"/>
              </a:defRPr>
            </a:pPr>
            <a:r>
              <a:rPr sz="1275" b="1">
                <a:solidFill>
                  <a:srgbClr val="17241D"/>
                </a:solidFill>
                <a:latin typeface="Arial"/>
                <a:ea typeface="Arial"/>
                <a:cs typeface="Arial"/>
              </a:rPr>
              <a:t>Cotton T-shirt</a:t>
            </a:r>
          </a:p>
        </p:txBody>
      </p:sp>
      <p:sp>
        <p:nvSpPr>
          <p:cNvPr id="48" name="comparison-detail-2">
            <a:extLst xmlns:a="http://schemas.openxmlformats.org/drawingml/2006/main">
              <a:ext uri="{FF2B5EF4-FFF2-40B4-BE49-F238E27FC236}">
                <a16:creationId xmlns:a16="http://schemas.microsoft.com/office/drawing/2014/main" id="{8CA96928-23A5-44B2-9B1A-CD288021A850}"/>
              </a:ext>
            </a:extLst>
          </p:cNvPr>
          <p:cNvSpPr>
            <a:spLocks xmlns:a="http://schemas.openxmlformats.org/drawingml/2006/main" noGrp="1"/>
          </p:cNvSpPr>
          <p:nvPr/>
        </p:nvSpPr>
        <p:spPr>
          <a:xfrm xmlns:a="http://schemas.openxmlformats.org/drawingml/2006/main">
            <a:off x="514350" y="3981450"/>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9736C"/>
                </a:solidFill>
                <a:latin typeface="Arial"/>
                <a:ea typeface="Arial"/>
                <a:cs typeface="Arial"/>
              </a:defRPr>
            </a:pPr>
            <a:r>
              <a:rPr sz="975" b="0">
                <a:solidFill>
                  <a:srgbClr val="69736C"/>
                </a:solidFill>
                <a:latin typeface="Arial"/>
                <a:ea typeface="Arial"/>
                <a:cs typeface="Arial"/>
              </a:rPr>
              <a:t>$5.19 / $24</a:t>
            </a:r>
          </a:p>
        </p:txBody>
      </p:sp>
      <p:cxnSp>
        <p:nvCxnSpPr>
          <p:cNvPr id="112" name="comparison-range-2"/>
          <p:cNvCxnSpPr/>
          <p:nvPr/>
        </p:nvCxnSpPr>
        <p:spPr>
          <a:xfrm xmlns:a="http://schemas.openxmlformats.org/drawingml/2006/main" flipH="0" flipV="0">
            <a:off x="3336608" y="3886200"/>
            <a:ext cx="2068259" cy="0"/>
          </a:xfrm>
          <a:prstGeom xmlns:a="http://schemas.openxmlformats.org/drawingml/2006/main" prst="straightConnector1">
            <a:avLst/>
          </a:prstGeom>
          <a:ln xmlns:a="http://schemas.openxmlformats.org/drawingml/2006/main" w="28575">
            <a:solidFill>
              <a:srgbClr val="17241D"/>
            </a:solidFill>
            <a:prstDash val="solid"/>
          </a:ln>
        </p:spPr>
      </p:cxnSp>
      <p:sp>
        <p:nvSpPr>
          <p:cNvPr id="50" name="comparison-low-2">
            <a:extLst xmlns:a="http://schemas.openxmlformats.org/drawingml/2006/main">
              <a:ext uri="{FF2B5EF4-FFF2-40B4-BE49-F238E27FC236}">
                <a16:creationId xmlns:a16="http://schemas.microsoft.com/office/drawing/2014/main" id="{F37CD211-013E-4C46-BB62-762462CBE795}"/>
              </a:ext>
            </a:extLst>
          </p:cNvPr>
          <p:cNvSpPr>
            <a:spLocks xmlns:a="http://schemas.openxmlformats.org/drawingml/2006/main" noGrp="1"/>
          </p:cNvSpPr>
          <p:nvPr/>
        </p:nvSpPr>
        <p:spPr>
          <a:xfrm xmlns:a="http://schemas.openxmlformats.org/drawingml/2006/main">
            <a:off x="3288983" y="38385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51" name="comparison-high-2">
            <a:extLst xmlns:a="http://schemas.openxmlformats.org/drawingml/2006/main">
              <a:ext uri="{FF2B5EF4-FFF2-40B4-BE49-F238E27FC236}">
                <a16:creationId xmlns:a16="http://schemas.microsoft.com/office/drawing/2014/main" id="{748044BC-AD7D-4B8C-81C0-160390BAAFCB}"/>
              </a:ext>
            </a:extLst>
          </p:cNvPr>
          <p:cNvSpPr>
            <a:spLocks xmlns:a="http://schemas.openxmlformats.org/drawingml/2006/main" noGrp="1"/>
          </p:cNvSpPr>
          <p:nvPr/>
        </p:nvSpPr>
        <p:spPr>
          <a:xfrm xmlns:a="http://schemas.openxmlformats.org/drawingml/2006/main">
            <a:off x="5357241" y="38385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52" name="comparison-base-2">
            <a:extLst xmlns:a="http://schemas.openxmlformats.org/drawingml/2006/main">
              <a:ext uri="{FF2B5EF4-FFF2-40B4-BE49-F238E27FC236}">
                <a16:creationId xmlns:a16="http://schemas.microsoft.com/office/drawing/2014/main" id="{39461F8F-ECB3-4B78-8AC9-4CAE53D4CF00}"/>
              </a:ext>
            </a:extLst>
          </p:cNvPr>
          <p:cNvSpPr>
            <a:spLocks xmlns:a="http://schemas.openxmlformats.org/drawingml/2006/main" noGrp="1"/>
          </p:cNvSpPr>
          <p:nvPr/>
        </p:nvSpPr>
        <p:spPr>
          <a:xfrm xmlns:a="http://schemas.openxmlformats.org/drawingml/2006/main">
            <a:off x="3922204" y="3810000"/>
            <a:ext cx="152400" cy="152400"/>
          </a:xfrm>
          <a:prstGeom xmlns:a="http://schemas.openxmlformats.org/drawingml/2006/main" prst="ellipse">
            <a:avLst/>
          </a:prstGeom>
          <a:solidFill xmlns:a="http://schemas.openxmlformats.org/drawingml/2006/main">
            <a:srgbClr val="FF5B35"/>
          </a:solidFill>
          <a:ln xmlns:a="http://schemas.openxmlformats.org/drawingml/2006/main" w="9525">
            <a:solidFill>
              <a:srgbClr val="FF5B35"/>
            </a:solidFill>
            <a:prstDash val="solid"/>
          </a:ln>
        </p:spPr>
      </p:sp>
      <p:sp>
        <p:nvSpPr>
          <p:cNvPr id="53" name="comparison-value-2">
            <a:extLst xmlns:a="http://schemas.openxmlformats.org/drawingml/2006/main">
              <a:ext uri="{FF2B5EF4-FFF2-40B4-BE49-F238E27FC236}">
                <a16:creationId xmlns:a16="http://schemas.microsoft.com/office/drawing/2014/main" id="{D1FB02D4-D3BE-4EF7-A0C9-E1ABFFCE1BA3}"/>
              </a:ext>
            </a:extLst>
          </p:cNvPr>
          <p:cNvSpPr>
            <a:spLocks xmlns:a="http://schemas.openxmlformats.org/drawingml/2006/main" noGrp="1"/>
          </p:cNvSpPr>
          <p:nvPr/>
        </p:nvSpPr>
        <p:spPr>
          <a:xfrm xmlns:a="http://schemas.openxmlformats.org/drawingml/2006/main">
            <a:off x="10896600" y="376237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F5B35"/>
                </a:solidFill>
                <a:latin typeface="Arial"/>
                <a:ea typeface="Arial"/>
                <a:cs typeface="Arial"/>
              </a:defRPr>
            </a:pPr>
            <a:r>
              <a:rPr sz="1200" b="1">
                <a:solidFill>
                  <a:srgbClr val="FF5B35"/>
                </a:solidFill>
                <a:latin typeface="Arial"/>
                <a:ea typeface="Arial"/>
                <a:cs typeface="Arial"/>
              </a:rPr>
              <a:t>21.6%</a:t>
            </a:r>
          </a:p>
        </p:txBody>
      </p:sp>
      <p:sp>
        <p:nvSpPr>
          <p:cNvPr id="54" name="comparison-name-3">
            <a:extLst xmlns:a="http://schemas.openxmlformats.org/drawingml/2006/main">
              <a:ext uri="{FF2B5EF4-FFF2-40B4-BE49-F238E27FC236}">
                <a16:creationId xmlns:a16="http://schemas.microsoft.com/office/drawing/2014/main" id="{DEAE0254-AC84-4808-AAA5-5BFD24E79F7B}"/>
              </a:ext>
            </a:extLst>
          </p:cNvPr>
          <p:cNvSpPr>
            <a:spLocks xmlns:a="http://schemas.openxmlformats.org/drawingml/2006/main" noGrp="1"/>
          </p:cNvSpPr>
          <p:nvPr/>
        </p:nvSpPr>
        <p:spPr>
          <a:xfrm xmlns:a="http://schemas.openxmlformats.org/drawingml/2006/main">
            <a:off x="514350" y="4257675"/>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41D"/>
                </a:solidFill>
                <a:latin typeface="Arial"/>
                <a:ea typeface="Arial"/>
                <a:cs typeface="Arial"/>
              </a:defRPr>
            </a:pPr>
            <a:r>
              <a:rPr sz="1275" b="1">
                <a:solidFill>
                  <a:srgbClr val="17241D"/>
                </a:solidFill>
                <a:latin typeface="Arial"/>
                <a:ea typeface="Arial"/>
                <a:cs typeface="Arial"/>
              </a:rPr>
              <a:t>Passenger car</a:t>
            </a:r>
          </a:p>
        </p:txBody>
      </p:sp>
      <p:sp>
        <p:nvSpPr>
          <p:cNvPr id="55" name="comparison-detail-3">
            <a:extLst xmlns:a="http://schemas.openxmlformats.org/drawingml/2006/main">
              <a:ext uri="{FF2B5EF4-FFF2-40B4-BE49-F238E27FC236}">
                <a16:creationId xmlns:a16="http://schemas.microsoft.com/office/drawing/2014/main" id="{3FEFA8DD-E5EE-46F6-80C0-D3D24A27AD56}"/>
              </a:ext>
            </a:extLst>
          </p:cNvPr>
          <p:cNvSpPr>
            <a:spLocks xmlns:a="http://schemas.openxmlformats.org/drawingml/2006/main" noGrp="1"/>
          </p:cNvSpPr>
          <p:nvPr/>
        </p:nvSpPr>
        <p:spPr>
          <a:xfrm xmlns:a="http://schemas.openxmlformats.org/drawingml/2006/main">
            <a:off x="514350" y="4495800"/>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9736C"/>
                </a:solidFill>
                <a:latin typeface="Arial"/>
                <a:ea typeface="Arial"/>
                <a:cs typeface="Arial"/>
              </a:defRPr>
            </a:pPr>
            <a:r>
              <a:rPr sz="975" b="0">
                <a:solidFill>
                  <a:srgbClr val="69736C"/>
                </a:solidFill>
                <a:latin typeface="Arial"/>
                <a:ea typeface="Arial"/>
                <a:cs typeface="Arial"/>
              </a:rPr>
              <a:t>$6,660 / $23,125</a:t>
            </a:r>
          </a:p>
        </p:txBody>
      </p:sp>
      <p:cxnSp>
        <p:nvCxnSpPr>
          <p:cNvPr id="119" name="comparison-range-3"/>
          <p:cNvCxnSpPr/>
          <p:nvPr/>
        </p:nvCxnSpPr>
        <p:spPr>
          <a:xfrm xmlns:a="http://schemas.openxmlformats.org/drawingml/2006/main" flipH="0" flipV="0">
            <a:off x="3518916" y="4400550"/>
            <a:ext cx="3210116" cy="0"/>
          </a:xfrm>
          <a:prstGeom xmlns:a="http://schemas.openxmlformats.org/drawingml/2006/main" prst="straightConnector1">
            <a:avLst/>
          </a:prstGeom>
          <a:ln xmlns:a="http://schemas.openxmlformats.org/drawingml/2006/main" w="28575">
            <a:solidFill>
              <a:srgbClr val="17241D"/>
            </a:solidFill>
            <a:prstDash val="solid"/>
          </a:ln>
        </p:spPr>
      </p:cxnSp>
      <p:sp>
        <p:nvSpPr>
          <p:cNvPr id="57" name="comparison-low-3">
            <a:extLst xmlns:a="http://schemas.openxmlformats.org/drawingml/2006/main">
              <a:ext uri="{FF2B5EF4-FFF2-40B4-BE49-F238E27FC236}">
                <a16:creationId xmlns:a16="http://schemas.microsoft.com/office/drawing/2014/main" id="{0C819A87-D651-4AF8-956B-8E5CCCBA0B93}"/>
              </a:ext>
            </a:extLst>
          </p:cNvPr>
          <p:cNvSpPr>
            <a:spLocks xmlns:a="http://schemas.openxmlformats.org/drawingml/2006/main" noGrp="1"/>
          </p:cNvSpPr>
          <p:nvPr/>
        </p:nvSpPr>
        <p:spPr>
          <a:xfrm xmlns:a="http://schemas.openxmlformats.org/drawingml/2006/main">
            <a:off x="3471291" y="43529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58" name="comparison-high-3">
            <a:extLst xmlns:a="http://schemas.openxmlformats.org/drawingml/2006/main">
              <a:ext uri="{FF2B5EF4-FFF2-40B4-BE49-F238E27FC236}">
                <a16:creationId xmlns:a16="http://schemas.microsoft.com/office/drawing/2014/main" id="{8CE0B380-68AB-4F24-98D6-823D2A5D0A84}"/>
              </a:ext>
            </a:extLst>
          </p:cNvPr>
          <p:cNvSpPr>
            <a:spLocks xmlns:a="http://schemas.openxmlformats.org/drawingml/2006/main" noGrp="1"/>
          </p:cNvSpPr>
          <p:nvPr/>
        </p:nvSpPr>
        <p:spPr>
          <a:xfrm xmlns:a="http://schemas.openxmlformats.org/drawingml/2006/main">
            <a:off x="6681407" y="43529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59" name="comparison-base-3">
            <a:extLst xmlns:a="http://schemas.openxmlformats.org/drawingml/2006/main">
              <a:ext uri="{FF2B5EF4-FFF2-40B4-BE49-F238E27FC236}">
                <a16:creationId xmlns:a16="http://schemas.microsoft.com/office/drawing/2014/main" id="{3EDEBEF2-91D7-498D-8FE7-B3C020537A0A}"/>
              </a:ext>
            </a:extLst>
          </p:cNvPr>
          <p:cNvSpPr>
            <a:spLocks xmlns:a="http://schemas.openxmlformats.org/drawingml/2006/main" noGrp="1"/>
          </p:cNvSpPr>
          <p:nvPr/>
        </p:nvSpPr>
        <p:spPr>
          <a:xfrm xmlns:a="http://schemas.openxmlformats.org/drawingml/2006/main">
            <a:off x="4331970" y="4324350"/>
            <a:ext cx="152400" cy="152400"/>
          </a:xfrm>
          <a:prstGeom xmlns:a="http://schemas.openxmlformats.org/drawingml/2006/main" prst="ellipse">
            <a:avLst/>
          </a:prstGeom>
          <a:solidFill xmlns:a="http://schemas.openxmlformats.org/drawingml/2006/main">
            <a:srgbClr val="FF5B35"/>
          </a:solidFill>
          <a:ln xmlns:a="http://schemas.openxmlformats.org/drawingml/2006/main" w="9525">
            <a:solidFill>
              <a:srgbClr val="FF5B35"/>
            </a:solidFill>
            <a:prstDash val="solid"/>
          </a:ln>
        </p:spPr>
      </p:sp>
      <p:sp>
        <p:nvSpPr>
          <p:cNvPr id="60" name="comparison-value-3">
            <a:extLst xmlns:a="http://schemas.openxmlformats.org/drawingml/2006/main">
              <a:ext uri="{FF2B5EF4-FFF2-40B4-BE49-F238E27FC236}">
                <a16:creationId xmlns:a16="http://schemas.microsoft.com/office/drawing/2014/main" id="{81C23E38-0C34-4049-8FD1-A0442BA76438}"/>
              </a:ext>
            </a:extLst>
          </p:cNvPr>
          <p:cNvSpPr>
            <a:spLocks xmlns:a="http://schemas.openxmlformats.org/drawingml/2006/main" noGrp="1"/>
          </p:cNvSpPr>
          <p:nvPr/>
        </p:nvSpPr>
        <p:spPr>
          <a:xfrm xmlns:a="http://schemas.openxmlformats.org/drawingml/2006/main">
            <a:off x="10896600" y="427672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F5B35"/>
                </a:solidFill>
                <a:latin typeface="Arial"/>
                <a:ea typeface="Arial"/>
                <a:cs typeface="Arial"/>
              </a:defRPr>
            </a:pPr>
            <a:r>
              <a:rPr sz="1200" b="1">
                <a:solidFill>
                  <a:srgbClr val="FF5B35"/>
                </a:solidFill>
                <a:latin typeface="Arial"/>
                <a:ea typeface="Arial"/>
                <a:cs typeface="Arial"/>
              </a:rPr>
              <a:t>28.8%</a:t>
            </a:r>
          </a:p>
        </p:txBody>
      </p:sp>
      <p:sp>
        <p:nvSpPr>
          <p:cNvPr id="61" name="comparison-name-4">
            <a:extLst xmlns:a="http://schemas.openxmlformats.org/drawingml/2006/main">
              <a:ext uri="{FF2B5EF4-FFF2-40B4-BE49-F238E27FC236}">
                <a16:creationId xmlns:a16="http://schemas.microsoft.com/office/drawing/2014/main" id="{8F60787D-EA0F-40A4-BDE9-D551EE63FA87}"/>
              </a:ext>
            </a:extLst>
          </p:cNvPr>
          <p:cNvSpPr>
            <a:spLocks xmlns:a="http://schemas.openxmlformats.org/drawingml/2006/main" noGrp="1"/>
          </p:cNvSpPr>
          <p:nvPr/>
        </p:nvSpPr>
        <p:spPr>
          <a:xfrm xmlns:a="http://schemas.openxmlformats.org/drawingml/2006/main">
            <a:off x="514350" y="4772025"/>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41D"/>
                </a:solidFill>
                <a:latin typeface="Arial"/>
                <a:ea typeface="Arial"/>
                <a:cs typeface="Arial"/>
              </a:defRPr>
            </a:pPr>
            <a:r>
              <a:rPr sz="1275" b="1">
                <a:solidFill>
                  <a:srgbClr val="17241D"/>
                </a:solidFill>
                <a:latin typeface="Arial"/>
                <a:ea typeface="Arial"/>
                <a:cs typeface="Arial"/>
              </a:rPr>
              <a:t>Flour</a:t>
            </a:r>
          </a:p>
        </p:txBody>
      </p:sp>
      <p:sp>
        <p:nvSpPr>
          <p:cNvPr id="62" name="comparison-detail-4">
            <a:extLst xmlns:a="http://schemas.openxmlformats.org/drawingml/2006/main">
              <a:ext uri="{FF2B5EF4-FFF2-40B4-BE49-F238E27FC236}">
                <a16:creationId xmlns:a16="http://schemas.microsoft.com/office/drawing/2014/main" id="{0A675981-A545-4D6A-9094-B79703106ACA}"/>
              </a:ext>
            </a:extLst>
          </p:cNvPr>
          <p:cNvSpPr>
            <a:spLocks xmlns:a="http://schemas.openxmlformats.org/drawingml/2006/main" noGrp="1"/>
          </p:cNvSpPr>
          <p:nvPr/>
        </p:nvSpPr>
        <p:spPr>
          <a:xfrm xmlns:a="http://schemas.openxmlformats.org/drawingml/2006/main">
            <a:off x="514350" y="5010150"/>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9736C"/>
                </a:solidFill>
                <a:latin typeface="Arial"/>
                <a:ea typeface="Arial"/>
                <a:cs typeface="Arial"/>
              </a:defRPr>
            </a:pPr>
            <a:r>
              <a:rPr sz="975" b="0">
                <a:solidFill>
                  <a:srgbClr val="69736C"/>
                </a:solidFill>
                <a:latin typeface="Arial"/>
                <a:ea typeface="Arial"/>
                <a:cs typeface="Arial"/>
              </a:rPr>
              <a:t>$2.12 / $4.49</a:t>
            </a:r>
          </a:p>
        </p:txBody>
      </p:sp>
      <p:cxnSp>
        <p:nvCxnSpPr>
          <p:cNvPr id="126" name="comparison-range-4"/>
          <p:cNvCxnSpPr/>
          <p:nvPr/>
        </p:nvCxnSpPr>
        <p:spPr>
          <a:xfrm xmlns:a="http://schemas.openxmlformats.org/drawingml/2006/main" flipH="0" flipV="0">
            <a:off x="3966401" y="4914900"/>
            <a:ext cx="4309682" cy="0"/>
          </a:xfrm>
          <a:prstGeom xmlns:a="http://schemas.openxmlformats.org/drawingml/2006/main" prst="straightConnector1">
            <a:avLst/>
          </a:prstGeom>
          <a:ln xmlns:a="http://schemas.openxmlformats.org/drawingml/2006/main" w="28575">
            <a:solidFill>
              <a:srgbClr val="17241D"/>
            </a:solidFill>
            <a:prstDash val="solid"/>
          </a:ln>
        </p:spPr>
      </p:cxnSp>
      <p:sp>
        <p:nvSpPr>
          <p:cNvPr id="64" name="comparison-low-4">
            <a:extLst xmlns:a="http://schemas.openxmlformats.org/drawingml/2006/main">
              <a:ext uri="{FF2B5EF4-FFF2-40B4-BE49-F238E27FC236}">
                <a16:creationId xmlns:a16="http://schemas.microsoft.com/office/drawing/2014/main" id="{03E1ED0F-23FE-423B-9A03-FBFFABE6748E}"/>
              </a:ext>
            </a:extLst>
          </p:cNvPr>
          <p:cNvSpPr>
            <a:spLocks xmlns:a="http://schemas.openxmlformats.org/drawingml/2006/main" noGrp="1"/>
          </p:cNvSpPr>
          <p:nvPr/>
        </p:nvSpPr>
        <p:spPr>
          <a:xfrm xmlns:a="http://schemas.openxmlformats.org/drawingml/2006/main">
            <a:off x="3918776" y="48672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65" name="comparison-high-4">
            <a:extLst xmlns:a="http://schemas.openxmlformats.org/drawingml/2006/main">
              <a:ext uri="{FF2B5EF4-FFF2-40B4-BE49-F238E27FC236}">
                <a16:creationId xmlns:a16="http://schemas.microsoft.com/office/drawing/2014/main" id="{C8BB23A4-51E7-43E0-B84F-750EF641308B}"/>
              </a:ext>
            </a:extLst>
          </p:cNvPr>
          <p:cNvSpPr>
            <a:spLocks xmlns:a="http://schemas.openxmlformats.org/drawingml/2006/main" noGrp="1"/>
          </p:cNvSpPr>
          <p:nvPr/>
        </p:nvSpPr>
        <p:spPr>
          <a:xfrm xmlns:a="http://schemas.openxmlformats.org/drawingml/2006/main">
            <a:off x="8228457" y="48672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66" name="comparison-base-4">
            <a:extLst xmlns:a="http://schemas.openxmlformats.org/drawingml/2006/main">
              <a:ext uri="{FF2B5EF4-FFF2-40B4-BE49-F238E27FC236}">
                <a16:creationId xmlns:a16="http://schemas.microsoft.com/office/drawing/2014/main" id="{694298CD-5981-43D2-9C39-C3F6B2F360D3}"/>
              </a:ext>
            </a:extLst>
          </p:cNvPr>
          <p:cNvSpPr>
            <a:spLocks xmlns:a="http://schemas.openxmlformats.org/drawingml/2006/main" noGrp="1"/>
          </p:cNvSpPr>
          <p:nvPr/>
        </p:nvSpPr>
        <p:spPr>
          <a:xfrm xmlns:a="http://schemas.openxmlformats.org/drawingml/2006/main">
            <a:off x="5384673" y="4838700"/>
            <a:ext cx="152400" cy="152400"/>
          </a:xfrm>
          <a:prstGeom xmlns:a="http://schemas.openxmlformats.org/drawingml/2006/main" prst="ellipse">
            <a:avLst/>
          </a:prstGeom>
          <a:solidFill xmlns:a="http://schemas.openxmlformats.org/drawingml/2006/main">
            <a:srgbClr val="FF5B35"/>
          </a:solidFill>
          <a:ln xmlns:a="http://schemas.openxmlformats.org/drawingml/2006/main" w="9525">
            <a:solidFill>
              <a:srgbClr val="FF5B35"/>
            </a:solidFill>
            <a:prstDash val="solid"/>
          </a:ln>
        </p:spPr>
      </p:sp>
      <p:sp>
        <p:nvSpPr>
          <p:cNvPr id="67" name="comparison-value-4">
            <a:extLst xmlns:a="http://schemas.openxmlformats.org/drawingml/2006/main">
              <a:ext uri="{FF2B5EF4-FFF2-40B4-BE49-F238E27FC236}">
                <a16:creationId xmlns:a16="http://schemas.microsoft.com/office/drawing/2014/main" id="{6AD64FAB-67DD-427C-BF76-1EEEF799C68E}"/>
              </a:ext>
            </a:extLst>
          </p:cNvPr>
          <p:cNvSpPr>
            <a:spLocks xmlns:a="http://schemas.openxmlformats.org/drawingml/2006/main" noGrp="1"/>
          </p:cNvSpPr>
          <p:nvPr/>
        </p:nvSpPr>
        <p:spPr>
          <a:xfrm xmlns:a="http://schemas.openxmlformats.org/drawingml/2006/main">
            <a:off x="10896600" y="479107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F5B35"/>
                </a:solidFill>
                <a:latin typeface="Arial"/>
                <a:ea typeface="Arial"/>
                <a:cs typeface="Arial"/>
              </a:defRPr>
            </a:pPr>
            <a:r>
              <a:rPr sz="1200" b="1">
                <a:solidFill>
                  <a:srgbClr val="FF5B35"/>
                </a:solidFill>
                <a:latin typeface="Arial"/>
                <a:ea typeface="Arial"/>
                <a:cs typeface="Arial"/>
              </a:rPr>
              <a:t>47.2%</a:t>
            </a:r>
          </a:p>
        </p:txBody>
      </p:sp>
      <p:sp>
        <p:nvSpPr>
          <p:cNvPr id="68" name="comparison-name-5">
            <a:extLst xmlns:a="http://schemas.openxmlformats.org/drawingml/2006/main">
              <a:ext uri="{FF2B5EF4-FFF2-40B4-BE49-F238E27FC236}">
                <a16:creationId xmlns:a16="http://schemas.microsoft.com/office/drawing/2014/main" id="{DCA9CB74-E616-4847-9BF2-BFD2B641C900}"/>
              </a:ext>
            </a:extLst>
          </p:cNvPr>
          <p:cNvSpPr>
            <a:spLocks xmlns:a="http://schemas.openxmlformats.org/drawingml/2006/main" noGrp="1"/>
          </p:cNvSpPr>
          <p:nvPr/>
        </p:nvSpPr>
        <p:spPr>
          <a:xfrm xmlns:a="http://schemas.openxmlformats.org/drawingml/2006/main">
            <a:off x="514350" y="5286375"/>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41D"/>
                </a:solidFill>
                <a:latin typeface="Arial"/>
                <a:ea typeface="Arial"/>
                <a:cs typeface="Arial"/>
              </a:defRPr>
            </a:pPr>
            <a:r>
              <a:rPr sz="1275" b="1">
                <a:solidFill>
                  <a:srgbClr val="17241D"/>
                </a:solidFill>
                <a:latin typeface="Arial"/>
                <a:ea typeface="Arial"/>
                <a:cs typeface="Arial"/>
              </a:rPr>
              <a:t>Boiled water</a:t>
            </a:r>
          </a:p>
        </p:txBody>
      </p:sp>
      <p:sp>
        <p:nvSpPr>
          <p:cNvPr id="69" name="comparison-detail-5">
            <a:extLst xmlns:a="http://schemas.openxmlformats.org/drawingml/2006/main">
              <a:ext uri="{FF2B5EF4-FFF2-40B4-BE49-F238E27FC236}">
                <a16:creationId xmlns:a16="http://schemas.microsoft.com/office/drawing/2014/main" id="{EE474D0A-CF90-4DAA-A1F9-D951A6B0C9D3}"/>
              </a:ext>
            </a:extLst>
          </p:cNvPr>
          <p:cNvSpPr>
            <a:spLocks xmlns:a="http://schemas.openxmlformats.org/drawingml/2006/main" noGrp="1"/>
          </p:cNvSpPr>
          <p:nvPr/>
        </p:nvSpPr>
        <p:spPr>
          <a:xfrm xmlns:a="http://schemas.openxmlformats.org/drawingml/2006/main">
            <a:off x="514350" y="5524500"/>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9736C"/>
                </a:solidFill>
                <a:latin typeface="Arial"/>
                <a:ea typeface="Arial"/>
                <a:cs typeface="Arial"/>
              </a:defRPr>
            </a:pPr>
            <a:r>
              <a:rPr sz="975" b="0">
                <a:solidFill>
                  <a:srgbClr val="69736C"/>
                </a:solidFill>
                <a:latin typeface="Arial"/>
                <a:ea typeface="Arial"/>
                <a:cs typeface="Arial"/>
              </a:rPr>
              <a:t>2.482¢ / 2.660¢</a:t>
            </a:r>
          </a:p>
        </p:txBody>
      </p:sp>
      <p:cxnSp>
        <p:nvCxnSpPr>
          <p:cNvPr id="133" name="comparison-range-5"/>
          <p:cNvCxnSpPr/>
          <p:nvPr/>
        </p:nvCxnSpPr>
        <p:spPr>
          <a:xfrm xmlns:a="http://schemas.openxmlformats.org/drawingml/2006/main" flipH="0" flipV="0">
            <a:off x="7350252" y="5429250"/>
            <a:ext cx="2846070" cy="0"/>
          </a:xfrm>
          <a:prstGeom xmlns:a="http://schemas.openxmlformats.org/drawingml/2006/main" prst="straightConnector1">
            <a:avLst/>
          </a:prstGeom>
          <a:ln xmlns:a="http://schemas.openxmlformats.org/drawingml/2006/main" w="28575">
            <a:solidFill>
              <a:srgbClr val="17241D"/>
            </a:solidFill>
            <a:prstDash val="solid"/>
          </a:ln>
        </p:spPr>
      </p:cxnSp>
      <p:sp>
        <p:nvSpPr>
          <p:cNvPr id="71" name="comparison-low-5">
            <a:extLst xmlns:a="http://schemas.openxmlformats.org/drawingml/2006/main">
              <a:ext uri="{FF2B5EF4-FFF2-40B4-BE49-F238E27FC236}">
                <a16:creationId xmlns:a16="http://schemas.microsoft.com/office/drawing/2014/main" id="{CB6DBA55-8BD2-4975-83C9-C4F337730D01}"/>
              </a:ext>
            </a:extLst>
          </p:cNvPr>
          <p:cNvSpPr>
            <a:spLocks xmlns:a="http://schemas.openxmlformats.org/drawingml/2006/main" noGrp="1"/>
          </p:cNvSpPr>
          <p:nvPr/>
        </p:nvSpPr>
        <p:spPr>
          <a:xfrm xmlns:a="http://schemas.openxmlformats.org/drawingml/2006/main">
            <a:off x="7302627" y="5381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72" name="comparison-high-5">
            <a:extLst xmlns:a="http://schemas.openxmlformats.org/drawingml/2006/main">
              <a:ext uri="{FF2B5EF4-FFF2-40B4-BE49-F238E27FC236}">
                <a16:creationId xmlns:a16="http://schemas.microsoft.com/office/drawing/2014/main" id="{3E89002A-828A-4251-9978-2BBF532FD5C9}"/>
              </a:ext>
            </a:extLst>
          </p:cNvPr>
          <p:cNvSpPr>
            <a:spLocks xmlns:a="http://schemas.openxmlformats.org/drawingml/2006/main" noGrp="1"/>
          </p:cNvSpPr>
          <p:nvPr/>
        </p:nvSpPr>
        <p:spPr>
          <a:xfrm xmlns:a="http://schemas.openxmlformats.org/drawingml/2006/main">
            <a:off x="10148697" y="5381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41D"/>
            </a:solidFill>
            <a:prstDash val="solid"/>
          </a:ln>
        </p:spPr>
      </p:sp>
      <p:sp>
        <p:nvSpPr>
          <p:cNvPr id="73" name="comparison-base-5">
            <a:extLst xmlns:a="http://schemas.openxmlformats.org/drawingml/2006/main">
              <a:ext uri="{FF2B5EF4-FFF2-40B4-BE49-F238E27FC236}">
                <a16:creationId xmlns:a16="http://schemas.microsoft.com/office/drawing/2014/main" id="{3E86E229-1662-461F-8732-A2A41A20BDE8}"/>
              </a:ext>
            </a:extLst>
          </p:cNvPr>
          <p:cNvSpPr>
            <a:spLocks xmlns:a="http://schemas.openxmlformats.org/drawingml/2006/main" noGrp="1"/>
          </p:cNvSpPr>
          <p:nvPr/>
        </p:nvSpPr>
        <p:spPr>
          <a:xfrm xmlns:a="http://schemas.openxmlformats.org/drawingml/2006/main">
            <a:off x="8018717" y="5353050"/>
            <a:ext cx="152400" cy="152400"/>
          </a:xfrm>
          <a:prstGeom xmlns:a="http://schemas.openxmlformats.org/drawingml/2006/main" prst="ellipse">
            <a:avLst/>
          </a:prstGeom>
          <a:solidFill xmlns:a="http://schemas.openxmlformats.org/drawingml/2006/main">
            <a:srgbClr val="FF5B35"/>
          </a:solidFill>
          <a:ln xmlns:a="http://schemas.openxmlformats.org/drawingml/2006/main" w="9525">
            <a:solidFill>
              <a:srgbClr val="FF5B35"/>
            </a:solidFill>
            <a:prstDash val="solid"/>
          </a:ln>
        </p:spPr>
      </p:sp>
      <p:sp>
        <p:nvSpPr>
          <p:cNvPr id="74" name="comparison-value-5">
            <a:extLst xmlns:a="http://schemas.openxmlformats.org/drawingml/2006/main">
              <a:ext uri="{FF2B5EF4-FFF2-40B4-BE49-F238E27FC236}">
                <a16:creationId xmlns:a16="http://schemas.microsoft.com/office/drawing/2014/main" id="{43285A7F-715C-4C4C-912A-53DD77D39A36}"/>
              </a:ext>
            </a:extLst>
          </p:cNvPr>
          <p:cNvSpPr>
            <a:spLocks xmlns:a="http://schemas.openxmlformats.org/drawingml/2006/main" noGrp="1"/>
          </p:cNvSpPr>
          <p:nvPr/>
        </p:nvSpPr>
        <p:spPr>
          <a:xfrm xmlns:a="http://schemas.openxmlformats.org/drawingml/2006/main">
            <a:off x="10896600" y="5305425"/>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F5B35"/>
                </a:solidFill>
                <a:latin typeface="Arial"/>
                <a:ea typeface="Arial"/>
                <a:cs typeface="Arial"/>
              </a:defRPr>
            </a:pPr>
            <a:r>
              <a:rPr sz="1200" b="1">
                <a:solidFill>
                  <a:srgbClr val="FF5B35"/>
                </a:solidFill>
                <a:latin typeface="Arial"/>
                <a:ea typeface="Arial"/>
                <a:cs typeface="Arial"/>
              </a:rPr>
              <a:t>93.3%</a:t>
            </a:r>
          </a:p>
        </p:txBody>
      </p:sp>
    </p:spTree>
    <p:extLst>
      <p:ext uri="{BB962C8B-B14F-4D97-AF65-F5344CB8AC3E}">
        <p14:creationId xmlns:p14="http://schemas.microsoft.com/office/powerpoint/2010/main" val="1313671911"/>
      </p:ext>
    </p:extLst>
  </p:cSld>
</p:sld>
</file>

<file path=ppt/slides/slide14.xml><?xml version="1.0" encoding="utf-8"?>
<p:sld xmlns:p="http://schemas.openxmlformats.org/presentationml/2006/main">
  <p:cSld>
    <p:bg>
      <p:bgPr>
        <a:solidFill xmlns:a="http://schemas.openxmlformats.org/drawingml/2006/main">
          <a:srgbClr val="17241D"/>
        </a:solidFill>
      </p:bgPr>
    </p:bg>
    <p:spTree>
      <p:nvGrpSpPr>
        <p:cNvPr id="1" name=""/>
        <p:cNvGrpSpPr/>
        <p:nvPr/>
      </p:nvGrpSpPr>
      <p:grpSpPr>
        <a:xfrm xmlns:a="http://schemas.openxmlformats.org/drawingml/2006/main"/>
      </p:grpSpPr>
      <p:sp>
        <p:nvSpPr>
          <p:cNvPr id="17" name="close-brand">
            <a:extLst xmlns:a="http://schemas.openxmlformats.org/drawingml/2006/main">
              <a:ext uri="{FF2B5EF4-FFF2-40B4-BE49-F238E27FC236}">
                <a16:creationId xmlns:a16="http://schemas.microsoft.com/office/drawing/2014/main" id="{D32525FF-7BE4-42B6-8236-2AF0CBF06E4C}"/>
              </a:ext>
            </a:extLst>
          </p:cNvPr>
          <p:cNvSpPr>
            <a:spLocks xmlns:a="http://schemas.openxmlformats.org/drawingml/2006/main" noGrp="1"/>
          </p:cNvSpPr>
          <p:nvPr/>
        </p:nvSpPr>
        <p:spPr>
          <a:xfrm xmlns:a="http://schemas.openxmlformats.org/drawingml/2006/main">
            <a:off x="552450" y="45720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D8FF57"/>
                </a:solidFill>
                <a:latin typeface="Arial"/>
                <a:ea typeface="Arial"/>
                <a:cs typeface="Arial"/>
              </a:defRPr>
            </a:pPr>
            <a:r>
              <a:rPr sz="1125" b="1">
                <a:solidFill>
                  <a:srgbClr val="D8FF57"/>
                </a:solidFill>
                <a:latin typeface="Arial"/>
                <a:ea typeface="Arial"/>
                <a:cs typeface="Arial"/>
              </a:rPr>
              <a:t>COSTFLOOR  /  CURRENT PROTOTYPE</a:t>
            </a:r>
          </a:p>
        </p:txBody>
      </p:sp>
      <p:sp>
        <p:nvSpPr>
          <p:cNvPr id="2" name="close-title">
            <a:extLst xmlns:a="http://schemas.openxmlformats.org/drawingml/2006/main">
              <a:ext uri="{FF2B5EF4-FFF2-40B4-BE49-F238E27FC236}">
                <a16:creationId xmlns:a16="http://schemas.microsoft.com/office/drawing/2014/main" id="{4F00DFDA-E16A-4912-BFB4-3ED6B252D6FC}"/>
              </a:ext>
            </a:extLst>
          </p:cNvPr>
          <p:cNvSpPr>
            <a:spLocks xmlns:a="http://schemas.openxmlformats.org/drawingml/2006/main" noGrp="1"/>
          </p:cNvSpPr>
          <p:nvPr/>
        </p:nvSpPr>
        <p:spPr>
          <a:xfrm xmlns:a="http://schemas.openxmlformats.org/drawingml/2006/main">
            <a:off x="552450" y="1219200"/>
            <a:ext cx="6762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500" b="1">
                <a:solidFill>
                  <a:srgbClr val="F7F5ED"/>
                </a:solidFill>
                <a:latin typeface="Arial"/>
                <a:ea typeface="Arial"/>
                <a:cs typeface="Arial"/>
              </a:defRPr>
            </a:pPr>
            <a:r>
              <a:rPr sz="4500" b="1">
                <a:solidFill>
                  <a:srgbClr val="F7F5ED"/>
                </a:solidFill>
                <a:latin typeface="Arial"/>
                <a:ea typeface="Arial"/>
                <a:cs typeface="Arial"/>
              </a:rPr>
              <a:t>Six curated fixtures.</a:t>
            </a:r>
          </a:p>
          <a:p xmlns:a="http://schemas.openxmlformats.org/drawingml/2006/main">
            <a:pPr algn="l">
              <a:lnSpc>
                <a:spcPct val="90000"/>
              </a:lnSpc>
              <a:buNone/>
              <a:defRPr sz="4500" b="1">
                <a:solidFill>
                  <a:srgbClr val="F7F5ED"/>
                </a:solidFill>
                <a:latin typeface="Arial"/>
                <a:ea typeface="Arial"/>
                <a:cs typeface="Arial"/>
              </a:defRPr>
            </a:pPr>
            <a:r>
              <a:rPr sz="4500" b="1">
                <a:solidFill>
                  <a:srgbClr val="F7F5ED"/>
                </a:solidFill>
                <a:latin typeface="Arial"/>
                <a:ea typeface="Arial"/>
                <a:cs typeface="Arial"/>
              </a:rPr>
              <a:t>One deterministic evaluator.</a:t>
            </a:r>
          </a:p>
        </p:txBody>
      </p:sp>
      <p:sp>
        <p:nvSpPr>
          <p:cNvPr id="3" name="close-thesis">
            <a:extLst xmlns:a="http://schemas.openxmlformats.org/drawingml/2006/main">
              <a:ext uri="{FF2B5EF4-FFF2-40B4-BE49-F238E27FC236}">
                <a16:creationId xmlns:a16="http://schemas.microsoft.com/office/drawing/2014/main" id="{A93F463E-357F-4602-B6FF-B8CB545DE970}"/>
              </a:ext>
            </a:extLst>
          </p:cNvPr>
          <p:cNvSpPr>
            <a:spLocks xmlns:a="http://schemas.openxmlformats.org/drawingml/2006/main" noGrp="1"/>
          </p:cNvSpPr>
          <p:nvPr/>
        </p:nvSpPr>
        <p:spPr>
          <a:xfrm xmlns:a="http://schemas.openxmlformats.org/drawingml/2006/main">
            <a:off x="590550" y="38862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A7B0A9"/>
                </a:solidFill>
                <a:latin typeface="Arial"/>
                <a:ea typeface="Arial"/>
                <a:cs typeface="Arial"/>
              </a:defRPr>
            </a:pPr>
            <a:r>
              <a:rPr sz="1800" b="0">
                <a:solidFill>
                  <a:srgbClr val="A7B0A9"/>
                </a:solidFill>
                <a:latin typeface="Arial"/>
                <a:ea typeface="Arial"/>
                <a:cs typeface="Arial"/>
              </a:rPr>
              <a:t>Reproduce a result, change the boundary, and inspect every changed branch.</a:t>
            </a:r>
          </a:p>
        </p:txBody>
      </p:sp>
      <p:sp>
        <p:nvSpPr>
          <p:cNvPr id="4" name="close-url-band">
            <a:extLst xmlns:a="http://schemas.openxmlformats.org/drawingml/2006/main">
              <a:ext uri="{FF2B5EF4-FFF2-40B4-BE49-F238E27FC236}">
                <a16:creationId xmlns:a16="http://schemas.microsoft.com/office/drawing/2014/main" id="{01A91B56-D48E-409E-9741-70BAFADD1DAF}"/>
              </a:ext>
            </a:extLst>
          </p:cNvPr>
          <p:cNvSpPr>
            <a:spLocks xmlns:a="http://schemas.openxmlformats.org/drawingml/2006/main" noGrp="1"/>
          </p:cNvSpPr>
          <p:nvPr/>
        </p:nvSpPr>
        <p:spPr>
          <a:xfrm xmlns:a="http://schemas.openxmlformats.org/drawingml/2006/main">
            <a:off x="552450" y="5076825"/>
            <a:ext cx="6610350" cy="685800"/>
          </a:xfrm>
          <a:prstGeom xmlns:a="http://schemas.openxmlformats.org/drawingml/2006/main" prst="rect">
            <a:avLst/>
          </a:prstGeom>
          <a:solidFill xmlns:a="http://schemas.openxmlformats.org/drawingml/2006/main">
            <a:srgbClr val="D8FF57"/>
          </a:solidFill>
          <a:ln xmlns:a="http://schemas.openxmlformats.org/drawingml/2006/main" w="0">
            <a:solidFill>
              <a:srgbClr val="D8FF57"/>
            </a:solidFill>
            <a:prstDash val="solid"/>
          </a:ln>
        </p:spPr>
      </p:sp>
      <p:sp>
        <p:nvSpPr>
          <p:cNvPr id="5" name="close-url">
            <a:extLst xmlns:a="http://schemas.openxmlformats.org/drawingml/2006/main">
              <a:ext uri="{FF2B5EF4-FFF2-40B4-BE49-F238E27FC236}">
                <a16:creationId xmlns:a16="http://schemas.microsoft.com/office/drawing/2014/main" id="{77D0792E-D0FF-42C7-AFF5-6396B1BBB34D}"/>
              </a:ext>
            </a:extLst>
          </p:cNvPr>
          <p:cNvSpPr>
            <a:spLocks xmlns:a="http://schemas.openxmlformats.org/drawingml/2006/main" noGrp="1"/>
          </p:cNvSpPr>
          <p:nvPr/>
        </p:nvSpPr>
        <p:spPr>
          <a:xfrm xmlns:a="http://schemas.openxmlformats.org/drawingml/2006/main">
            <a:off x="781050" y="5276850"/>
            <a:ext cx="61626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7241D"/>
                </a:solidFill>
                <a:latin typeface="Arial"/>
                <a:ea typeface="Arial"/>
                <a:cs typeface="Arial"/>
              </a:defRPr>
            </a:pPr>
            <a:r>
              <a:rPr sz="1725" b="1">
                <a:solidFill>
                  <a:srgbClr val="17241D"/>
                </a:solidFill>
                <a:latin typeface="Arial"/>
                <a:ea typeface="Arial"/>
                <a:cs typeface="Arial"/>
              </a:rPr>
              <a:t>costfloor-agi-house.alezarzu.chatgpt.site</a:t>
            </a:r>
          </a:p>
        </p:txBody>
      </p:sp>
      <p:cxnSp>
        <p:nvCxnSpPr>
          <p:cNvPr id="46" name="close-action-line-0"/>
          <p:cNvCxnSpPr/>
          <p:nvPr/>
        </p:nvCxnSpPr>
        <p:spPr>
          <a:xfrm xmlns:a="http://schemas.openxmlformats.org/drawingml/2006/main" flipH="0" flipV="0">
            <a:off x="7962900" y="1181100"/>
            <a:ext cx="3543300" cy="0"/>
          </a:xfrm>
          <a:prstGeom xmlns:a="http://schemas.openxmlformats.org/drawingml/2006/main" prst="straightConnector1">
            <a:avLst/>
          </a:prstGeom>
          <a:ln xmlns:a="http://schemas.openxmlformats.org/drawingml/2006/main" w="9525">
            <a:solidFill>
              <a:srgbClr val="536057"/>
            </a:solidFill>
            <a:prstDash val="solid"/>
          </a:ln>
        </p:spPr>
      </p:cxnSp>
      <p:sp>
        <p:nvSpPr>
          <p:cNvPr id="7" name="close-action-number-0">
            <a:extLst xmlns:a="http://schemas.openxmlformats.org/drawingml/2006/main">
              <a:ext uri="{FF2B5EF4-FFF2-40B4-BE49-F238E27FC236}">
                <a16:creationId xmlns:a16="http://schemas.microsoft.com/office/drawing/2014/main" id="{682AE9E2-D4D7-436F-86A2-74E3E57C2CF3}"/>
              </a:ext>
            </a:extLst>
          </p:cNvPr>
          <p:cNvSpPr>
            <a:spLocks xmlns:a="http://schemas.openxmlformats.org/drawingml/2006/main" noGrp="1"/>
          </p:cNvSpPr>
          <p:nvPr/>
        </p:nvSpPr>
        <p:spPr>
          <a:xfrm xmlns:a="http://schemas.openxmlformats.org/drawingml/2006/main">
            <a:off x="7962900" y="135255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FF5B35"/>
                </a:solidFill>
                <a:latin typeface="Arial"/>
                <a:ea typeface="Arial"/>
                <a:cs typeface="Arial"/>
              </a:defRPr>
            </a:pPr>
            <a:r>
              <a:rPr sz="1125" b="1">
                <a:solidFill>
                  <a:srgbClr val="FF5B35"/>
                </a:solidFill>
                <a:latin typeface="Arial"/>
                <a:ea typeface="Arial"/>
                <a:cs typeface="Arial"/>
              </a:rPr>
              <a:t>01</a:t>
            </a:r>
          </a:p>
        </p:txBody>
      </p:sp>
      <p:sp>
        <p:nvSpPr>
          <p:cNvPr id="8" name="close-action-0">
            <a:extLst xmlns:a="http://schemas.openxmlformats.org/drawingml/2006/main">
              <a:ext uri="{FF2B5EF4-FFF2-40B4-BE49-F238E27FC236}">
                <a16:creationId xmlns:a16="http://schemas.microsoft.com/office/drawing/2014/main" id="{449DD75C-8265-4A79-B2C7-D0B88B101A45}"/>
              </a:ext>
            </a:extLst>
          </p:cNvPr>
          <p:cNvSpPr>
            <a:spLocks xmlns:a="http://schemas.openxmlformats.org/drawingml/2006/main" noGrp="1"/>
          </p:cNvSpPr>
          <p:nvPr/>
        </p:nvSpPr>
        <p:spPr>
          <a:xfrm xmlns:a="http://schemas.openxmlformats.org/drawingml/2006/main">
            <a:off x="8572500" y="13239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32"/>
          </a:bodyPr>
          <a:lstStyle xmlns:a="http://schemas.openxmlformats.org/drawingml/2006/main"/>
          <a:p xmlns:a="http://schemas.openxmlformats.org/drawingml/2006/main">
            <a:pPr algn="l">
              <a:lnSpc>
                <a:spcPct val="95000"/>
              </a:lnSpc>
              <a:buNone/>
              <a:defRPr sz="1650" b="1">
                <a:solidFill>
                  <a:srgbClr val="F7F5ED"/>
                </a:solidFill>
                <a:latin typeface="Arial"/>
                <a:ea typeface="Arial"/>
                <a:cs typeface="Arial"/>
              </a:defRPr>
            </a:pPr>
            <a:r>
              <a:rPr sz="1650" b="1">
                <a:solidFill>
                  <a:srgbClr val="F7F5ED"/>
                </a:solidFill>
                <a:latin typeface="Arial"/>
                <a:ea typeface="Arial"/>
                <a:cs typeface="Arial"/>
              </a:rPr>
              <a:t>Validated input</a:t>
            </a:r>
          </a:p>
          <a:p xmlns:a="http://schemas.openxmlformats.org/drawingml/2006/main">
            <a:pPr algn="l">
              <a:lnSpc>
                <a:spcPct val="95000"/>
              </a:lnSpc>
              <a:buNone/>
              <a:defRPr sz="1650" b="1">
                <a:solidFill>
                  <a:srgbClr val="F7F5ED"/>
                </a:solidFill>
                <a:latin typeface="Arial"/>
                <a:ea typeface="Arial"/>
                <a:cs typeface="Arial"/>
              </a:defRPr>
            </a:pPr>
            <a:r>
              <a:rPr sz="1650" b="1">
                <a:solidFill>
                  <a:srgbClr val="F7F5ED"/>
                </a:solidFill>
                <a:latin typeface="Arial"/>
                <a:ea typeface="Arial"/>
                <a:cs typeface="Arial"/>
              </a:rPr>
              <a:t>reconciled cost tree</a:t>
            </a:r>
          </a:p>
        </p:txBody>
      </p:sp>
      <p:cxnSp>
        <p:nvCxnSpPr>
          <p:cNvPr id="49" name="close-action-line-1"/>
          <p:cNvCxnSpPr/>
          <p:nvPr/>
        </p:nvCxnSpPr>
        <p:spPr>
          <a:xfrm xmlns:a="http://schemas.openxmlformats.org/drawingml/2006/main" flipH="0" flipV="0">
            <a:off x="7962900" y="2533650"/>
            <a:ext cx="3543300" cy="0"/>
          </a:xfrm>
          <a:prstGeom xmlns:a="http://schemas.openxmlformats.org/drawingml/2006/main" prst="straightConnector1">
            <a:avLst/>
          </a:prstGeom>
          <a:ln xmlns:a="http://schemas.openxmlformats.org/drawingml/2006/main" w="9525">
            <a:solidFill>
              <a:srgbClr val="536057"/>
            </a:solidFill>
            <a:prstDash val="solid"/>
          </a:ln>
        </p:spPr>
      </p:cxnSp>
      <p:sp>
        <p:nvSpPr>
          <p:cNvPr id="10" name="close-action-number-1">
            <a:extLst xmlns:a="http://schemas.openxmlformats.org/drawingml/2006/main">
              <a:ext uri="{FF2B5EF4-FFF2-40B4-BE49-F238E27FC236}">
                <a16:creationId xmlns:a16="http://schemas.microsoft.com/office/drawing/2014/main" id="{4D5B8483-2638-40F9-8123-ADCC6A3941FE}"/>
              </a:ext>
            </a:extLst>
          </p:cNvPr>
          <p:cNvSpPr>
            <a:spLocks xmlns:a="http://schemas.openxmlformats.org/drawingml/2006/main" noGrp="1"/>
          </p:cNvSpPr>
          <p:nvPr/>
        </p:nvSpPr>
        <p:spPr>
          <a:xfrm xmlns:a="http://schemas.openxmlformats.org/drawingml/2006/main">
            <a:off x="7962900" y="270510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FF5B35"/>
                </a:solidFill>
                <a:latin typeface="Arial"/>
                <a:ea typeface="Arial"/>
                <a:cs typeface="Arial"/>
              </a:defRPr>
            </a:pPr>
            <a:r>
              <a:rPr sz="1125" b="1">
                <a:solidFill>
                  <a:srgbClr val="FF5B35"/>
                </a:solidFill>
                <a:latin typeface="Arial"/>
                <a:ea typeface="Arial"/>
                <a:cs typeface="Arial"/>
              </a:rPr>
              <a:t>02</a:t>
            </a:r>
          </a:p>
        </p:txBody>
      </p:sp>
      <p:sp>
        <p:nvSpPr>
          <p:cNvPr id="11" name="close-action-1">
            <a:extLst xmlns:a="http://schemas.openxmlformats.org/drawingml/2006/main">
              <a:ext uri="{FF2B5EF4-FFF2-40B4-BE49-F238E27FC236}">
                <a16:creationId xmlns:a16="http://schemas.microsoft.com/office/drawing/2014/main" id="{28791A86-E2D0-4B63-936E-2E05F2EDD1F0}"/>
              </a:ext>
            </a:extLst>
          </p:cNvPr>
          <p:cNvSpPr>
            <a:spLocks xmlns:a="http://schemas.openxmlformats.org/drawingml/2006/main" noGrp="1"/>
          </p:cNvSpPr>
          <p:nvPr/>
        </p:nvSpPr>
        <p:spPr>
          <a:xfrm xmlns:a="http://schemas.openxmlformats.org/drawingml/2006/main">
            <a:off x="8572500" y="26765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32"/>
          </a:bodyPr>
          <a:lstStyle xmlns:a="http://schemas.openxmlformats.org/drawingml/2006/main"/>
          <a:p xmlns:a="http://schemas.openxmlformats.org/drawingml/2006/main">
            <a:pPr algn="l">
              <a:lnSpc>
                <a:spcPct val="95000"/>
              </a:lnSpc>
              <a:buNone/>
              <a:defRPr sz="1650" b="1">
                <a:solidFill>
                  <a:srgbClr val="F7F5ED"/>
                </a:solidFill>
                <a:latin typeface="Arial"/>
                <a:ea typeface="Arial"/>
                <a:cs typeface="Arial"/>
              </a:defRPr>
            </a:pPr>
            <a:r>
              <a:rPr sz="1650" b="1">
                <a:solidFill>
                  <a:srgbClr val="F7F5ED"/>
                </a:solidFill>
                <a:latin typeface="Arial"/>
                <a:ea typeface="Arial"/>
                <a:cs typeface="Arial"/>
              </a:rPr>
              <a:t>Explicit method</a:t>
            </a:r>
          </a:p>
          <a:p xmlns:a="http://schemas.openxmlformats.org/drawingml/2006/main">
            <a:pPr algn="l">
              <a:lnSpc>
                <a:spcPct val="95000"/>
              </a:lnSpc>
              <a:buNone/>
              <a:defRPr sz="1650" b="1">
                <a:solidFill>
                  <a:srgbClr val="F7F5ED"/>
                </a:solidFill>
                <a:latin typeface="Arial"/>
                <a:ea typeface="Arial"/>
                <a:cs typeface="Arial"/>
              </a:defRPr>
            </a:pPr>
            <a:r>
              <a:rPr sz="1650" b="1">
                <a:solidFill>
                  <a:srgbClr val="F7F5ED"/>
                </a:solidFill>
                <a:latin typeface="Arial"/>
                <a:ea typeface="Arial"/>
                <a:cs typeface="Arial"/>
              </a:rPr>
              <a:t>rules, depth, intervals</a:t>
            </a:r>
          </a:p>
        </p:txBody>
      </p:sp>
      <p:cxnSp>
        <p:nvCxnSpPr>
          <p:cNvPr id="52" name="close-action-line-2"/>
          <p:cNvCxnSpPr/>
          <p:nvPr/>
        </p:nvCxnSpPr>
        <p:spPr>
          <a:xfrm xmlns:a="http://schemas.openxmlformats.org/drawingml/2006/main" flipH="0" flipV="0">
            <a:off x="7962900" y="3886200"/>
            <a:ext cx="3543300" cy="0"/>
          </a:xfrm>
          <a:prstGeom xmlns:a="http://schemas.openxmlformats.org/drawingml/2006/main" prst="straightConnector1">
            <a:avLst/>
          </a:prstGeom>
          <a:ln xmlns:a="http://schemas.openxmlformats.org/drawingml/2006/main" w="9525">
            <a:solidFill>
              <a:srgbClr val="536057"/>
            </a:solidFill>
            <a:prstDash val="solid"/>
          </a:ln>
        </p:spPr>
      </p:cxnSp>
      <p:sp>
        <p:nvSpPr>
          <p:cNvPr id="13" name="close-action-number-2">
            <a:extLst xmlns:a="http://schemas.openxmlformats.org/drawingml/2006/main">
              <a:ext uri="{FF2B5EF4-FFF2-40B4-BE49-F238E27FC236}">
                <a16:creationId xmlns:a16="http://schemas.microsoft.com/office/drawing/2014/main" id="{200C703E-216F-440F-9A2C-0B5D16EDE258}"/>
              </a:ext>
            </a:extLst>
          </p:cNvPr>
          <p:cNvSpPr>
            <a:spLocks xmlns:a="http://schemas.openxmlformats.org/drawingml/2006/main" noGrp="1"/>
          </p:cNvSpPr>
          <p:nvPr/>
        </p:nvSpPr>
        <p:spPr>
          <a:xfrm xmlns:a="http://schemas.openxmlformats.org/drawingml/2006/main">
            <a:off x="7962900" y="405765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FF5B35"/>
                </a:solidFill>
                <a:latin typeface="Arial"/>
                <a:ea typeface="Arial"/>
                <a:cs typeface="Arial"/>
              </a:defRPr>
            </a:pPr>
            <a:r>
              <a:rPr sz="1125" b="1">
                <a:solidFill>
                  <a:srgbClr val="FF5B35"/>
                </a:solidFill>
                <a:latin typeface="Arial"/>
                <a:ea typeface="Arial"/>
                <a:cs typeface="Arial"/>
              </a:rPr>
              <a:t>03</a:t>
            </a:r>
          </a:p>
        </p:txBody>
      </p:sp>
      <p:sp>
        <p:nvSpPr>
          <p:cNvPr id="14" name="close-action-2">
            <a:extLst xmlns:a="http://schemas.openxmlformats.org/drawingml/2006/main">
              <a:ext uri="{FF2B5EF4-FFF2-40B4-BE49-F238E27FC236}">
                <a16:creationId xmlns:a16="http://schemas.microsoft.com/office/drawing/2014/main" id="{2C08E3E5-DEA1-4AAD-A575-A8DB27FB4C47}"/>
              </a:ext>
            </a:extLst>
          </p:cNvPr>
          <p:cNvSpPr>
            <a:spLocks xmlns:a="http://schemas.openxmlformats.org/drawingml/2006/main" noGrp="1"/>
          </p:cNvSpPr>
          <p:nvPr/>
        </p:nvSpPr>
        <p:spPr>
          <a:xfrm xmlns:a="http://schemas.openxmlformats.org/drawingml/2006/main">
            <a:off x="8572500" y="40290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32"/>
          </a:bodyPr>
          <a:lstStyle xmlns:a="http://schemas.openxmlformats.org/drawingml/2006/main"/>
          <a:p xmlns:a="http://schemas.openxmlformats.org/drawingml/2006/main">
            <a:pPr algn="l">
              <a:lnSpc>
                <a:spcPct val="95000"/>
              </a:lnSpc>
              <a:buNone/>
              <a:defRPr sz="1650" b="1">
                <a:solidFill>
                  <a:srgbClr val="F7F5ED"/>
                </a:solidFill>
                <a:latin typeface="Arial"/>
                <a:ea typeface="Arial"/>
                <a:cs typeface="Arial"/>
              </a:defRPr>
            </a:pPr>
            <a:r>
              <a:rPr sz="1650" b="1">
                <a:solidFill>
                  <a:srgbClr val="F7F5ED"/>
                </a:solidFill>
                <a:latin typeface="Arial"/>
                <a:ea typeface="Arial"/>
                <a:cs typeface="Arial"/>
              </a:rPr>
              <a:t>Auditable output</a:t>
            </a:r>
          </a:p>
          <a:p xmlns:a="http://schemas.openxmlformats.org/drawingml/2006/main">
            <a:pPr algn="l">
              <a:lnSpc>
                <a:spcPct val="95000"/>
              </a:lnSpc>
              <a:buNone/>
              <a:defRPr sz="1650" b="1">
                <a:solidFill>
                  <a:srgbClr val="F7F5ED"/>
                </a:solidFill>
                <a:latin typeface="Arial"/>
                <a:ea typeface="Arial"/>
                <a:cs typeface="Arial"/>
              </a:defRPr>
            </a:pPr>
            <a:r>
              <a:rPr sz="1650" b="1">
                <a:solidFill>
                  <a:srgbClr val="F7F5ED"/>
                </a:solidFill>
                <a:latin typeface="Arial"/>
                <a:ea typeface="Arial"/>
                <a:cs typeface="Arial"/>
              </a:rPr>
              <a:t>ledger, sensitivity, JSON</a:t>
            </a:r>
          </a:p>
        </p:txBody>
      </p:sp>
      <p:sp>
        <p:nvSpPr>
          <p:cNvPr id="15" name="footer-7-left">
            <a:extLst xmlns:a="http://schemas.openxmlformats.org/drawingml/2006/main">
              <a:ext uri="{FF2B5EF4-FFF2-40B4-BE49-F238E27FC236}">
                <a16:creationId xmlns:a16="http://schemas.microsoft.com/office/drawing/2014/main" id="{B88C4EE9-FA5E-422E-B613-FC6F037EA3D9}"/>
              </a:ext>
            </a:extLst>
          </p:cNvPr>
          <p:cNvSpPr>
            <a:spLocks xmlns:a="http://schemas.openxmlformats.org/drawingml/2006/main" noGrp="1"/>
          </p:cNvSpPr>
          <p:nvPr/>
        </p:nvSpPr>
        <p:spPr>
          <a:xfrm xmlns:a="http://schemas.openxmlformats.org/drawingml/2006/main">
            <a:off x="495300" y="64960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7F5ED"/>
                </a:solidFill>
                <a:latin typeface="Arial"/>
                <a:ea typeface="Arial"/>
                <a:cs typeface="Arial"/>
              </a:defRPr>
            </a:pPr>
            <a:r>
              <a:rPr sz="900" b="1">
                <a:solidFill>
                  <a:srgbClr val="F7F5ED"/>
                </a:solidFill>
                <a:latin typeface="Arial"/>
                <a:ea typeface="Arial"/>
                <a:cs typeface="Arial"/>
              </a:rPr>
              <a:t>AGI HOUSE HACKATHON  ·  AUG 2026</a:t>
            </a:r>
          </a:p>
        </p:txBody>
      </p:sp>
      <p:sp>
        <p:nvSpPr>
          <p:cNvPr id="16" name="footer-7-number">
            <a:extLst xmlns:a="http://schemas.openxmlformats.org/drawingml/2006/main">
              <a:ext uri="{FF2B5EF4-FFF2-40B4-BE49-F238E27FC236}">
                <a16:creationId xmlns:a16="http://schemas.microsoft.com/office/drawing/2014/main" id="{3BF2E82E-2E41-409E-8E5E-FEBD131AED85}"/>
              </a:ext>
            </a:extLst>
          </p:cNvPr>
          <p:cNvSpPr>
            <a:spLocks xmlns:a="http://schemas.openxmlformats.org/drawingml/2006/main" noGrp="1"/>
          </p:cNvSpPr>
          <p:nvPr/>
        </p:nvSpPr>
        <p:spPr>
          <a:xfrm xmlns:a="http://schemas.openxmlformats.org/drawingml/2006/main">
            <a:off x="11087100" y="6496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00" b="1">
                <a:solidFill>
                  <a:srgbClr val="F7F5ED"/>
                </a:solidFill>
                <a:latin typeface="Arial"/>
                <a:ea typeface="Arial"/>
                <a:cs typeface="Arial"/>
              </a:defRPr>
            </a:pPr>
            <a:r>
              <a:rPr sz="900" b="1">
                <a:solidFill>
                  <a:srgbClr val="F7F5ED"/>
                </a:solidFill>
                <a:latin typeface="Arial"/>
                <a:ea typeface="Arial"/>
                <a:cs typeface="Arial"/>
              </a:rPr>
              <a:t>14</a:t>
            </a:r>
          </a:p>
        </p:txBody>
      </p:sp>
    </p:spTree>
    <p:extLst>
      <p:ext uri="{BB962C8B-B14F-4D97-AF65-F5344CB8AC3E}">
        <p14:creationId xmlns:p14="http://schemas.microsoft.com/office/powerpoint/2010/main" val="12460345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2026-08-22T23:06:20.0030000Z</dcterms:created>
  <dcterms:modified xsi:type="dcterms:W3CDTF">2026-08-22T23:06:20.0030000Z</dcterms:modified>
</coreProperties>
</file>